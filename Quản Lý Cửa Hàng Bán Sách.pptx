
<file path=[Content_Types].xml><?xml version="1.0" encoding="utf-8"?>
<Types xmlns="http://schemas.openxmlformats.org/package/2006/content-types">
  <Default ContentType="application/x-fontdata" Extension="fntdata"/>
  <Default ContentType="image/gif" Extension="gif"/>
  <Default ContentType="image/jpeg" Extension="jpeg"/>
  <Default ContentType="image/png" Extension="png"/>
  <Default ContentType="application/vnd.openxmlformats-package.relationships+xml" Extension="rels"/>
  <Default ContentType="image/svg+xml" Extension="svg"/>
  <Default ContentType="application/xml" Extension="xml"/>
  <Override ContentType="application/vnd.openxmlformats-officedocument.extended-properties+xml" PartName="/docProps/app.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presentationml.slideLayout+xml" PartName="/ppt/slideLayouts/slideLayout1.xml"/>
  <Override ContentType="application/vnd.openxmlformats-officedocument.presentationml.slideLayout+xml" PartName="/ppt/slideLayouts/slideLayout2.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6.xml"/>
  <Override ContentType="application/vnd.openxmlformats-officedocument.presentationml.slideLayout+xml" PartName="/ppt/slideLayouts/slideLayout7.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Layout+xml" PartName="/ppt/slideLayouts/slideLayout10.xml"/>
  <Override ContentType="application/vnd.openxmlformats-officedocument.presentationml.slideLayout+xml" PartName="/ppt/slideLayouts/slideLayout11.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slide+xml" PartName="/ppt/slides/slide2.xml"/>
  <Override ContentType="application/vnd.openxmlformats-officedocument.presentationml.slide+xml" PartName="/ppt/slides/slide3.xml"/>
  <Override ContentType="application/vnd.openxmlformats-officedocument.presentationml.slide+xml" PartName="/ppt/slides/slide4.xml"/>
  <Override ContentType="application/vnd.openxmlformats-officedocument.presentationml.slide+xml" PartName="/ppt/slides/slide5.xml"/>
  <Override ContentType="application/vnd.openxmlformats-officedocument.presentationml.slide+xml" PartName="/ppt/slides/slide6.xml"/>
  <Override ContentType="application/vnd.openxmlformats-officedocument.presentationml.slide+xml" PartName="/ppt/slides/slide7.xml"/>
  <Override ContentType="application/vnd.openxmlformats-officedocument.presentationml.slide+xml" PartName="/ppt/slides/slide8.xml"/>
  <Override ContentType="application/vnd.openxmlformats-officedocument.presentationml.slide+xml" PartName="/ppt/slides/slide9.xml"/>
  <Override ContentType="application/vnd.openxmlformats-officedocument.presentationml.slide+xml" PartName="/ppt/slides/slide10.xml"/>
  <Override ContentType="application/vnd.openxmlformats-officedocument.presentationml.slide+xml" PartName="/ppt/slides/slide11.xml"/>
  <Override ContentType="application/vnd.openxmlformats-officedocument.presentationml.slide+xml" PartName="/ppt/slides/slide12.xml"/>
  <Override ContentType="application/vnd.openxmlformats-officedocument.presentationml.slide+xml" PartName="/ppt/slides/slide13.xml"/>
  <Override ContentType="application/vnd.openxmlformats-officedocument.presentationml.slide+xml" PartName="/ppt/slides/slide14.xml"/>
  <Override ContentType="application/vnd.openxmlformats-officedocument.presentationml.slide+xml" PartName="/ppt/slides/slide15.xml"/>
  <Override ContentType="application/vnd.openxmlformats-officedocument.presentationml.slide+xml" PartName="/ppt/slides/slide16.xml"/>
  <Override ContentType="application/vnd.openxmlformats-officedocument.presentationml.slide+xml" PartName="/ppt/slides/slide17.xml"/>
  <Override ContentType="application/vnd.openxmlformats-officedocument.presentationml.slide+xml" PartName="/ppt/slides/slide18.xml"/>
  <Override ContentType="application/vnd.openxmlformats-officedocument.presentationml.slide+xml" PartName="/ppt/slides/slide19.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22.xml"/>
  <Override ContentType="application/vnd.openxmlformats-officedocument.presentationml.slide+xml" PartName="/ppt/slides/slide23.xml"/>
  <Override ContentType="application/vnd.openxmlformats-officedocument.presentationml.slide+xml" PartName="/ppt/slides/slide24.xml"/>
  <Override ContentType="application/vnd.openxmlformats-officedocument.presentationml.slide+xml" PartName="/ppt/slides/slide25.xml"/>
  <Override ContentType="application/vnd.openxmlformats-officedocument.presentationml.slide+xml" PartName="/ppt/slides/slide26.xml"/>
  <Override ContentType="application/vnd.openxmlformats-officedocument.presentationml.slide+xml" PartName="/ppt/slides/slide27.xml"/>
  <Override ContentType="application/vnd.openxmlformats-officedocument.presentationml.slide+xml" PartName="/ppt/slides/slide28.xml"/>
  <Override ContentType="application/vnd.openxmlformats-officedocument.presentationml.tableStyles+xml" PartName="/ppt/tableStyles.xml"/>
  <Override ContentType="application/vnd.openxmlformats-officedocument.theme+xml" PartName="/ppt/theme/theme1.xml"/>
  <Override ContentType="application/vnd.openxmlformats-officedocument.presentationml.viewProps+xml" PartName="/ppt/viewProps.xml"/>
</Types>
</file>

<file path=_rels/.rels><?xml version="1.0" encoding="UTF-8" standalone="yes"?><Relationships xmlns="http://schemas.openxmlformats.org/package/2006/relationships"><Relationship Id="rId1" Target="ppt/presentation.xml" Type="http://schemas.openxmlformats.org/officeDocument/2006/relationships/officeDocument"/><Relationship Id="rId2" Target="docProps/thumbnail.jpeg" Type="http://schemas.openxmlformats.org/package/2006/relationships/metadata/thumbnail"/><Relationship Id="rId3" Target="docProps/core.xml" Type="http://schemas.openxmlformats.org/package/2006/relationships/metadata/core-properties"/><Relationship Id="rId4" Target="docProps/app.xml" Type="http://schemas.openxmlformats.org/officeDocument/2006/relationships/extended-properties"/></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Lst>
  <p:sldSz cx="18288000" cy="10287000"/>
  <p:notesSz cx="6858000" cy="9144000"/>
  <p:embeddedFontLst>
    <p:embeddedFont>
      <p:font typeface="Faustina" charset="1" panose="00000500000000000000"/>
      <p:regular r:id="rId34"/>
    </p:embeddedFont>
    <p:embeddedFont>
      <p:font typeface="Asap Bold" charset="1" panose="020F0804030202060203"/>
      <p:regular r:id="rId35"/>
    </p:embeddedFont>
    <p:embeddedFont>
      <p:font typeface="Asap" charset="1" panose="020F0504030202060203"/>
      <p:regular r:id="rId36"/>
    </p:embeddedFont>
    <p:embeddedFont>
      <p:font typeface="Faustina Bold" charset="1" panose="00000800000000000000"/>
      <p:regular r:id="rId3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Relationships xmlns="http://schemas.openxmlformats.org/package/2006/relationships"><Relationship Id="rId1" Target="slideMasters/slideMaster1.xml" Type="http://schemas.openxmlformats.org/officeDocument/2006/relationships/slideMaster"/><Relationship Id="rId10" Target="slides/slide5.xml" Type="http://schemas.openxmlformats.org/officeDocument/2006/relationships/slide"/><Relationship Id="rId11" Target="slides/slide6.xml" Type="http://schemas.openxmlformats.org/officeDocument/2006/relationships/slide"/><Relationship Id="rId12" Target="slides/slide7.xml" Type="http://schemas.openxmlformats.org/officeDocument/2006/relationships/slide"/><Relationship Id="rId13" Target="slides/slide8.xml" Type="http://schemas.openxmlformats.org/officeDocument/2006/relationships/slide"/><Relationship Id="rId14" Target="slides/slide9.xml" Type="http://schemas.openxmlformats.org/officeDocument/2006/relationships/slide"/><Relationship Id="rId15" Target="slides/slide10.xml" Type="http://schemas.openxmlformats.org/officeDocument/2006/relationships/slide"/><Relationship Id="rId16" Target="slides/slide11.xml" Type="http://schemas.openxmlformats.org/officeDocument/2006/relationships/slide"/><Relationship Id="rId17" Target="slides/slide12.xml" Type="http://schemas.openxmlformats.org/officeDocument/2006/relationships/slide"/><Relationship Id="rId18" Target="slides/slide13.xml" Type="http://schemas.openxmlformats.org/officeDocument/2006/relationships/slide"/><Relationship Id="rId19" Target="slides/slide14.xml" Type="http://schemas.openxmlformats.org/officeDocument/2006/relationships/slide"/><Relationship Id="rId2" Target="presProps.xml" Type="http://schemas.openxmlformats.org/officeDocument/2006/relationships/presProps"/><Relationship Id="rId20" Target="slides/slide15.xml" Type="http://schemas.openxmlformats.org/officeDocument/2006/relationships/slide"/><Relationship Id="rId21" Target="slides/slide16.xml" Type="http://schemas.openxmlformats.org/officeDocument/2006/relationships/slide"/><Relationship Id="rId22" Target="slides/slide17.xml" Type="http://schemas.openxmlformats.org/officeDocument/2006/relationships/slide"/><Relationship Id="rId23" Target="slides/slide18.xml" Type="http://schemas.openxmlformats.org/officeDocument/2006/relationships/slide"/><Relationship Id="rId24" Target="slides/slide19.xml" Type="http://schemas.openxmlformats.org/officeDocument/2006/relationships/slide"/><Relationship Id="rId25" Target="slides/slide20.xml" Type="http://schemas.openxmlformats.org/officeDocument/2006/relationships/slide"/><Relationship Id="rId26" Target="slides/slide21.xml" Type="http://schemas.openxmlformats.org/officeDocument/2006/relationships/slide"/><Relationship Id="rId27" Target="slides/slide22.xml" Type="http://schemas.openxmlformats.org/officeDocument/2006/relationships/slide"/><Relationship Id="rId28" Target="slides/slide23.xml" Type="http://schemas.openxmlformats.org/officeDocument/2006/relationships/slide"/><Relationship Id="rId29" Target="slides/slide24.xml" Type="http://schemas.openxmlformats.org/officeDocument/2006/relationships/slide"/><Relationship Id="rId3" Target="viewProps.xml" Type="http://schemas.openxmlformats.org/officeDocument/2006/relationships/viewProps"/><Relationship Id="rId30" Target="slides/slide25.xml" Type="http://schemas.openxmlformats.org/officeDocument/2006/relationships/slide"/><Relationship Id="rId31" Target="slides/slide26.xml" Type="http://schemas.openxmlformats.org/officeDocument/2006/relationships/slide"/><Relationship Id="rId32" Target="slides/slide27.xml" Type="http://schemas.openxmlformats.org/officeDocument/2006/relationships/slide"/><Relationship Id="rId33" Target="slides/slide28.xml" Type="http://schemas.openxmlformats.org/officeDocument/2006/relationships/slide"/><Relationship Id="rId34" Target="fonts/font34.fntdata" Type="http://schemas.openxmlformats.org/officeDocument/2006/relationships/font"/><Relationship Id="rId35" Target="fonts/font35.fntdata" Type="http://schemas.openxmlformats.org/officeDocument/2006/relationships/font"/><Relationship Id="rId36" Target="fonts/font36.fntdata" Type="http://schemas.openxmlformats.org/officeDocument/2006/relationships/font"/><Relationship Id="rId37" Target="fonts/font37.fntdata" Type="http://schemas.openxmlformats.org/officeDocument/2006/relationships/font"/><Relationship Id="rId4" Target="theme/theme1.xml" Type="http://schemas.openxmlformats.org/officeDocument/2006/relationships/theme"/><Relationship Id="rId5" Target="tableStyles.xml" Type="http://schemas.openxmlformats.org/officeDocument/2006/relationships/tableStyles"/><Relationship Id="rId6" Target="slides/slide1.xml" Type="http://schemas.openxmlformats.org/officeDocument/2006/relationships/slide"/><Relationship Id="rId7" Target="slides/slide2.xml" Type="http://schemas.openxmlformats.org/officeDocument/2006/relationships/slide"/><Relationship Id="rId8" Target="slides/slide3.xml" Type="http://schemas.openxmlformats.org/officeDocument/2006/relationships/slide"/><Relationship Id="rId9" Target="slides/slide4.xml" Type="http://schemas.openxmlformats.org/officeDocument/2006/relationships/slide"/></Relationships>
</file>

<file path=ppt/slideLayouts/_rels/slideLayout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2.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3.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4.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5.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6.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7.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8.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9.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0.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_rels/slideLayout11.xml.rels><?xml version="1.0" encoding="UTF-8" standalone="yes"?><Relationships xmlns="http://schemas.openxmlformats.org/package/2006/relationships"><Relationship Id="rId1" Target="../slideMasters/slideMaster1.xml" Type="http://schemas.openxmlformats.org/officeDocument/2006/relationships/slideMaster"/></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Relationships xmlns="http://schemas.openxmlformats.org/package/2006/relationships"><Relationship Id="rId1" Target="../slideLayouts/slideLayout1.xml" Type="http://schemas.openxmlformats.org/officeDocument/2006/relationships/slideLayout"/><Relationship Id="rId10" Target="../slideLayouts/slideLayout10.xml" Type="http://schemas.openxmlformats.org/officeDocument/2006/relationships/slideLayout"/><Relationship Id="rId11" Target="../slideLayouts/slideLayout11.xml" Type="http://schemas.openxmlformats.org/officeDocument/2006/relationships/slideLayout"/><Relationship Id="rId12" Target="../theme/theme1.xml" Type="http://schemas.openxmlformats.org/officeDocument/2006/relationships/theme"/><Relationship Id="rId2" Target="../slideLayouts/slideLayout2.xml" Type="http://schemas.openxmlformats.org/officeDocument/2006/relationships/slideLayout"/><Relationship Id="rId3" Target="../slideLayouts/slideLayout3.xml" Type="http://schemas.openxmlformats.org/officeDocument/2006/relationships/slideLayout"/><Relationship Id="rId4" Target="../slideLayouts/slideLayout4.xml" Type="http://schemas.openxmlformats.org/officeDocument/2006/relationships/slideLayout"/><Relationship Id="rId5" Target="../slideLayouts/slideLayout5.xml" Type="http://schemas.openxmlformats.org/officeDocument/2006/relationships/slideLayout"/><Relationship Id="rId6" Target="../slideLayouts/slideLayout6.xml" Type="http://schemas.openxmlformats.org/officeDocument/2006/relationships/slideLayout"/><Relationship Id="rId7" Target="../slideLayouts/slideLayout7.xml" Type="http://schemas.openxmlformats.org/officeDocument/2006/relationships/slideLayout"/><Relationship Id="rId8" Target="../slideLayouts/slideLayout8.xml" Type="http://schemas.openxmlformats.org/officeDocument/2006/relationships/slideLayout"/><Relationship Id="rId9" Target="../slideLayouts/slideLayout9.xml" Type="http://schemas.openxmlformats.org/officeDocument/2006/relationships/slideLayout"/></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png" Type="http://schemas.openxmlformats.org/officeDocument/2006/relationships/image"/><Relationship Id="rId3" Target="../media/image2.svg" Type="http://schemas.openxmlformats.org/officeDocument/2006/relationships/image"/><Relationship Id="rId4" Target="../media/image3.png" Type="http://schemas.openxmlformats.org/officeDocument/2006/relationships/image"/><Relationship Id="rId5" Target="../media/image4.svg" Type="http://schemas.openxmlformats.org/officeDocument/2006/relationships/image"/><Relationship Id="rId6" Target="../media/image5.png" Type="http://schemas.openxmlformats.org/officeDocument/2006/relationships/image"/><Relationship Id="rId7" Target="../media/image6.svg" Type="http://schemas.openxmlformats.org/officeDocument/2006/relationships/image"/></Relationships>
</file>

<file path=ppt/slides/_rels/slide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png" Type="http://schemas.openxmlformats.org/officeDocument/2006/relationships/image"/><Relationship Id="rId3" Target="../media/image8.svg" Type="http://schemas.openxmlformats.org/officeDocument/2006/relationships/image"/><Relationship Id="rId4" Target="../media/image9.gif" Type="http://schemas.openxmlformats.org/officeDocument/2006/relationships/image"/></Relationships>
</file>

<file path=ppt/slides/_rels/slide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0.png" Type="http://schemas.openxmlformats.org/officeDocument/2006/relationships/image"/><Relationship Id="rId3" Target="../media/image11.svg" Type="http://schemas.openxmlformats.org/officeDocument/2006/relationships/image"/><Relationship Id="rId4" Target="../media/image12.gif" Type="http://schemas.openxmlformats.org/officeDocument/2006/relationships/image"/></Relationships>
</file>

<file path=ppt/slides/_rels/slide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13.png" Type="http://schemas.openxmlformats.org/officeDocument/2006/relationships/image"/><Relationship Id="rId3" Target="../media/image14.png" Type="http://schemas.openxmlformats.org/officeDocument/2006/relationships/image"/><Relationship Id="rId4" Target="../media/image15.gif" Type="http://schemas.openxmlformats.org/officeDocument/2006/relationships/image"/><Relationship Id="rId5" Target="../media/image16.png" Type="http://schemas.openxmlformats.org/officeDocument/2006/relationships/image"/><Relationship Id="rId6" Target="../media/image17.svg" Type="http://schemas.openxmlformats.org/officeDocument/2006/relationships/image"/><Relationship Id="rId7" Target="../media/image18.png" Type="http://schemas.openxmlformats.org/officeDocument/2006/relationships/image"/><Relationship Id="rId8" Target="../media/image19.svg" Type="http://schemas.openxmlformats.org/officeDocument/2006/relationships/image"/></Relationships>
</file>

<file path=ppt/slides/_rels/slide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0.png" Type="http://schemas.openxmlformats.org/officeDocument/2006/relationships/image"/><Relationship Id="rId3" Target="../media/image21.png" Type="http://schemas.openxmlformats.org/officeDocument/2006/relationships/image"/><Relationship Id="rId4" Target="../media/image22.svg" Type="http://schemas.openxmlformats.org/officeDocument/2006/relationships/image"/></Relationships>
</file>

<file path=ppt/slides/_rels/slide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3.png" Type="http://schemas.openxmlformats.org/officeDocument/2006/relationships/image"/><Relationship Id="rId3" Target="../media/image24.png" Type="http://schemas.openxmlformats.org/officeDocument/2006/relationships/image"/><Relationship Id="rId4" Target="../media/image25.png" Type="http://schemas.openxmlformats.org/officeDocument/2006/relationships/image"/><Relationship Id="rId5" Target="../media/image26.svg" Type="http://schemas.openxmlformats.org/officeDocument/2006/relationships/image"/></Relationships>
</file>

<file path=ppt/slides/_rels/slide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27.png" Type="http://schemas.openxmlformats.org/officeDocument/2006/relationships/image"/><Relationship Id="rId3" Target="../media/image28.png" Type="http://schemas.openxmlformats.org/officeDocument/2006/relationships/image"/><Relationship Id="rId4" Target="../media/image29.png" Type="http://schemas.openxmlformats.org/officeDocument/2006/relationships/image"/><Relationship Id="rId5" Target="../media/image30.png" Type="http://schemas.openxmlformats.org/officeDocument/2006/relationships/image"/><Relationship Id="rId6" Target="../media/image31.svg" Type="http://schemas.openxmlformats.org/officeDocument/2006/relationships/image"/></Relationships>
</file>

<file path=ppt/slides/_rels/slide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2.png" Type="http://schemas.openxmlformats.org/officeDocument/2006/relationships/image"/><Relationship Id="rId3" Target="../media/image33.png" Type="http://schemas.openxmlformats.org/officeDocument/2006/relationships/image"/><Relationship Id="rId4" Target="../media/image34.png" Type="http://schemas.openxmlformats.org/officeDocument/2006/relationships/image"/></Relationships>
</file>

<file path=ppt/slides/_rels/slide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5.png" Type="http://schemas.openxmlformats.org/officeDocument/2006/relationships/image"/><Relationship Id="rId3" Target="../media/image36.png" Type="http://schemas.openxmlformats.org/officeDocument/2006/relationships/image"/></Relationships>
</file>

<file path=ppt/slides/_rels/slide1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7.png" Type="http://schemas.openxmlformats.org/officeDocument/2006/relationships/image"/><Relationship Id="rId3" Target="../media/image38.png" Type="http://schemas.openxmlformats.org/officeDocument/2006/relationships/image"/></Relationships>
</file>

<file path=ppt/slides/_rels/slide1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39.png" Type="http://schemas.openxmlformats.org/officeDocument/2006/relationships/image"/><Relationship Id="rId3" Target="../media/image40.png" Type="http://schemas.openxmlformats.org/officeDocument/2006/relationships/image"/></Relationships>
</file>

<file path=ppt/slides/_rels/slide1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1.png" Type="http://schemas.openxmlformats.org/officeDocument/2006/relationships/image"/><Relationship Id="rId3" Target="../media/image42.png" Type="http://schemas.openxmlformats.org/officeDocument/2006/relationships/image"/><Relationship Id="rId4" Target="../media/image43.png" Type="http://schemas.openxmlformats.org/officeDocument/2006/relationships/image"/></Relationships>
</file>

<file path=ppt/slides/_rels/slide1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4.png" Type="http://schemas.openxmlformats.org/officeDocument/2006/relationships/image"/><Relationship Id="rId3" Target="../media/image45.png" Type="http://schemas.openxmlformats.org/officeDocument/2006/relationships/image"/><Relationship Id="rId4" Target="../media/image46.png" Type="http://schemas.openxmlformats.org/officeDocument/2006/relationships/image"/><Relationship Id="rId5" Target="../media/image47.png" Type="http://schemas.openxmlformats.org/officeDocument/2006/relationships/image"/></Relationships>
</file>

<file path=ppt/slides/_rels/slide1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48.png" Type="http://schemas.openxmlformats.org/officeDocument/2006/relationships/image"/><Relationship Id="rId3" Target="../media/image49.png" Type="http://schemas.openxmlformats.org/officeDocument/2006/relationships/image"/><Relationship Id="rId4" Target="../media/image50.png" Type="http://schemas.openxmlformats.org/officeDocument/2006/relationships/image"/></Relationships>
</file>

<file path=ppt/slides/_rels/slide1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1.png" Type="http://schemas.openxmlformats.org/officeDocument/2006/relationships/image"/><Relationship Id="rId3" Target="../media/image52.png" Type="http://schemas.openxmlformats.org/officeDocument/2006/relationships/image"/></Relationships>
</file>

<file path=ppt/slides/_rels/slide1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3.png" Type="http://schemas.openxmlformats.org/officeDocument/2006/relationships/image"/><Relationship Id="rId3" Target="../media/image54.png" Type="http://schemas.openxmlformats.org/officeDocument/2006/relationships/image"/></Relationships>
</file>

<file path=ppt/slides/_rels/slide1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5.png" Type="http://schemas.openxmlformats.org/officeDocument/2006/relationships/image"/><Relationship Id="rId3" Target="../media/image56.png" Type="http://schemas.openxmlformats.org/officeDocument/2006/relationships/image"/><Relationship Id="rId4" Target="../media/image57.png" Type="http://schemas.openxmlformats.org/officeDocument/2006/relationships/image"/><Relationship Id="rId5" Target="../media/image58.png" Type="http://schemas.openxmlformats.org/officeDocument/2006/relationships/image"/></Relationships>
</file>

<file path=ppt/slides/_rels/slide18.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59.png" Type="http://schemas.openxmlformats.org/officeDocument/2006/relationships/image"/><Relationship Id="rId3" Target="../media/image60.png" Type="http://schemas.openxmlformats.org/officeDocument/2006/relationships/image"/></Relationships>
</file>

<file path=ppt/slides/_rels/slide19.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1.png" Type="http://schemas.openxmlformats.org/officeDocument/2006/relationships/image"/><Relationship Id="rId3" Target="../media/image62.png" Type="http://schemas.openxmlformats.org/officeDocument/2006/relationships/image"/><Relationship Id="rId4" Target="../media/image63.png" Type="http://schemas.openxmlformats.org/officeDocument/2006/relationships/image"/></Relationships>
</file>

<file path=ppt/slides/_rels/slide20.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4.png" Type="http://schemas.openxmlformats.org/officeDocument/2006/relationships/image"/><Relationship Id="rId3" Target="../media/image65.png" Type="http://schemas.openxmlformats.org/officeDocument/2006/relationships/image"/><Relationship Id="rId4" Target="../media/image66.png" Type="http://schemas.openxmlformats.org/officeDocument/2006/relationships/image"/><Relationship Id="rId5" Target="../media/image67.png" Type="http://schemas.openxmlformats.org/officeDocument/2006/relationships/image"/></Relationships>
</file>

<file path=ppt/slides/_rels/slide21.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68.png" Type="http://schemas.openxmlformats.org/officeDocument/2006/relationships/image"/><Relationship Id="rId3" Target="../media/image69.png" Type="http://schemas.openxmlformats.org/officeDocument/2006/relationships/image"/><Relationship Id="rId4" Target="../media/image70.png" Type="http://schemas.openxmlformats.org/officeDocument/2006/relationships/image"/></Relationships>
</file>

<file path=ppt/slides/_rels/slide22.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1.png" Type="http://schemas.openxmlformats.org/officeDocument/2006/relationships/image"/><Relationship Id="rId3" Target="../media/image72.png" Type="http://schemas.openxmlformats.org/officeDocument/2006/relationships/image"/><Relationship Id="rId4" Target="../media/image73.png" Type="http://schemas.openxmlformats.org/officeDocument/2006/relationships/image"/><Relationship Id="rId5" Target="../media/image74.png" Type="http://schemas.openxmlformats.org/officeDocument/2006/relationships/image"/></Relationships>
</file>

<file path=ppt/slides/_rels/slide23.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5.png" Type="http://schemas.openxmlformats.org/officeDocument/2006/relationships/image"/><Relationship Id="rId3" Target="../media/image76.png" Type="http://schemas.openxmlformats.org/officeDocument/2006/relationships/image"/></Relationships>
</file>

<file path=ppt/slides/_rels/slide24.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7.png" Type="http://schemas.openxmlformats.org/officeDocument/2006/relationships/image"/><Relationship Id="rId3" Target="../media/image78.png" Type="http://schemas.openxmlformats.org/officeDocument/2006/relationships/image"/></Relationships>
</file>

<file path=ppt/slides/_rels/slide25.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79.png" Type="http://schemas.openxmlformats.org/officeDocument/2006/relationships/image"/><Relationship Id="rId3" Target="../media/image80.png" Type="http://schemas.openxmlformats.org/officeDocument/2006/relationships/image"/><Relationship Id="rId4" Target="../media/image81.png" Type="http://schemas.openxmlformats.org/officeDocument/2006/relationships/image"/></Relationships>
</file>

<file path=ppt/slides/_rels/slide26.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2.png" Type="http://schemas.openxmlformats.org/officeDocument/2006/relationships/image"/><Relationship Id="rId3" Target="../media/image83.png" Type="http://schemas.openxmlformats.org/officeDocument/2006/relationships/image"/><Relationship Id="rId4" Target="../media/image84.png" Type="http://schemas.openxmlformats.org/officeDocument/2006/relationships/image"/><Relationship Id="rId5" Target="../media/image85.png" Type="http://schemas.openxmlformats.org/officeDocument/2006/relationships/image"/></Relationships>
</file>

<file path=ppt/slides/_rels/slide27.xml.rels><?xml version="1.0" encoding="UTF-8" standalone="yes"?><Relationships xmlns="http://schemas.openxmlformats.org/package/2006/relationships"><Relationship Id="rId1" Target="../slideLayouts/slideLayout7.xml" Type="http://schemas.openxmlformats.org/officeDocument/2006/relationships/slideLayout"/><Relationship Id="rId2" Target="../media/image86.png" Type="http://schemas.openxmlformats.org/officeDocument/2006/relationships/image"/><Relationship Id="rId3" Target="../media/image87.png" Type="http://schemas.openxmlformats.org/officeDocument/2006/relationships/image"/><Relationship Id="rId4" Target="../media/image88.png" Type="http://schemas.openxmlformats.org/officeDocument/2006/relationships/image"/></Relationships>
</file>

<file path=ppt/slides/_rels/slide28.xml.rels><?xml version="1.0" encoding="UTF-8" standalone="yes"?><Relationships xmlns="http://schemas.openxmlformats.org/package/2006/relationships"><Relationship Id="rId1" Target="../slideLayouts/slideLayout7.xml" Type="http://schemas.openxmlformats.org/officeDocument/2006/relationships/slideLayout"/><Relationship Id="rId10" Target="../media/image97.png" Type="http://schemas.openxmlformats.org/officeDocument/2006/relationships/image"/><Relationship Id="rId11" Target="../media/image98.svg" Type="http://schemas.openxmlformats.org/officeDocument/2006/relationships/image"/><Relationship Id="rId12" Target="../media/image99.png" Type="http://schemas.openxmlformats.org/officeDocument/2006/relationships/image"/><Relationship Id="rId13" Target="../media/image100.svg" Type="http://schemas.openxmlformats.org/officeDocument/2006/relationships/image"/><Relationship Id="rId14" Target="../media/image101.png" Type="http://schemas.openxmlformats.org/officeDocument/2006/relationships/image"/><Relationship Id="rId15" Target="../media/image102.svg" Type="http://schemas.openxmlformats.org/officeDocument/2006/relationships/image"/><Relationship Id="rId16" Target="../media/image103.png" Type="http://schemas.openxmlformats.org/officeDocument/2006/relationships/image"/><Relationship Id="rId17" Target="../media/image104.svg" Type="http://schemas.openxmlformats.org/officeDocument/2006/relationships/image"/><Relationship Id="rId18" Target="../media/image105.png" Type="http://schemas.openxmlformats.org/officeDocument/2006/relationships/image"/><Relationship Id="rId19" Target="../media/image106.svg" Type="http://schemas.openxmlformats.org/officeDocument/2006/relationships/image"/><Relationship Id="rId2" Target="../media/image89.png" Type="http://schemas.openxmlformats.org/officeDocument/2006/relationships/image"/><Relationship Id="rId20" Target="../media/image107.png" Type="http://schemas.openxmlformats.org/officeDocument/2006/relationships/image"/><Relationship Id="rId21" Target="../media/image108.svg" Type="http://schemas.openxmlformats.org/officeDocument/2006/relationships/image"/><Relationship Id="rId22" Target="../media/image109.png" Type="http://schemas.openxmlformats.org/officeDocument/2006/relationships/image"/><Relationship Id="rId23" Target="../media/image110.svg" Type="http://schemas.openxmlformats.org/officeDocument/2006/relationships/image"/><Relationship Id="rId24" Target="../media/image111.png" Type="http://schemas.openxmlformats.org/officeDocument/2006/relationships/image"/><Relationship Id="rId25" Target="../media/image112.svg" Type="http://schemas.openxmlformats.org/officeDocument/2006/relationships/image"/><Relationship Id="rId26" Target="../media/image113.png" Type="http://schemas.openxmlformats.org/officeDocument/2006/relationships/image"/><Relationship Id="rId27" Target="../media/image114.svg" Type="http://schemas.openxmlformats.org/officeDocument/2006/relationships/image"/><Relationship Id="rId28" Target="../media/image115.png" Type="http://schemas.openxmlformats.org/officeDocument/2006/relationships/image"/><Relationship Id="rId29" Target="../media/image116.svg" Type="http://schemas.openxmlformats.org/officeDocument/2006/relationships/image"/><Relationship Id="rId3" Target="../media/image90.svg" Type="http://schemas.openxmlformats.org/officeDocument/2006/relationships/image"/><Relationship Id="rId30" Target="../media/image117.png" Type="http://schemas.openxmlformats.org/officeDocument/2006/relationships/image"/><Relationship Id="rId31" Target="../media/image118.svg" Type="http://schemas.openxmlformats.org/officeDocument/2006/relationships/image"/><Relationship Id="rId32" Target="../media/image119.png" Type="http://schemas.openxmlformats.org/officeDocument/2006/relationships/image"/><Relationship Id="rId33" Target="../media/image120.svg" Type="http://schemas.openxmlformats.org/officeDocument/2006/relationships/image"/><Relationship Id="rId34" Target="../media/image121.png" Type="http://schemas.openxmlformats.org/officeDocument/2006/relationships/image"/><Relationship Id="rId35" Target="../media/image122.svg" Type="http://schemas.openxmlformats.org/officeDocument/2006/relationships/image"/><Relationship Id="rId4" Target="../media/image91.png" Type="http://schemas.openxmlformats.org/officeDocument/2006/relationships/image"/><Relationship Id="rId5" Target="../media/image92.svg" Type="http://schemas.openxmlformats.org/officeDocument/2006/relationships/image"/><Relationship Id="rId6" Target="../media/image93.png" Type="http://schemas.openxmlformats.org/officeDocument/2006/relationships/image"/><Relationship Id="rId7" Target="../media/image94.svg" Type="http://schemas.openxmlformats.org/officeDocument/2006/relationships/image"/><Relationship Id="rId8" Target="../media/image95.png" Type="http://schemas.openxmlformats.org/officeDocument/2006/relationships/image"/><Relationship Id="rId9" Target="../media/image96.svg" Type="http://schemas.openxmlformats.org/officeDocument/2006/relationships/image"/></Relationships>
</file>

<file path=ppt/slides/slide1.xml><?xml version="1.0" encoding="utf-8"?>
<p:sld xmlns:p="http://schemas.openxmlformats.org/presentationml/2006/main" xmlns:a="http://schemas.openxmlformats.org/drawingml/2006/main" xmlns:r="http://schemas.openxmlformats.org/officeDocument/2006/relationships">
  <p:cSld>
    <p:bg>
      <p:bgPr>
        <a:solidFill>
          <a:srgbClr val="295C4E"/>
        </a:solidFill>
      </p:bgPr>
    </p:bg>
    <p:spTree>
      <p:nvGrpSpPr>
        <p:cNvPr id="1" name=""/>
        <p:cNvGrpSpPr/>
        <p:nvPr/>
      </p:nvGrpSpPr>
      <p:grpSpPr>
        <a:xfrm>
          <a:off x="0" y="0"/>
          <a:ext cx="0" cy="0"/>
          <a:chOff x="0" y="0"/>
          <a:chExt cx="0" cy="0"/>
        </a:xfrm>
      </p:grpSpPr>
      <p:grpSp>
        <p:nvGrpSpPr>
          <p:cNvPr name="Group 2" id="2"/>
          <p:cNvGrpSpPr/>
          <p:nvPr/>
        </p:nvGrpSpPr>
        <p:grpSpPr>
          <a:xfrm rot="0">
            <a:off x="-4868919" y="-3415154"/>
            <a:ext cx="10808939" cy="17365434"/>
            <a:chOff x="0" y="0"/>
            <a:chExt cx="14411919" cy="23153912"/>
          </a:xfrm>
        </p:grpSpPr>
        <p:sp>
          <p:nvSpPr>
            <p:cNvPr name="Freeform 3" id="3"/>
            <p:cNvSpPr/>
            <p:nvPr/>
          </p:nvSpPr>
          <p:spPr>
            <a:xfrm flipH="false" flipV="false" rot="1788130">
              <a:off x="1908439" y="6798097"/>
              <a:ext cx="7850521" cy="9768748"/>
            </a:xfrm>
            <a:custGeom>
              <a:avLst/>
              <a:gdLst/>
              <a:ahLst/>
              <a:cxnLst/>
              <a:rect r="r" b="b" t="t" l="l"/>
              <a:pathLst>
                <a:path h="9768748" w="7850521">
                  <a:moveTo>
                    <a:pt x="0" y="0"/>
                  </a:moveTo>
                  <a:lnTo>
                    <a:pt x="7850521" y="0"/>
                  </a:lnTo>
                  <a:lnTo>
                    <a:pt x="7850521" y="9768749"/>
                  </a:lnTo>
                  <a:lnTo>
                    <a:pt x="0" y="9768749"/>
                  </a:lnTo>
                  <a:lnTo>
                    <a:pt x="0" y="0"/>
                  </a:lnTo>
                  <a:close/>
                </a:path>
              </a:pathLst>
            </a:custGeom>
            <a:blipFill>
              <a:blip r:embed="rId2">
                <a:alphaModFix amt="25000"/>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false" rot="5528272">
              <a:off x="5459255" y="-779638"/>
              <a:ext cx="7850521" cy="9768748"/>
            </a:xfrm>
            <a:custGeom>
              <a:avLst/>
              <a:gdLst/>
              <a:ahLst/>
              <a:cxnLst/>
              <a:rect r="r" b="b" t="t" l="l"/>
              <a:pathLst>
                <a:path h="9768748" w="7850521">
                  <a:moveTo>
                    <a:pt x="0" y="0"/>
                  </a:moveTo>
                  <a:lnTo>
                    <a:pt x="7850521" y="0"/>
                  </a:lnTo>
                  <a:lnTo>
                    <a:pt x="7850521" y="9768749"/>
                  </a:lnTo>
                  <a:lnTo>
                    <a:pt x="0" y="9768749"/>
                  </a:lnTo>
                  <a:lnTo>
                    <a:pt x="0" y="0"/>
                  </a:lnTo>
                  <a:close/>
                </a:path>
              </a:pathLst>
            </a:custGeom>
            <a:blipFill>
              <a:blip r:embed="rId2">
                <a:alphaModFix amt="25000"/>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4973372" y="13385164"/>
              <a:ext cx="7850521" cy="9768748"/>
            </a:xfrm>
            <a:custGeom>
              <a:avLst/>
              <a:gdLst/>
              <a:ahLst/>
              <a:cxnLst/>
              <a:rect r="r" b="b" t="t" l="l"/>
              <a:pathLst>
                <a:path h="9768748" w="7850521">
                  <a:moveTo>
                    <a:pt x="0" y="0"/>
                  </a:moveTo>
                  <a:lnTo>
                    <a:pt x="7850521" y="0"/>
                  </a:lnTo>
                  <a:lnTo>
                    <a:pt x="7850521" y="9768748"/>
                  </a:lnTo>
                  <a:lnTo>
                    <a:pt x="0" y="9768748"/>
                  </a:lnTo>
                  <a:lnTo>
                    <a:pt x="0" y="0"/>
                  </a:lnTo>
                  <a:close/>
                </a:path>
              </a:pathLst>
            </a:custGeom>
            <a:blipFill>
              <a:blip r:embed="rId2">
                <a:alphaModFix amt="25000"/>
                <a:extLst>
                  <a:ext uri="{96DAC541-7B7A-43D3-8B79-37D633B846F1}">
                    <asvg:svgBlip xmlns:asvg="http://schemas.microsoft.com/office/drawing/2016/SVG/main" r:embed="rId3"/>
                  </a:ext>
                </a:extLst>
              </a:blip>
              <a:stretch>
                <a:fillRect l="0" t="0" r="0" b="0"/>
              </a:stretch>
            </a:blipFill>
          </p:spPr>
        </p:sp>
      </p:grpSp>
      <p:sp>
        <p:nvSpPr>
          <p:cNvPr name="Freeform 6" id="6"/>
          <p:cNvSpPr/>
          <p:nvPr/>
        </p:nvSpPr>
        <p:spPr>
          <a:xfrm flipH="false" flipV="false" rot="0">
            <a:off x="535551" y="7308486"/>
            <a:ext cx="2538599" cy="2455517"/>
          </a:xfrm>
          <a:custGeom>
            <a:avLst/>
            <a:gdLst/>
            <a:ahLst/>
            <a:cxnLst/>
            <a:rect r="r" b="b" t="t" l="l"/>
            <a:pathLst>
              <a:path h="2455517" w="2538599">
                <a:moveTo>
                  <a:pt x="0" y="0"/>
                </a:moveTo>
                <a:lnTo>
                  <a:pt x="2538598" y="0"/>
                </a:lnTo>
                <a:lnTo>
                  <a:pt x="2538598" y="2455518"/>
                </a:lnTo>
                <a:lnTo>
                  <a:pt x="0" y="24555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7" id="7"/>
          <p:cNvGrpSpPr/>
          <p:nvPr/>
        </p:nvGrpSpPr>
        <p:grpSpPr>
          <a:xfrm rot="0">
            <a:off x="12347980" y="-3592481"/>
            <a:ext cx="10808939" cy="17365434"/>
            <a:chOff x="0" y="0"/>
            <a:chExt cx="14411919" cy="23153912"/>
          </a:xfrm>
        </p:grpSpPr>
        <p:sp>
          <p:nvSpPr>
            <p:cNvPr name="Freeform 8" id="8"/>
            <p:cNvSpPr/>
            <p:nvPr/>
          </p:nvSpPr>
          <p:spPr>
            <a:xfrm flipH="false" flipV="false" rot="-9011869">
              <a:off x="4652959" y="6587067"/>
              <a:ext cx="7850521" cy="9768748"/>
            </a:xfrm>
            <a:custGeom>
              <a:avLst/>
              <a:gdLst/>
              <a:ahLst/>
              <a:cxnLst/>
              <a:rect r="r" b="b" t="t" l="l"/>
              <a:pathLst>
                <a:path h="9768748" w="7850521">
                  <a:moveTo>
                    <a:pt x="0" y="0"/>
                  </a:moveTo>
                  <a:lnTo>
                    <a:pt x="7850521" y="0"/>
                  </a:lnTo>
                  <a:lnTo>
                    <a:pt x="7850521" y="9768748"/>
                  </a:lnTo>
                  <a:lnTo>
                    <a:pt x="0" y="9768748"/>
                  </a:lnTo>
                  <a:lnTo>
                    <a:pt x="0" y="0"/>
                  </a:lnTo>
                  <a:close/>
                </a:path>
              </a:pathLst>
            </a:custGeom>
            <a:blipFill>
              <a:blip r:embed="rId2">
                <a:alphaModFix amt="25000"/>
                <a:extLst>
                  <a:ext uri="{96DAC541-7B7A-43D3-8B79-37D633B846F1}">
                    <asvg:svgBlip xmlns:asvg="http://schemas.microsoft.com/office/drawing/2016/SVG/main" r:embed="rId3"/>
                  </a:ext>
                </a:extLst>
              </a:blip>
              <a:stretch>
                <a:fillRect l="0" t="0" r="0" b="0"/>
              </a:stretch>
            </a:blipFill>
          </p:spPr>
        </p:sp>
        <p:sp>
          <p:nvSpPr>
            <p:cNvPr name="Freeform 9" id="9"/>
            <p:cNvSpPr/>
            <p:nvPr/>
          </p:nvSpPr>
          <p:spPr>
            <a:xfrm flipH="false" flipV="false" rot="-5271727">
              <a:off x="1102143" y="14164802"/>
              <a:ext cx="7850521" cy="9768748"/>
            </a:xfrm>
            <a:custGeom>
              <a:avLst/>
              <a:gdLst/>
              <a:ahLst/>
              <a:cxnLst/>
              <a:rect r="r" b="b" t="t" l="l"/>
              <a:pathLst>
                <a:path h="9768748" w="7850521">
                  <a:moveTo>
                    <a:pt x="0" y="0"/>
                  </a:moveTo>
                  <a:lnTo>
                    <a:pt x="7850521" y="0"/>
                  </a:lnTo>
                  <a:lnTo>
                    <a:pt x="7850521" y="9768748"/>
                  </a:lnTo>
                  <a:lnTo>
                    <a:pt x="0" y="9768748"/>
                  </a:lnTo>
                  <a:lnTo>
                    <a:pt x="0" y="0"/>
                  </a:lnTo>
                  <a:close/>
                </a:path>
              </a:pathLst>
            </a:custGeom>
            <a:blipFill>
              <a:blip r:embed="rId2">
                <a:alphaModFix amt="25000"/>
                <a:extLst>
                  <a:ext uri="{96DAC541-7B7A-43D3-8B79-37D633B846F1}">
                    <asvg:svgBlip xmlns:asvg="http://schemas.microsoft.com/office/drawing/2016/SVG/main" r:embed="rId3"/>
                  </a:ext>
                </a:extLst>
              </a:blip>
              <a:stretch>
                <a:fillRect l="0" t="0" r="0" b="0"/>
              </a:stretch>
            </a:blipFill>
          </p:spPr>
        </p:sp>
        <p:sp>
          <p:nvSpPr>
            <p:cNvPr name="Freeform 10" id="10"/>
            <p:cNvSpPr/>
            <p:nvPr/>
          </p:nvSpPr>
          <p:spPr>
            <a:xfrm flipH="false" flipV="false" rot="-10800000">
              <a:off x="1588026" y="0"/>
              <a:ext cx="7850521" cy="9768748"/>
            </a:xfrm>
            <a:custGeom>
              <a:avLst/>
              <a:gdLst/>
              <a:ahLst/>
              <a:cxnLst/>
              <a:rect r="r" b="b" t="t" l="l"/>
              <a:pathLst>
                <a:path h="9768748" w="7850521">
                  <a:moveTo>
                    <a:pt x="0" y="0"/>
                  </a:moveTo>
                  <a:lnTo>
                    <a:pt x="7850521" y="0"/>
                  </a:lnTo>
                  <a:lnTo>
                    <a:pt x="7850521" y="9768748"/>
                  </a:lnTo>
                  <a:lnTo>
                    <a:pt x="0" y="9768748"/>
                  </a:lnTo>
                  <a:lnTo>
                    <a:pt x="0" y="0"/>
                  </a:lnTo>
                  <a:close/>
                </a:path>
              </a:pathLst>
            </a:custGeom>
            <a:blipFill>
              <a:blip r:embed="rId2">
                <a:alphaModFix amt="25000"/>
                <a:extLst>
                  <a:ext uri="{96DAC541-7B7A-43D3-8B79-37D633B846F1}">
                    <asvg:svgBlip xmlns:asvg="http://schemas.microsoft.com/office/drawing/2016/SVG/main" r:embed="rId3"/>
                  </a:ext>
                </a:extLst>
              </a:blip>
              <a:stretch>
                <a:fillRect l="0" t="0" r="0" b="0"/>
              </a:stretch>
            </a:blipFill>
          </p:spPr>
        </p:sp>
      </p:grpSp>
      <p:sp>
        <p:nvSpPr>
          <p:cNvPr name="Freeform 11" id="11"/>
          <p:cNvSpPr/>
          <p:nvPr/>
        </p:nvSpPr>
        <p:spPr>
          <a:xfrm flipH="false" flipV="false" rot="-5400000">
            <a:off x="15255391" y="7266946"/>
            <a:ext cx="2538599" cy="2455517"/>
          </a:xfrm>
          <a:custGeom>
            <a:avLst/>
            <a:gdLst/>
            <a:ahLst/>
            <a:cxnLst/>
            <a:rect r="r" b="b" t="t" l="l"/>
            <a:pathLst>
              <a:path h="2455517" w="2538599">
                <a:moveTo>
                  <a:pt x="0" y="0"/>
                </a:moveTo>
                <a:lnTo>
                  <a:pt x="2538599" y="0"/>
                </a:lnTo>
                <a:lnTo>
                  <a:pt x="2538599" y="2455517"/>
                </a:lnTo>
                <a:lnTo>
                  <a:pt x="0" y="245551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2" id="12"/>
          <p:cNvSpPr/>
          <p:nvPr/>
        </p:nvSpPr>
        <p:spPr>
          <a:xfrm flipH="false" flipV="false" rot="5334643">
            <a:off x="598097" y="660312"/>
            <a:ext cx="2538599" cy="2455517"/>
          </a:xfrm>
          <a:custGeom>
            <a:avLst/>
            <a:gdLst/>
            <a:ahLst/>
            <a:cxnLst/>
            <a:rect r="r" b="b" t="t" l="l"/>
            <a:pathLst>
              <a:path h="2455517" w="2538599">
                <a:moveTo>
                  <a:pt x="0" y="0"/>
                </a:moveTo>
                <a:lnTo>
                  <a:pt x="2538599" y="0"/>
                </a:lnTo>
                <a:lnTo>
                  <a:pt x="2538599" y="2455518"/>
                </a:lnTo>
                <a:lnTo>
                  <a:pt x="0" y="2455518"/>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13" id="13"/>
          <p:cNvSpPr/>
          <p:nvPr/>
        </p:nvSpPr>
        <p:spPr>
          <a:xfrm flipH="false" flipV="false" rot="-10800000">
            <a:off x="15213851" y="595661"/>
            <a:ext cx="2538599" cy="2455517"/>
          </a:xfrm>
          <a:custGeom>
            <a:avLst/>
            <a:gdLst/>
            <a:ahLst/>
            <a:cxnLst/>
            <a:rect r="r" b="b" t="t" l="l"/>
            <a:pathLst>
              <a:path h="2455517" w="2538599">
                <a:moveTo>
                  <a:pt x="0" y="0"/>
                </a:moveTo>
                <a:lnTo>
                  <a:pt x="2538598" y="0"/>
                </a:lnTo>
                <a:lnTo>
                  <a:pt x="2538598" y="2455517"/>
                </a:lnTo>
                <a:lnTo>
                  <a:pt x="0" y="2455517"/>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grpSp>
        <p:nvGrpSpPr>
          <p:cNvPr name="Group 14" id="14"/>
          <p:cNvGrpSpPr/>
          <p:nvPr/>
        </p:nvGrpSpPr>
        <p:grpSpPr>
          <a:xfrm rot="0">
            <a:off x="3119063" y="1654711"/>
            <a:ext cx="11288442" cy="5973211"/>
            <a:chOff x="0" y="0"/>
            <a:chExt cx="15051256" cy="7964281"/>
          </a:xfrm>
        </p:grpSpPr>
        <p:sp>
          <p:nvSpPr>
            <p:cNvPr name="TextBox 15" id="15"/>
            <p:cNvSpPr txBox="true"/>
            <p:nvPr/>
          </p:nvSpPr>
          <p:spPr>
            <a:xfrm rot="0">
              <a:off x="0" y="1799985"/>
              <a:ext cx="15051256" cy="4507187"/>
            </a:xfrm>
            <a:prstGeom prst="rect">
              <a:avLst/>
            </a:prstGeom>
          </p:spPr>
          <p:txBody>
            <a:bodyPr anchor="t" rtlCol="false" tIns="0" lIns="0" bIns="0" rIns="0">
              <a:spAutoFit/>
            </a:bodyPr>
            <a:lstStyle/>
            <a:p>
              <a:pPr algn="ctr" marL="0" indent="0" lvl="0">
                <a:lnSpc>
                  <a:spcPts val="13020"/>
                </a:lnSpc>
              </a:pPr>
              <a:r>
                <a:rPr lang="en-US" sz="12168">
                  <a:solidFill>
                    <a:srgbClr val="F6F6E9"/>
                  </a:solidFill>
                  <a:latin typeface="Faustina"/>
                  <a:ea typeface="Faustina"/>
                  <a:cs typeface="Faustina"/>
                  <a:sym typeface="Faustina"/>
                </a:rPr>
                <a:t>Quản Lý Cửa Hàng Bán Sách</a:t>
              </a:r>
            </a:p>
          </p:txBody>
        </p:sp>
        <p:sp>
          <p:nvSpPr>
            <p:cNvPr name="Freeform 16" id="16"/>
            <p:cNvSpPr/>
            <p:nvPr/>
          </p:nvSpPr>
          <p:spPr>
            <a:xfrm flipH="false" flipV="false" rot="0">
              <a:off x="4057739" y="0"/>
              <a:ext cx="6935777" cy="1248440"/>
            </a:xfrm>
            <a:custGeom>
              <a:avLst/>
              <a:gdLst/>
              <a:ahLst/>
              <a:cxnLst/>
              <a:rect r="r" b="b" t="t" l="l"/>
              <a:pathLst>
                <a:path h="1248440" w="6935777">
                  <a:moveTo>
                    <a:pt x="0" y="0"/>
                  </a:moveTo>
                  <a:lnTo>
                    <a:pt x="6935778" y="0"/>
                  </a:lnTo>
                  <a:lnTo>
                    <a:pt x="6935778" y="1248440"/>
                  </a:lnTo>
                  <a:lnTo>
                    <a:pt x="0" y="1248440"/>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17" id="17"/>
            <p:cNvSpPr/>
            <p:nvPr/>
          </p:nvSpPr>
          <p:spPr>
            <a:xfrm flipH="false" flipV="false" rot="-10800000">
              <a:off x="4057739" y="6715842"/>
              <a:ext cx="6935777" cy="1248440"/>
            </a:xfrm>
            <a:custGeom>
              <a:avLst/>
              <a:gdLst/>
              <a:ahLst/>
              <a:cxnLst/>
              <a:rect r="r" b="b" t="t" l="l"/>
              <a:pathLst>
                <a:path h="1248440" w="6935777">
                  <a:moveTo>
                    <a:pt x="0" y="0"/>
                  </a:moveTo>
                  <a:lnTo>
                    <a:pt x="6935778" y="0"/>
                  </a:lnTo>
                  <a:lnTo>
                    <a:pt x="6935778" y="1248439"/>
                  </a:lnTo>
                  <a:lnTo>
                    <a:pt x="0" y="1248439"/>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grpSp>
    </p:spTree>
  </p:cSld>
  <p:clrMapOvr>
    <a:masterClrMapping/>
  </p:clrMapOvr>
</p:sld>
</file>

<file path=ppt/slides/slide2.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5400000">
            <a:off x="12388725" y="2274403"/>
            <a:ext cx="8367370" cy="3818563"/>
          </a:xfrm>
          <a:custGeom>
            <a:avLst/>
            <a:gdLst/>
            <a:ahLst/>
            <a:cxnLst/>
            <a:rect r="r" b="b" t="t" l="l"/>
            <a:pathLst>
              <a:path h="3818563" w="8367370">
                <a:moveTo>
                  <a:pt x="0" y="0"/>
                </a:moveTo>
                <a:lnTo>
                  <a:pt x="8367370" y="0"/>
                </a:lnTo>
                <a:lnTo>
                  <a:pt x="8367370" y="3818564"/>
                </a:lnTo>
                <a:lnTo>
                  <a:pt x="0" y="381856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pic>
        <p:nvPicPr>
          <p:cNvPr name="Picture 3" id="3"/>
          <p:cNvPicPr>
            <a:picLocks noChangeAspect="true"/>
          </p:cNvPicPr>
          <p:nvPr/>
        </p:nvPicPr>
        <p:blipFill>
          <a:blip r:embed="rId4"/>
          <a:srcRect l="0" t="0" r="0" b="0"/>
          <a:stretch>
            <a:fillRect/>
          </a:stretch>
        </p:blipFill>
        <p:spPr>
          <a:xfrm flipH="false" flipV="false" rot="0">
            <a:off x="0" y="8871805"/>
            <a:ext cx="1272801" cy="1415195"/>
          </a:xfrm>
          <a:prstGeom prst="rect">
            <a:avLst/>
          </a:prstGeom>
        </p:spPr>
      </p:pic>
      <p:sp>
        <p:nvSpPr>
          <p:cNvPr name="TextBox 4" id="4"/>
          <p:cNvSpPr txBox="true"/>
          <p:nvPr/>
        </p:nvSpPr>
        <p:spPr>
          <a:xfrm rot="0">
            <a:off x="1221779" y="2318744"/>
            <a:ext cx="13441349" cy="5638800"/>
          </a:xfrm>
          <a:prstGeom prst="rect">
            <a:avLst/>
          </a:prstGeom>
        </p:spPr>
        <p:txBody>
          <a:bodyPr anchor="t" rtlCol="false" tIns="0" lIns="0" bIns="0" rIns="0">
            <a:spAutoFit/>
          </a:bodyPr>
          <a:lstStyle/>
          <a:p>
            <a:pPr algn="just">
              <a:lnSpc>
                <a:spcPts val="4422"/>
              </a:lnSpc>
              <a:spcBef>
                <a:spcPct val="0"/>
              </a:spcBef>
            </a:pPr>
            <a:r>
              <a:rPr lang="en-US" b="true" sz="3685">
                <a:solidFill>
                  <a:srgbClr val="000000"/>
                </a:solidFill>
                <a:latin typeface="Asap Bold"/>
                <a:ea typeface="Asap Bold"/>
                <a:cs typeface="Asap Bold"/>
                <a:sym typeface="Asap Bold"/>
              </a:rPr>
              <a:t>Phần 1: Giới Thiệu Tổng Quan Hệ Thống</a:t>
            </a:r>
          </a:p>
          <a:p>
            <a:pPr algn="just">
              <a:lnSpc>
                <a:spcPts val="4422"/>
              </a:lnSpc>
              <a:spcBef>
                <a:spcPct val="0"/>
              </a:spcBef>
            </a:pPr>
            <a:r>
              <a:rPr lang="en-US" b="true" sz="3685">
                <a:solidFill>
                  <a:srgbClr val="000000"/>
                </a:solidFill>
                <a:latin typeface="Asap Bold"/>
                <a:ea typeface="Asap Bold"/>
                <a:cs typeface="Asap Bold"/>
                <a:sym typeface="Asap Bold"/>
              </a:rPr>
              <a:t>Phần 2: Thiết kế hệ thống. </a:t>
            </a:r>
          </a:p>
          <a:p>
            <a:pPr algn="just">
              <a:lnSpc>
                <a:spcPts val="4082"/>
              </a:lnSpc>
              <a:spcBef>
                <a:spcPct val="0"/>
              </a:spcBef>
            </a:pPr>
            <a:r>
              <a:rPr lang="en-US" sz="3402">
                <a:solidFill>
                  <a:srgbClr val="000000"/>
                </a:solidFill>
                <a:latin typeface="Asap"/>
                <a:ea typeface="Asap"/>
                <a:cs typeface="Asap"/>
                <a:sym typeface="Asap"/>
              </a:rPr>
              <a:t>   </a:t>
            </a:r>
            <a:r>
              <a:rPr lang="en-US" sz="3402">
                <a:solidFill>
                  <a:srgbClr val="000000"/>
                </a:solidFill>
                <a:latin typeface="Asap"/>
                <a:ea typeface="Asap"/>
                <a:cs typeface="Asap"/>
                <a:sym typeface="Asap"/>
              </a:rPr>
              <a:t>2.1: Biểu đồ Use-case </a:t>
            </a:r>
          </a:p>
          <a:p>
            <a:pPr algn="just">
              <a:lnSpc>
                <a:spcPts val="4082"/>
              </a:lnSpc>
              <a:spcBef>
                <a:spcPct val="0"/>
              </a:spcBef>
            </a:pPr>
            <a:r>
              <a:rPr lang="en-US" sz="3402">
                <a:solidFill>
                  <a:srgbClr val="000000"/>
                </a:solidFill>
                <a:latin typeface="Asap"/>
                <a:ea typeface="Asap"/>
                <a:cs typeface="Asap"/>
                <a:sym typeface="Asap"/>
              </a:rPr>
              <a:t>   2.2: Biểu đồ Data-base. </a:t>
            </a:r>
          </a:p>
          <a:p>
            <a:pPr algn="just">
              <a:lnSpc>
                <a:spcPts val="4422"/>
              </a:lnSpc>
              <a:spcBef>
                <a:spcPct val="0"/>
              </a:spcBef>
            </a:pPr>
            <a:r>
              <a:rPr lang="en-US" b="true" sz="3685">
                <a:solidFill>
                  <a:srgbClr val="000000"/>
                </a:solidFill>
                <a:latin typeface="Asap Bold"/>
                <a:ea typeface="Asap Bold"/>
                <a:cs typeface="Asap Bold"/>
                <a:sym typeface="Asap Bold"/>
              </a:rPr>
              <a:t>Phần 3: Thiết kế chương trình. </a:t>
            </a:r>
          </a:p>
          <a:p>
            <a:pPr algn="just">
              <a:lnSpc>
                <a:spcPts val="4082"/>
              </a:lnSpc>
              <a:spcBef>
                <a:spcPct val="0"/>
              </a:spcBef>
            </a:pPr>
            <a:r>
              <a:rPr lang="en-US" sz="3402">
                <a:solidFill>
                  <a:srgbClr val="000000"/>
                </a:solidFill>
                <a:latin typeface="Asap"/>
                <a:ea typeface="Asap"/>
                <a:cs typeface="Asap"/>
                <a:sym typeface="Asap"/>
              </a:rPr>
              <a:t>   </a:t>
            </a:r>
            <a:r>
              <a:rPr lang="en-US" sz="3402">
                <a:solidFill>
                  <a:srgbClr val="000000"/>
                </a:solidFill>
                <a:latin typeface="Asap"/>
                <a:ea typeface="Asap"/>
                <a:cs typeface="Asap"/>
                <a:sym typeface="Asap"/>
              </a:rPr>
              <a:t>3.1: Tài khoản dùng để đăng nhập vào hệ thống. </a:t>
            </a:r>
          </a:p>
          <a:p>
            <a:pPr algn="just">
              <a:lnSpc>
                <a:spcPts val="4082"/>
              </a:lnSpc>
              <a:spcBef>
                <a:spcPct val="0"/>
              </a:spcBef>
            </a:pPr>
            <a:r>
              <a:rPr lang="en-US" sz="3402">
                <a:solidFill>
                  <a:srgbClr val="000000"/>
                </a:solidFill>
                <a:latin typeface="Asap"/>
                <a:ea typeface="Asap"/>
                <a:cs typeface="Asap"/>
                <a:sym typeface="Asap"/>
              </a:rPr>
              <a:t>   3.2: Các chức năng ( khi người dùng chưa đăng nhập vào hệ thống ) </a:t>
            </a:r>
          </a:p>
          <a:p>
            <a:pPr algn="just">
              <a:lnSpc>
                <a:spcPts val="4082"/>
              </a:lnSpc>
              <a:spcBef>
                <a:spcPct val="0"/>
              </a:spcBef>
            </a:pPr>
            <a:r>
              <a:rPr lang="en-US" sz="3402">
                <a:solidFill>
                  <a:srgbClr val="000000"/>
                </a:solidFill>
                <a:latin typeface="Asap"/>
                <a:ea typeface="Asap"/>
                <a:cs typeface="Asap"/>
                <a:sym typeface="Asap"/>
              </a:rPr>
              <a:t>   </a:t>
            </a:r>
            <a:r>
              <a:rPr lang="en-US" sz="3402">
                <a:solidFill>
                  <a:srgbClr val="000000"/>
                </a:solidFill>
                <a:latin typeface="Asap"/>
                <a:ea typeface="Asap"/>
                <a:cs typeface="Asap"/>
                <a:sym typeface="Asap"/>
              </a:rPr>
              <a:t>3.3 Các chức năng cho mỗi loại người dùng. </a:t>
            </a:r>
          </a:p>
          <a:p>
            <a:pPr algn="just">
              <a:lnSpc>
                <a:spcPts val="3742"/>
              </a:lnSpc>
              <a:spcBef>
                <a:spcPct val="0"/>
              </a:spcBef>
            </a:pPr>
            <a:r>
              <a:rPr lang="en-US" sz="3118">
                <a:solidFill>
                  <a:srgbClr val="000000"/>
                </a:solidFill>
                <a:latin typeface="Asap"/>
                <a:ea typeface="Asap"/>
                <a:cs typeface="Asap"/>
                <a:sym typeface="Asap"/>
              </a:rPr>
              <a:t>      </a:t>
            </a:r>
            <a:r>
              <a:rPr lang="en-US" sz="3118">
                <a:solidFill>
                  <a:srgbClr val="000000"/>
                </a:solidFill>
                <a:latin typeface="Asap"/>
                <a:ea typeface="Asap"/>
                <a:cs typeface="Asap"/>
                <a:sym typeface="Asap"/>
              </a:rPr>
              <a:t>3.3.1: Các chức năng của khách hàng. </a:t>
            </a:r>
          </a:p>
          <a:p>
            <a:pPr algn="just">
              <a:lnSpc>
                <a:spcPts val="3742"/>
              </a:lnSpc>
              <a:spcBef>
                <a:spcPct val="0"/>
              </a:spcBef>
            </a:pPr>
            <a:r>
              <a:rPr lang="en-US" sz="3118">
                <a:solidFill>
                  <a:srgbClr val="000000"/>
                </a:solidFill>
                <a:latin typeface="Asap"/>
                <a:ea typeface="Asap"/>
                <a:cs typeface="Asap"/>
                <a:sym typeface="Asap"/>
              </a:rPr>
              <a:t>      </a:t>
            </a:r>
            <a:r>
              <a:rPr lang="en-US" sz="3118">
                <a:solidFill>
                  <a:srgbClr val="000000"/>
                </a:solidFill>
                <a:latin typeface="Asap"/>
                <a:ea typeface="Asap"/>
                <a:cs typeface="Asap"/>
                <a:sym typeface="Asap"/>
              </a:rPr>
              <a:t>3.3.2: Các chức năng của chủ cửa hàng. </a:t>
            </a:r>
          </a:p>
          <a:p>
            <a:pPr algn="just">
              <a:lnSpc>
                <a:spcPts val="3742"/>
              </a:lnSpc>
              <a:spcBef>
                <a:spcPct val="0"/>
              </a:spcBef>
            </a:pPr>
            <a:r>
              <a:rPr lang="en-US" sz="3118">
                <a:solidFill>
                  <a:srgbClr val="000000"/>
                </a:solidFill>
                <a:latin typeface="Asap"/>
                <a:ea typeface="Asap"/>
                <a:cs typeface="Asap"/>
                <a:sym typeface="Asap"/>
              </a:rPr>
              <a:t>      3.3.3: Các chức năng của nhân viên </a:t>
            </a:r>
          </a:p>
        </p:txBody>
      </p:sp>
      <p:sp>
        <p:nvSpPr>
          <p:cNvPr name="TextBox 5" id="5"/>
          <p:cNvSpPr txBox="true"/>
          <p:nvPr/>
        </p:nvSpPr>
        <p:spPr>
          <a:xfrm rot="0">
            <a:off x="5815563" y="415164"/>
            <a:ext cx="3641289" cy="998842"/>
          </a:xfrm>
          <a:prstGeom prst="rect">
            <a:avLst/>
          </a:prstGeom>
        </p:spPr>
        <p:txBody>
          <a:bodyPr anchor="t" rtlCol="false" tIns="0" lIns="0" bIns="0" rIns="0">
            <a:spAutoFit/>
          </a:bodyPr>
          <a:lstStyle/>
          <a:p>
            <a:pPr algn="ctr">
              <a:lnSpc>
                <a:spcPts val="7984"/>
              </a:lnSpc>
              <a:spcBef>
                <a:spcPct val="0"/>
              </a:spcBef>
            </a:pPr>
            <a:r>
              <a:rPr lang="en-US" b="true" sz="6653">
                <a:solidFill>
                  <a:srgbClr val="000000"/>
                </a:solidFill>
                <a:latin typeface="Faustina Bold"/>
                <a:ea typeface="Faustina Bold"/>
                <a:cs typeface="Faustina Bold"/>
                <a:sym typeface="Faustina Bold"/>
              </a:rPr>
              <a:t>Nội  Dung</a:t>
            </a:r>
          </a:p>
        </p:txBody>
      </p:sp>
    </p:spTree>
  </p:cSld>
  <p:clrMapOvr>
    <a:masterClrMapping/>
  </p:clrMapOvr>
</p:sld>
</file>

<file path=ppt/slides/slide3.xml><?xml version="1.0" encoding="utf-8"?>
<p:sld xmlns:p="http://schemas.openxmlformats.org/presentationml/2006/main" xmlns:a="http://schemas.openxmlformats.org/drawingml/2006/main" xmlns:r="http://schemas.openxmlformats.org/officeDocument/2006/relationships">
  <p:cSld>
    <p:bg>
      <p:bgPr>
        <a:solidFill>
          <a:srgbClr val="FDFDFD"/>
        </a:solidFill>
      </p:bgPr>
    </p:bg>
    <p:spTree>
      <p:nvGrpSpPr>
        <p:cNvPr id="1" name=""/>
        <p:cNvGrpSpPr/>
        <p:nvPr/>
      </p:nvGrpSpPr>
      <p:grpSpPr>
        <a:xfrm>
          <a:off x="0" y="0"/>
          <a:ext cx="0" cy="0"/>
          <a:chOff x="0" y="0"/>
          <a:chExt cx="0" cy="0"/>
        </a:xfrm>
      </p:grpSpPr>
      <p:sp>
        <p:nvSpPr>
          <p:cNvPr name="Freeform 2" id="2"/>
          <p:cNvSpPr/>
          <p:nvPr/>
        </p:nvSpPr>
        <p:spPr>
          <a:xfrm flipH="false" flipV="false" rot="0">
            <a:off x="412915" y="7489162"/>
            <a:ext cx="2860244" cy="2797838"/>
          </a:xfrm>
          <a:custGeom>
            <a:avLst/>
            <a:gdLst/>
            <a:ahLst/>
            <a:cxnLst/>
            <a:rect r="r" b="b" t="t" l="l"/>
            <a:pathLst>
              <a:path h="2797838" w="2860244">
                <a:moveTo>
                  <a:pt x="0" y="0"/>
                </a:moveTo>
                <a:lnTo>
                  <a:pt x="2860244" y="0"/>
                </a:lnTo>
                <a:lnTo>
                  <a:pt x="2860244" y="2797838"/>
                </a:lnTo>
                <a:lnTo>
                  <a:pt x="0" y="2797838"/>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3" id="3"/>
          <p:cNvSpPr/>
          <p:nvPr/>
        </p:nvSpPr>
        <p:spPr>
          <a:xfrm flipH="true" flipV="false" rot="0">
            <a:off x="15427756" y="7489162"/>
            <a:ext cx="2860244" cy="2797838"/>
          </a:xfrm>
          <a:custGeom>
            <a:avLst/>
            <a:gdLst/>
            <a:ahLst/>
            <a:cxnLst/>
            <a:rect r="r" b="b" t="t" l="l"/>
            <a:pathLst>
              <a:path h="2797838" w="2860244">
                <a:moveTo>
                  <a:pt x="2860244" y="0"/>
                </a:moveTo>
                <a:lnTo>
                  <a:pt x="0" y="0"/>
                </a:lnTo>
                <a:lnTo>
                  <a:pt x="0" y="2797838"/>
                </a:lnTo>
                <a:lnTo>
                  <a:pt x="2860244" y="2797838"/>
                </a:lnTo>
                <a:lnTo>
                  <a:pt x="2860244"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4" id="4"/>
          <p:cNvSpPr/>
          <p:nvPr/>
        </p:nvSpPr>
        <p:spPr>
          <a:xfrm flipH="false" flipV="true" rot="0">
            <a:off x="412915" y="0"/>
            <a:ext cx="2860244" cy="2797838"/>
          </a:xfrm>
          <a:custGeom>
            <a:avLst/>
            <a:gdLst/>
            <a:ahLst/>
            <a:cxnLst/>
            <a:rect r="r" b="b" t="t" l="l"/>
            <a:pathLst>
              <a:path h="2797838" w="2860244">
                <a:moveTo>
                  <a:pt x="0" y="2797838"/>
                </a:moveTo>
                <a:lnTo>
                  <a:pt x="2860244" y="2797838"/>
                </a:lnTo>
                <a:lnTo>
                  <a:pt x="2860244" y="0"/>
                </a:lnTo>
                <a:lnTo>
                  <a:pt x="0" y="0"/>
                </a:lnTo>
                <a:lnTo>
                  <a:pt x="0" y="2797838"/>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true" flipV="true" rot="0">
            <a:off x="15427756" y="0"/>
            <a:ext cx="2860244" cy="2797838"/>
          </a:xfrm>
          <a:custGeom>
            <a:avLst/>
            <a:gdLst/>
            <a:ahLst/>
            <a:cxnLst/>
            <a:rect r="r" b="b" t="t" l="l"/>
            <a:pathLst>
              <a:path h="2797838" w="2860244">
                <a:moveTo>
                  <a:pt x="2860244" y="2797838"/>
                </a:moveTo>
                <a:lnTo>
                  <a:pt x="0" y="2797838"/>
                </a:lnTo>
                <a:lnTo>
                  <a:pt x="0" y="0"/>
                </a:lnTo>
                <a:lnTo>
                  <a:pt x="2860244" y="0"/>
                </a:lnTo>
                <a:lnTo>
                  <a:pt x="2860244" y="2797838"/>
                </a:lnTo>
                <a:close/>
              </a:path>
            </a:pathLst>
          </a:custGeom>
          <a:blipFill>
            <a:blip r:embed="rId2">
              <a:extLst>
                <a:ext uri="{96DAC541-7B7A-43D3-8B79-37D633B846F1}">
                  <asvg:svgBlip xmlns:asvg="http://schemas.microsoft.com/office/drawing/2016/SVG/main" r:embed="rId3"/>
                </a:ext>
              </a:extLst>
            </a:blip>
            <a:stretch>
              <a:fillRect l="0" t="0" r="0" b="0"/>
            </a:stretch>
          </a:blipFill>
        </p:spPr>
      </p:sp>
      <p:pic>
        <p:nvPicPr>
          <p:cNvPr name="Picture 6" id="6"/>
          <p:cNvPicPr>
            <a:picLocks noChangeAspect="true"/>
          </p:cNvPicPr>
          <p:nvPr/>
        </p:nvPicPr>
        <p:blipFill>
          <a:blip r:embed="rId4"/>
          <a:srcRect l="0" t="0" r="0" b="0"/>
          <a:stretch>
            <a:fillRect/>
          </a:stretch>
        </p:blipFill>
        <p:spPr>
          <a:xfrm flipH="false" flipV="false" rot="0">
            <a:off x="15065548" y="7757375"/>
            <a:ext cx="3222452" cy="2529625"/>
          </a:xfrm>
          <a:prstGeom prst="rect">
            <a:avLst/>
          </a:prstGeom>
        </p:spPr>
      </p:pic>
      <p:sp>
        <p:nvSpPr>
          <p:cNvPr name="TextBox 7" id="7"/>
          <p:cNvSpPr txBox="true"/>
          <p:nvPr/>
        </p:nvSpPr>
        <p:spPr>
          <a:xfrm rot="0">
            <a:off x="2321730" y="1953558"/>
            <a:ext cx="10236838" cy="7458075"/>
          </a:xfrm>
          <a:prstGeom prst="rect">
            <a:avLst/>
          </a:prstGeom>
        </p:spPr>
        <p:txBody>
          <a:bodyPr anchor="t" rtlCol="false" tIns="0" lIns="0" bIns="0" rIns="0">
            <a:spAutoFit/>
          </a:bodyPr>
          <a:lstStyle/>
          <a:p>
            <a:pPr algn="l" marL="582930" indent="-291465" lvl="1">
              <a:lnSpc>
                <a:spcPts val="3240"/>
              </a:lnSpc>
              <a:buFont typeface="Arial"/>
              <a:buChar char="•"/>
            </a:pPr>
            <a:r>
              <a:rPr lang="en-US" sz="2700">
                <a:solidFill>
                  <a:srgbClr val="000000"/>
                </a:solidFill>
                <a:latin typeface="Faustina"/>
                <a:ea typeface="Faustina"/>
                <a:cs typeface="Faustina"/>
                <a:sym typeface="Faustina"/>
              </a:rPr>
              <a:t>Hệ thống cửa hàng bán sách online</a:t>
            </a:r>
          </a:p>
          <a:p>
            <a:pPr algn="l">
              <a:lnSpc>
                <a:spcPts val="3120"/>
              </a:lnSpc>
            </a:pPr>
          </a:p>
          <a:p>
            <a:pPr algn="l" marL="582930" indent="-291465" lvl="1">
              <a:lnSpc>
                <a:spcPts val="3240"/>
              </a:lnSpc>
              <a:buFont typeface="Arial"/>
              <a:buChar char="•"/>
            </a:pPr>
            <a:r>
              <a:rPr lang="en-US" sz="2700">
                <a:solidFill>
                  <a:srgbClr val="000000"/>
                </a:solidFill>
                <a:latin typeface="Faustina"/>
                <a:ea typeface="Faustina"/>
                <a:cs typeface="Faustina"/>
                <a:sym typeface="Faustina"/>
              </a:rPr>
              <a:t>Người sử dụng hệ thống:</a:t>
            </a:r>
          </a:p>
          <a:p>
            <a:pPr algn="l">
              <a:lnSpc>
                <a:spcPts val="3120"/>
              </a:lnSpc>
            </a:pPr>
            <a:r>
              <a:rPr lang="en-US" sz="2600">
                <a:solidFill>
                  <a:srgbClr val="000000"/>
                </a:solidFill>
                <a:latin typeface="Faustina"/>
                <a:ea typeface="Faustina"/>
                <a:cs typeface="Faustina"/>
                <a:sym typeface="Faustina"/>
              </a:rPr>
              <a:t> </a:t>
            </a:r>
          </a:p>
          <a:p>
            <a:pPr algn="l" marL="1122681" indent="-374227" lvl="2">
              <a:lnSpc>
                <a:spcPts val="3120"/>
              </a:lnSpc>
              <a:buFont typeface="Arial"/>
              <a:buChar char="⚬"/>
            </a:pPr>
            <a:r>
              <a:rPr lang="en-US" sz="2600">
                <a:solidFill>
                  <a:srgbClr val="000000"/>
                </a:solidFill>
                <a:latin typeface="Faustina"/>
                <a:ea typeface="Faustina"/>
                <a:cs typeface="Faustina"/>
                <a:sym typeface="Faustina"/>
              </a:rPr>
              <a:t> Chủ cửa hàng : Có toàn bộ quyền quản lý cửa hàng</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 Quản lý khách hàng.</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Quản lý loại sách.</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Quản lý nhân viên.</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Quản lý sách.</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Báo cáo và thống kê.</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Xem và chỉnh sửa thông tin tài khoản cá nhân.</a:t>
            </a:r>
          </a:p>
          <a:p>
            <a:pPr algn="l" marL="1122681" indent="-374227" lvl="2">
              <a:lnSpc>
                <a:spcPts val="3120"/>
              </a:lnSpc>
              <a:buFont typeface="Arial"/>
              <a:buChar char="⚬"/>
            </a:pPr>
            <a:r>
              <a:rPr lang="en-US" sz="2600">
                <a:solidFill>
                  <a:srgbClr val="000000"/>
                </a:solidFill>
                <a:latin typeface="Faustina"/>
                <a:ea typeface="Faustina"/>
                <a:cs typeface="Faustina"/>
                <a:sym typeface="Faustina"/>
              </a:rPr>
              <a:t>Nhân viên : Không có quyền quản lý khách hàng và nhân viên</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Quản lý loại sách.</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Quản lý sách.</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Báo cáo và thống kê.</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Xem và chỉnh sửa thông tin tài khoản cá nhân.</a:t>
            </a:r>
          </a:p>
          <a:p>
            <a:pPr algn="l" marL="1122681" indent="-374227" lvl="2">
              <a:lnSpc>
                <a:spcPts val="3120"/>
              </a:lnSpc>
              <a:buFont typeface="Arial"/>
              <a:buChar char="⚬"/>
            </a:pPr>
            <a:r>
              <a:rPr lang="en-US" sz="2600">
                <a:solidFill>
                  <a:srgbClr val="000000"/>
                </a:solidFill>
                <a:latin typeface="Faustina"/>
                <a:ea typeface="Faustina"/>
                <a:cs typeface="Faustina"/>
                <a:sym typeface="Faustina"/>
              </a:rPr>
              <a:t>Người dùng: </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Xem và chỉnh sửa thông tin cá nhân.</a:t>
            </a:r>
          </a:p>
          <a:p>
            <a:pPr algn="l" marL="1684022" indent="-421005" lvl="3">
              <a:lnSpc>
                <a:spcPts val="3120"/>
              </a:lnSpc>
              <a:buFont typeface="Arial"/>
              <a:buChar char="￭"/>
            </a:pPr>
            <a:r>
              <a:rPr lang="en-US" sz="2600">
                <a:solidFill>
                  <a:srgbClr val="000000"/>
                </a:solidFill>
                <a:latin typeface="Faustina"/>
                <a:ea typeface="Faustina"/>
                <a:cs typeface="Faustina"/>
                <a:sym typeface="Faustina"/>
              </a:rPr>
              <a:t>Xem thông tin cửa hàng.</a:t>
            </a:r>
          </a:p>
        </p:txBody>
      </p:sp>
      <p:sp>
        <p:nvSpPr>
          <p:cNvPr name="TextBox 8" id="8"/>
          <p:cNvSpPr txBox="true"/>
          <p:nvPr/>
        </p:nvSpPr>
        <p:spPr>
          <a:xfrm rot="0">
            <a:off x="2099588" y="1015877"/>
            <a:ext cx="11146363" cy="766084"/>
          </a:xfrm>
          <a:prstGeom prst="rect">
            <a:avLst/>
          </a:prstGeom>
        </p:spPr>
        <p:txBody>
          <a:bodyPr anchor="t" rtlCol="false" tIns="0" lIns="0" bIns="0" rIns="0">
            <a:spAutoFit/>
          </a:bodyPr>
          <a:lstStyle/>
          <a:p>
            <a:pPr algn="ctr">
              <a:lnSpc>
                <a:spcPts val="6050"/>
              </a:lnSpc>
              <a:spcBef>
                <a:spcPct val="0"/>
              </a:spcBef>
            </a:pPr>
            <a:r>
              <a:rPr lang="en-US" b="true" sz="5042">
                <a:solidFill>
                  <a:srgbClr val="000000"/>
                </a:solidFill>
                <a:latin typeface="Faustina Bold"/>
                <a:ea typeface="Faustina Bold"/>
                <a:cs typeface="Faustina Bold"/>
                <a:sym typeface="Faustina Bold"/>
              </a:rPr>
              <a:t>Phần 1: Giới Thiệu Tổng Quan Hệ Thống</a:t>
            </a:r>
          </a:p>
        </p:txBody>
      </p:sp>
    </p:spTree>
  </p:cSld>
  <p:clrMapOvr>
    <a:masterClrMapping/>
  </p:clrMapOvr>
</p:sld>
</file>

<file path=ppt/slides/slide4.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606835" y="2222896"/>
            <a:ext cx="9432026" cy="6713401"/>
          </a:xfrm>
          <a:custGeom>
            <a:avLst/>
            <a:gdLst/>
            <a:ahLst/>
            <a:cxnLst/>
            <a:rect r="r" b="b" t="t" l="l"/>
            <a:pathLst>
              <a:path h="6713401" w="9432026">
                <a:moveTo>
                  <a:pt x="0" y="0"/>
                </a:moveTo>
                <a:lnTo>
                  <a:pt x="9432026" y="0"/>
                </a:lnTo>
                <a:lnTo>
                  <a:pt x="9432026" y="6713401"/>
                </a:lnTo>
                <a:lnTo>
                  <a:pt x="0" y="6713401"/>
                </a:lnTo>
                <a:lnTo>
                  <a:pt x="0" y="0"/>
                </a:lnTo>
                <a:close/>
              </a:path>
            </a:pathLst>
          </a:custGeom>
          <a:blipFill>
            <a:blip r:embed="rId2"/>
            <a:stretch>
              <a:fillRect l="0" t="-1456" r="0" b="-1456"/>
            </a:stretch>
          </a:blipFill>
        </p:spPr>
      </p:sp>
      <p:sp>
        <p:nvSpPr>
          <p:cNvPr name="Freeform 3" id="3"/>
          <p:cNvSpPr/>
          <p:nvPr/>
        </p:nvSpPr>
        <p:spPr>
          <a:xfrm flipH="false" flipV="false" rot="0">
            <a:off x="10038861" y="3222933"/>
            <a:ext cx="8249139" cy="3841133"/>
          </a:xfrm>
          <a:custGeom>
            <a:avLst/>
            <a:gdLst/>
            <a:ahLst/>
            <a:cxnLst/>
            <a:rect r="r" b="b" t="t" l="l"/>
            <a:pathLst>
              <a:path h="3841133" w="8249139">
                <a:moveTo>
                  <a:pt x="0" y="0"/>
                </a:moveTo>
                <a:lnTo>
                  <a:pt x="8249139" y="0"/>
                </a:lnTo>
                <a:lnTo>
                  <a:pt x="8249139" y="3841134"/>
                </a:lnTo>
                <a:lnTo>
                  <a:pt x="0" y="3841134"/>
                </a:lnTo>
                <a:lnTo>
                  <a:pt x="0" y="0"/>
                </a:lnTo>
                <a:close/>
              </a:path>
            </a:pathLst>
          </a:custGeom>
          <a:blipFill>
            <a:blip r:embed="rId3"/>
            <a:stretch>
              <a:fillRect l="0" t="-1005" r="0" b="-1005"/>
            </a:stretch>
          </a:blipFill>
        </p:spPr>
      </p:sp>
      <p:pic>
        <p:nvPicPr>
          <p:cNvPr name="Picture 4" id="4"/>
          <p:cNvPicPr>
            <a:picLocks noChangeAspect="true"/>
          </p:cNvPicPr>
          <p:nvPr/>
        </p:nvPicPr>
        <p:blipFill>
          <a:blip r:embed="rId4"/>
          <a:srcRect l="0" t="0" r="0" b="0"/>
          <a:stretch>
            <a:fillRect/>
          </a:stretch>
        </p:blipFill>
        <p:spPr>
          <a:xfrm flipH="false" flipV="false" rot="0">
            <a:off x="16793178" y="0"/>
            <a:ext cx="1613011" cy="1500733"/>
          </a:xfrm>
          <a:prstGeom prst="rect">
            <a:avLst/>
          </a:prstGeom>
        </p:spPr>
      </p:pic>
      <p:sp>
        <p:nvSpPr>
          <p:cNvPr name="Freeform 5" id="5"/>
          <p:cNvSpPr/>
          <p:nvPr/>
        </p:nvSpPr>
        <p:spPr>
          <a:xfrm flipH="false" flipV="false" rot="0">
            <a:off x="455755" y="9079172"/>
            <a:ext cx="1145889" cy="1235763"/>
          </a:xfrm>
          <a:custGeom>
            <a:avLst/>
            <a:gdLst/>
            <a:ahLst/>
            <a:cxnLst/>
            <a:rect r="r" b="b" t="t" l="l"/>
            <a:pathLst>
              <a:path h="1235763" w="1145889">
                <a:moveTo>
                  <a:pt x="0" y="0"/>
                </a:moveTo>
                <a:lnTo>
                  <a:pt x="1145890" y="0"/>
                </a:lnTo>
                <a:lnTo>
                  <a:pt x="1145890" y="1235763"/>
                </a:lnTo>
                <a:lnTo>
                  <a:pt x="0" y="1235763"/>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6" id="6"/>
          <p:cNvSpPr txBox="true"/>
          <p:nvPr/>
        </p:nvSpPr>
        <p:spPr>
          <a:xfrm rot="0">
            <a:off x="415019" y="0"/>
            <a:ext cx="8322063" cy="882626"/>
          </a:xfrm>
          <a:prstGeom prst="rect">
            <a:avLst/>
          </a:prstGeom>
        </p:spPr>
        <p:txBody>
          <a:bodyPr anchor="t" rtlCol="false" tIns="0" lIns="0" bIns="0" rIns="0">
            <a:spAutoFit/>
          </a:bodyPr>
          <a:lstStyle/>
          <a:p>
            <a:pPr algn="ctr">
              <a:lnSpc>
                <a:spcPts val="6954"/>
              </a:lnSpc>
              <a:spcBef>
                <a:spcPct val="0"/>
              </a:spcBef>
            </a:pPr>
            <a:r>
              <a:rPr lang="en-US" b="true" sz="5795">
                <a:solidFill>
                  <a:srgbClr val="000000"/>
                </a:solidFill>
                <a:latin typeface="Faustina Bold"/>
                <a:ea typeface="Faustina Bold"/>
                <a:cs typeface="Faustina Bold"/>
                <a:sym typeface="Faustina Bold"/>
              </a:rPr>
              <a:t>Phần 2: Thiết kế hệ thống. </a:t>
            </a:r>
          </a:p>
        </p:txBody>
      </p:sp>
      <p:sp>
        <p:nvSpPr>
          <p:cNvPr name="TextBox 7" id="7"/>
          <p:cNvSpPr txBox="true"/>
          <p:nvPr/>
        </p:nvSpPr>
        <p:spPr>
          <a:xfrm rot="0">
            <a:off x="920295" y="1038225"/>
            <a:ext cx="5105400" cy="714375"/>
          </a:xfrm>
          <a:prstGeom prst="rect">
            <a:avLst/>
          </a:prstGeom>
        </p:spPr>
        <p:txBody>
          <a:bodyPr anchor="t" rtlCol="false" tIns="0" lIns="0" bIns="0" rIns="0">
            <a:spAutoFit/>
          </a:bodyPr>
          <a:lstStyle/>
          <a:p>
            <a:pPr algn="ctr">
              <a:lnSpc>
                <a:spcPts val="5759"/>
              </a:lnSpc>
              <a:spcBef>
                <a:spcPct val="0"/>
              </a:spcBef>
            </a:pPr>
            <a:r>
              <a:rPr lang="en-US" sz="4800">
                <a:solidFill>
                  <a:srgbClr val="000000"/>
                </a:solidFill>
                <a:latin typeface="Faustina"/>
                <a:ea typeface="Faustina"/>
                <a:cs typeface="Faustina"/>
                <a:sym typeface="Faustina"/>
              </a:rPr>
              <a:t>2.1: Biểu đồ use-case</a:t>
            </a:r>
          </a:p>
        </p:txBody>
      </p:sp>
      <p:sp>
        <p:nvSpPr>
          <p:cNvPr name="Freeform 8" id="8"/>
          <p:cNvSpPr/>
          <p:nvPr/>
        </p:nvSpPr>
        <p:spPr>
          <a:xfrm flipH="false" flipV="false" rot="0">
            <a:off x="15301978" y="8573129"/>
            <a:ext cx="3914644" cy="2448432"/>
          </a:xfrm>
          <a:custGeom>
            <a:avLst/>
            <a:gdLst/>
            <a:ahLst/>
            <a:cxnLst/>
            <a:rect r="r" b="b" t="t" l="l"/>
            <a:pathLst>
              <a:path h="2448432" w="3914644">
                <a:moveTo>
                  <a:pt x="0" y="0"/>
                </a:moveTo>
                <a:lnTo>
                  <a:pt x="3914644" y="0"/>
                </a:lnTo>
                <a:lnTo>
                  <a:pt x="3914644" y="2448432"/>
                </a:lnTo>
                <a:lnTo>
                  <a:pt x="0" y="2448432"/>
                </a:lnTo>
                <a:lnTo>
                  <a:pt x="0" y="0"/>
                </a:lnTo>
                <a:close/>
              </a:path>
            </a:pathLst>
          </a:custGeom>
          <a:blipFill>
            <a:blip r:embed="rId7">
              <a:extLst>
                <a:ext uri="{96DAC541-7B7A-43D3-8B79-37D633B846F1}">
                  <asvg:svgBlip xmlns:asvg="http://schemas.microsoft.com/office/drawing/2016/SVG/main" r:embed="rId8"/>
                </a:ext>
              </a:extLst>
            </a:blip>
            <a:stretch>
              <a:fillRect l="0" t="0" r="0" b="0"/>
            </a:stretch>
          </a:blipFill>
        </p:spPr>
      </p:sp>
    </p:spTree>
  </p:cSld>
  <p:clrMapOvr>
    <a:masterClrMapping/>
  </p:clrMapOvr>
</p:sld>
</file>

<file path=ppt/slides/slide5.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2711633" y="1400712"/>
            <a:ext cx="12032533" cy="8588220"/>
          </a:xfrm>
          <a:custGeom>
            <a:avLst/>
            <a:gdLst/>
            <a:ahLst/>
            <a:cxnLst/>
            <a:rect r="r" b="b" t="t" l="l"/>
            <a:pathLst>
              <a:path h="8588220" w="12032533">
                <a:moveTo>
                  <a:pt x="0" y="0"/>
                </a:moveTo>
                <a:lnTo>
                  <a:pt x="12032533" y="0"/>
                </a:lnTo>
                <a:lnTo>
                  <a:pt x="12032533" y="8588220"/>
                </a:lnTo>
                <a:lnTo>
                  <a:pt x="0" y="8588220"/>
                </a:lnTo>
                <a:lnTo>
                  <a:pt x="0" y="0"/>
                </a:lnTo>
                <a:close/>
              </a:path>
            </a:pathLst>
          </a:custGeom>
          <a:blipFill>
            <a:blip r:embed="rId2"/>
            <a:stretch>
              <a:fillRect l="0" t="0" r="0" b="0"/>
            </a:stretch>
          </a:blipFill>
        </p:spPr>
      </p:sp>
      <p:sp>
        <p:nvSpPr>
          <p:cNvPr name="Freeform 3" id="3"/>
          <p:cNvSpPr/>
          <p:nvPr/>
        </p:nvSpPr>
        <p:spPr>
          <a:xfrm flipH="false" flipV="false" rot="0">
            <a:off x="15067424" y="3777"/>
            <a:ext cx="3220576" cy="1973335"/>
          </a:xfrm>
          <a:custGeom>
            <a:avLst/>
            <a:gdLst/>
            <a:ahLst/>
            <a:cxnLst/>
            <a:rect r="r" b="b" t="t" l="l"/>
            <a:pathLst>
              <a:path h="1973335" w="3220576">
                <a:moveTo>
                  <a:pt x="0" y="0"/>
                </a:moveTo>
                <a:lnTo>
                  <a:pt x="3220576" y="0"/>
                </a:lnTo>
                <a:lnTo>
                  <a:pt x="3220576" y="1973335"/>
                </a:lnTo>
                <a:lnTo>
                  <a:pt x="0" y="1973335"/>
                </a:lnTo>
                <a:lnTo>
                  <a:pt x="0" y="0"/>
                </a:lnTo>
                <a:close/>
              </a:path>
            </a:pathLst>
          </a:custGeom>
          <a:blipFill>
            <a:blip r:embed="rId3">
              <a:extLst>
                <a:ext uri="{96DAC541-7B7A-43D3-8B79-37D633B846F1}">
                  <asvg:svgBlip xmlns:asvg="http://schemas.microsoft.com/office/drawing/2016/SVG/main" r:embed="rId4"/>
                </a:ext>
              </a:extLst>
            </a:blip>
            <a:stretch>
              <a:fillRect l="0" t="0" r="0" b="0"/>
            </a:stretch>
          </a:blipFill>
        </p:spPr>
      </p:sp>
      <p:sp>
        <p:nvSpPr>
          <p:cNvPr name="TextBox 4" id="4"/>
          <p:cNvSpPr txBox="true"/>
          <p:nvPr/>
        </p:nvSpPr>
        <p:spPr>
          <a:xfrm rot="0">
            <a:off x="488736" y="352425"/>
            <a:ext cx="5680323" cy="714375"/>
          </a:xfrm>
          <a:prstGeom prst="rect">
            <a:avLst/>
          </a:prstGeom>
        </p:spPr>
        <p:txBody>
          <a:bodyPr anchor="t" rtlCol="false" tIns="0" lIns="0" bIns="0" rIns="0">
            <a:spAutoFit/>
          </a:bodyPr>
          <a:lstStyle/>
          <a:p>
            <a:pPr algn="ctr">
              <a:lnSpc>
                <a:spcPts val="5760"/>
              </a:lnSpc>
              <a:spcBef>
                <a:spcPct val="0"/>
              </a:spcBef>
            </a:pPr>
            <a:r>
              <a:rPr lang="en-US" sz="4800">
                <a:solidFill>
                  <a:srgbClr val="000000"/>
                </a:solidFill>
                <a:latin typeface="Faustina"/>
                <a:ea typeface="Faustina"/>
                <a:cs typeface="Faustina"/>
                <a:sym typeface="Faustina"/>
              </a:rPr>
              <a:t>2.2: Biểu đồ Data-base.</a:t>
            </a:r>
          </a:p>
        </p:txBody>
      </p:sp>
    </p:spTree>
  </p:cSld>
  <p:clrMapOvr>
    <a:masterClrMapping/>
  </p:clrMapOvr>
</p:sld>
</file>

<file path=ppt/slides/slide6.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1028700" y="4823195"/>
            <a:ext cx="6948445" cy="4143172"/>
          </a:xfrm>
          <a:custGeom>
            <a:avLst/>
            <a:gdLst/>
            <a:ahLst/>
            <a:cxnLst/>
            <a:rect r="r" b="b" t="t" l="l"/>
            <a:pathLst>
              <a:path h="4143172" w="6948445">
                <a:moveTo>
                  <a:pt x="0" y="0"/>
                </a:moveTo>
                <a:lnTo>
                  <a:pt x="6948445" y="0"/>
                </a:lnTo>
                <a:lnTo>
                  <a:pt x="6948445" y="4143172"/>
                </a:lnTo>
                <a:lnTo>
                  <a:pt x="0" y="4143172"/>
                </a:lnTo>
                <a:lnTo>
                  <a:pt x="0" y="0"/>
                </a:lnTo>
                <a:close/>
              </a:path>
            </a:pathLst>
          </a:custGeom>
          <a:blipFill>
            <a:blip r:embed="rId2"/>
            <a:stretch>
              <a:fillRect l="0" t="0" r="0" b="0"/>
            </a:stretch>
          </a:blipFill>
        </p:spPr>
      </p:sp>
      <p:sp>
        <p:nvSpPr>
          <p:cNvPr name="Freeform 3" id="3"/>
          <p:cNvSpPr/>
          <p:nvPr/>
        </p:nvSpPr>
        <p:spPr>
          <a:xfrm flipH="false" flipV="false" rot="0">
            <a:off x="9342654" y="4823195"/>
            <a:ext cx="6898276" cy="4143172"/>
          </a:xfrm>
          <a:custGeom>
            <a:avLst/>
            <a:gdLst/>
            <a:ahLst/>
            <a:cxnLst/>
            <a:rect r="r" b="b" t="t" l="l"/>
            <a:pathLst>
              <a:path h="4143172" w="6898276">
                <a:moveTo>
                  <a:pt x="0" y="0"/>
                </a:moveTo>
                <a:lnTo>
                  <a:pt x="6898276" y="0"/>
                </a:lnTo>
                <a:lnTo>
                  <a:pt x="6898276" y="4143172"/>
                </a:lnTo>
                <a:lnTo>
                  <a:pt x="0" y="4143172"/>
                </a:lnTo>
                <a:lnTo>
                  <a:pt x="0" y="0"/>
                </a:lnTo>
                <a:close/>
              </a:path>
            </a:pathLst>
          </a:custGeom>
          <a:blipFill>
            <a:blip r:embed="rId3"/>
            <a:stretch>
              <a:fillRect l="0" t="0" r="0" b="0"/>
            </a:stretch>
          </a:blipFill>
        </p:spPr>
      </p:sp>
      <p:grpSp>
        <p:nvGrpSpPr>
          <p:cNvPr name="Group 4" id="4"/>
          <p:cNvGrpSpPr/>
          <p:nvPr/>
        </p:nvGrpSpPr>
        <p:grpSpPr>
          <a:xfrm rot="0">
            <a:off x="8155725" y="6516429"/>
            <a:ext cx="988275" cy="988275"/>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5645E"/>
            </a:solidFill>
          </p:spPr>
        </p:sp>
        <p:sp>
          <p:nvSpPr>
            <p:cNvPr name="TextBox 6" id="6"/>
            <p:cNvSpPr txBox="true"/>
            <p:nvPr/>
          </p:nvSpPr>
          <p:spPr>
            <a:xfrm>
              <a:off x="0" y="165100"/>
              <a:ext cx="711200" cy="444500"/>
            </a:xfrm>
            <a:prstGeom prst="rect">
              <a:avLst/>
            </a:prstGeom>
          </p:spPr>
          <p:txBody>
            <a:bodyPr anchor="ctr" rtlCol="false" tIns="50800" lIns="50800" bIns="50800" rIns="50800"/>
            <a:lstStyle/>
            <a:p>
              <a:pPr algn="ctr">
                <a:lnSpc>
                  <a:spcPts val="2659"/>
                </a:lnSpc>
                <a:spcBef>
                  <a:spcPct val="0"/>
                </a:spcBef>
              </a:pPr>
            </a:p>
          </p:txBody>
        </p:sp>
      </p:grpSp>
      <p:sp>
        <p:nvSpPr>
          <p:cNvPr name="Freeform 7" id="7"/>
          <p:cNvSpPr/>
          <p:nvPr/>
        </p:nvSpPr>
        <p:spPr>
          <a:xfrm flipH="false" flipV="false" rot="0">
            <a:off x="16240930" y="146255"/>
            <a:ext cx="1807133" cy="2831690"/>
          </a:xfrm>
          <a:custGeom>
            <a:avLst/>
            <a:gdLst/>
            <a:ahLst/>
            <a:cxnLst/>
            <a:rect r="r" b="b" t="t" l="l"/>
            <a:pathLst>
              <a:path h="2831690" w="1807133">
                <a:moveTo>
                  <a:pt x="0" y="0"/>
                </a:moveTo>
                <a:lnTo>
                  <a:pt x="1807133" y="0"/>
                </a:lnTo>
                <a:lnTo>
                  <a:pt x="1807133" y="2831690"/>
                </a:lnTo>
                <a:lnTo>
                  <a:pt x="0" y="2831690"/>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TextBox 8" id="8"/>
          <p:cNvSpPr txBox="true"/>
          <p:nvPr/>
        </p:nvSpPr>
        <p:spPr>
          <a:xfrm rot="0">
            <a:off x="194707" y="0"/>
            <a:ext cx="9764919" cy="876300"/>
          </a:xfrm>
          <a:prstGeom prst="rect">
            <a:avLst/>
          </a:prstGeom>
        </p:spPr>
        <p:txBody>
          <a:bodyPr anchor="t" rtlCol="false" tIns="0" lIns="0" bIns="0" rIns="0">
            <a:spAutoFit/>
          </a:bodyPr>
          <a:lstStyle/>
          <a:p>
            <a:pPr algn="ctr">
              <a:lnSpc>
                <a:spcPts val="6959"/>
              </a:lnSpc>
              <a:spcBef>
                <a:spcPct val="0"/>
              </a:spcBef>
            </a:pPr>
            <a:r>
              <a:rPr lang="en-US" b="true" sz="5799">
                <a:solidFill>
                  <a:srgbClr val="000000"/>
                </a:solidFill>
                <a:latin typeface="Faustina Bold"/>
                <a:ea typeface="Faustina Bold"/>
                <a:cs typeface="Faustina Bold"/>
                <a:sym typeface="Faustina Bold"/>
              </a:rPr>
              <a:t>Phần 3: Thiết kế chương trình.</a:t>
            </a:r>
          </a:p>
        </p:txBody>
      </p:sp>
      <p:sp>
        <p:nvSpPr>
          <p:cNvPr name="TextBox 9" id="9"/>
          <p:cNvSpPr txBox="true"/>
          <p:nvPr/>
        </p:nvSpPr>
        <p:spPr>
          <a:xfrm rot="0">
            <a:off x="817767" y="1019175"/>
            <a:ext cx="8783984" cy="542925"/>
          </a:xfrm>
          <a:prstGeom prst="rect">
            <a:avLst/>
          </a:prstGeom>
        </p:spPr>
        <p:txBody>
          <a:bodyPr anchor="t" rtlCol="false" tIns="0" lIns="0" bIns="0" rIns="0">
            <a:spAutoFit/>
          </a:bodyPr>
          <a:lstStyle/>
          <a:p>
            <a:pPr algn="ctr">
              <a:lnSpc>
                <a:spcPts val="4200"/>
              </a:lnSpc>
              <a:spcBef>
                <a:spcPct val="0"/>
              </a:spcBef>
            </a:pPr>
            <a:r>
              <a:rPr lang="en-US" sz="3500">
                <a:solidFill>
                  <a:srgbClr val="000000"/>
                </a:solidFill>
                <a:latin typeface="Faustina"/>
                <a:ea typeface="Faustina"/>
                <a:cs typeface="Faustina"/>
                <a:sym typeface="Faustina"/>
              </a:rPr>
              <a:t>3.1: Tài khoản dùng để đăng nhập vào hệ thống. </a:t>
            </a:r>
          </a:p>
        </p:txBody>
      </p:sp>
      <p:sp>
        <p:nvSpPr>
          <p:cNvPr name="TextBox 10" id="10"/>
          <p:cNvSpPr txBox="true"/>
          <p:nvPr/>
        </p:nvSpPr>
        <p:spPr>
          <a:xfrm rot="0">
            <a:off x="1430210" y="1994270"/>
            <a:ext cx="9246559" cy="1247775"/>
          </a:xfrm>
          <a:prstGeom prst="rect">
            <a:avLst/>
          </a:prstGeom>
        </p:spPr>
        <p:txBody>
          <a:bodyPr anchor="t" rtlCol="false" tIns="0" lIns="0" bIns="0" rIns="0">
            <a:spAutoFit/>
          </a:bodyPr>
          <a:lstStyle/>
          <a:p>
            <a:pPr algn="l">
              <a:lnSpc>
                <a:spcPts val="3359"/>
              </a:lnSpc>
              <a:spcBef>
                <a:spcPct val="0"/>
              </a:spcBef>
            </a:pPr>
            <a:r>
              <a:rPr lang="en-US" sz="2799">
                <a:solidFill>
                  <a:srgbClr val="000000"/>
                </a:solidFill>
                <a:latin typeface="Faustina"/>
                <a:ea typeface="Faustina"/>
                <a:cs typeface="Faustina"/>
                <a:sym typeface="Faustina"/>
              </a:rPr>
              <a:t>Chủ cửa hàng :   Username: admin             Password: 123</a:t>
            </a:r>
          </a:p>
          <a:p>
            <a:pPr algn="l">
              <a:lnSpc>
                <a:spcPts val="3359"/>
              </a:lnSpc>
              <a:spcBef>
                <a:spcPct val="0"/>
              </a:spcBef>
            </a:pPr>
            <a:r>
              <a:rPr lang="en-US" sz="2799">
                <a:solidFill>
                  <a:srgbClr val="000000"/>
                </a:solidFill>
                <a:latin typeface="Faustina"/>
                <a:ea typeface="Faustina"/>
                <a:cs typeface="Faustina"/>
                <a:sym typeface="Faustina"/>
              </a:rPr>
              <a:t>Nhân viên :          Username: nv01                 Password:112233</a:t>
            </a:r>
          </a:p>
          <a:p>
            <a:pPr algn="l">
              <a:lnSpc>
                <a:spcPts val="3359"/>
              </a:lnSpc>
              <a:spcBef>
                <a:spcPct val="0"/>
              </a:spcBef>
            </a:pPr>
            <a:r>
              <a:rPr lang="en-US" sz="2799">
                <a:solidFill>
                  <a:srgbClr val="000000"/>
                </a:solidFill>
                <a:latin typeface="Faustina"/>
                <a:ea typeface="Faustina"/>
                <a:cs typeface="Faustina"/>
                <a:sym typeface="Faustina"/>
              </a:rPr>
              <a:t>Người dùng:        Username: nguyenlong   Password : long2004</a:t>
            </a:r>
          </a:p>
        </p:txBody>
      </p:sp>
      <p:sp>
        <p:nvSpPr>
          <p:cNvPr name="TextBox 11" id="11"/>
          <p:cNvSpPr txBox="true"/>
          <p:nvPr/>
        </p:nvSpPr>
        <p:spPr>
          <a:xfrm rot="0">
            <a:off x="817767" y="3518270"/>
            <a:ext cx="12160300" cy="542925"/>
          </a:xfrm>
          <a:prstGeom prst="rect">
            <a:avLst/>
          </a:prstGeom>
        </p:spPr>
        <p:txBody>
          <a:bodyPr anchor="t" rtlCol="false" tIns="0" lIns="0" bIns="0" rIns="0">
            <a:spAutoFit/>
          </a:bodyPr>
          <a:lstStyle/>
          <a:p>
            <a:pPr algn="ctr">
              <a:lnSpc>
                <a:spcPts val="4200"/>
              </a:lnSpc>
              <a:spcBef>
                <a:spcPct val="0"/>
              </a:spcBef>
            </a:pPr>
            <a:r>
              <a:rPr lang="en-US" sz="3500">
                <a:solidFill>
                  <a:srgbClr val="000000"/>
                </a:solidFill>
                <a:latin typeface="Faustina"/>
                <a:ea typeface="Faustina"/>
                <a:cs typeface="Faustina"/>
                <a:sym typeface="Faustina"/>
              </a:rPr>
              <a:t>3.2: Các chức năng ( khi người dùng chưa đăng nhập vào hệ thống )</a:t>
            </a:r>
          </a:p>
        </p:txBody>
      </p:sp>
      <p:sp>
        <p:nvSpPr>
          <p:cNvPr name="TextBox 12" id="12"/>
          <p:cNvSpPr txBox="true"/>
          <p:nvPr/>
        </p:nvSpPr>
        <p:spPr>
          <a:xfrm rot="0">
            <a:off x="1028700" y="4213595"/>
            <a:ext cx="4276427"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3.2.1: Chức năng đăng nhập</a:t>
            </a:r>
          </a:p>
        </p:txBody>
      </p:sp>
      <p:sp>
        <p:nvSpPr>
          <p:cNvPr name="TextBox 13" id="13"/>
          <p:cNvSpPr txBox="true"/>
          <p:nvPr/>
        </p:nvSpPr>
        <p:spPr>
          <a:xfrm rot="0">
            <a:off x="1028700" y="9267825"/>
            <a:ext cx="6208663"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Đăng nhập: Hiển thị màn hình đăng nhập</a:t>
            </a:r>
          </a:p>
        </p:txBody>
      </p:sp>
      <p:sp>
        <p:nvSpPr>
          <p:cNvPr name="TextBox 14" id="14"/>
          <p:cNvSpPr txBox="true"/>
          <p:nvPr/>
        </p:nvSpPr>
        <p:spPr>
          <a:xfrm rot="0">
            <a:off x="9342654" y="9267825"/>
            <a:ext cx="636255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Trường hợp bỏ trống tài khoản và mật khẩu</a:t>
            </a:r>
          </a:p>
        </p:txBody>
      </p:sp>
    </p:spTree>
  </p:cSld>
  <p:clrMapOvr>
    <a:masterClrMapping/>
  </p:clrMapOvr>
</p:sld>
</file>

<file path=ppt/slides/slide7.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656615" y="451908"/>
            <a:ext cx="6918552" cy="4165785"/>
          </a:xfrm>
          <a:custGeom>
            <a:avLst/>
            <a:gdLst/>
            <a:ahLst/>
            <a:cxnLst/>
            <a:rect r="r" b="b" t="t" l="l"/>
            <a:pathLst>
              <a:path h="4165785" w="6918552">
                <a:moveTo>
                  <a:pt x="0" y="0"/>
                </a:moveTo>
                <a:lnTo>
                  <a:pt x="6918552" y="0"/>
                </a:lnTo>
                <a:lnTo>
                  <a:pt x="6918552" y="4165785"/>
                </a:lnTo>
                <a:lnTo>
                  <a:pt x="0" y="4165785"/>
                </a:lnTo>
                <a:lnTo>
                  <a:pt x="0" y="0"/>
                </a:lnTo>
                <a:close/>
              </a:path>
            </a:pathLst>
          </a:custGeom>
          <a:blipFill>
            <a:blip r:embed="rId2"/>
            <a:stretch>
              <a:fillRect l="0" t="0" r="0" b="0"/>
            </a:stretch>
          </a:blipFill>
        </p:spPr>
      </p:sp>
      <p:sp>
        <p:nvSpPr>
          <p:cNvPr name="Freeform 3" id="3"/>
          <p:cNvSpPr/>
          <p:nvPr/>
        </p:nvSpPr>
        <p:spPr>
          <a:xfrm flipH="false" flipV="false" rot="0">
            <a:off x="9354933" y="451908"/>
            <a:ext cx="6969113" cy="4165785"/>
          </a:xfrm>
          <a:custGeom>
            <a:avLst/>
            <a:gdLst/>
            <a:ahLst/>
            <a:cxnLst/>
            <a:rect r="r" b="b" t="t" l="l"/>
            <a:pathLst>
              <a:path h="4165785" w="6969113">
                <a:moveTo>
                  <a:pt x="0" y="0"/>
                </a:moveTo>
                <a:lnTo>
                  <a:pt x="6969112" y="0"/>
                </a:lnTo>
                <a:lnTo>
                  <a:pt x="6969112" y="4165785"/>
                </a:lnTo>
                <a:lnTo>
                  <a:pt x="0" y="4165785"/>
                </a:lnTo>
                <a:lnTo>
                  <a:pt x="0" y="0"/>
                </a:lnTo>
                <a:close/>
              </a:path>
            </a:pathLst>
          </a:custGeom>
          <a:blipFill>
            <a:blip r:embed="rId3"/>
            <a:stretch>
              <a:fillRect l="0" t="0" r="0" b="0"/>
            </a:stretch>
          </a:blipFill>
        </p:spPr>
      </p:sp>
      <p:sp>
        <p:nvSpPr>
          <p:cNvPr name="Freeform 4" id="4"/>
          <p:cNvSpPr/>
          <p:nvPr/>
        </p:nvSpPr>
        <p:spPr>
          <a:xfrm flipH="false" flipV="false" rot="0">
            <a:off x="9354933" y="5547534"/>
            <a:ext cx="6325069" cy="4166639"/>
          </a:xfrm>
          <a:custGeom>
            <a:avLst/>
            <a:gdLst/>
            <a:ahLst/>
            <a:cxnLst/>
            <a:rect r="r" b="b" t="t" l="l"/>
            <a:pathLst>
              <a:path h="4166639" w="6325069">
                <a:moveTo>
                  <a:pt x="0" y="0"/>
                </a:moveTo>
                <a:lnTo>
                  <a:pt x="6325069" y="0"/>
                </a:lnTo>
                <a:lnTo>
                  <a:pt x="6325069" y="4166639"/>
                </a:lnTo>
                <a:lnTo>
                  <a:pt x="0" y="4166639"/>
                </a:lnTo>
                <a:lnTo>
                  <a:pt x="0" y="0"/>
                </a:lnTo>
                <a:close/>
              </a:path>
            </a:pathLst>
          </a:custGeom>
          <a:blipFill>
            <a:blip r:embed="rId4"/>
            <a:stretch>
              <a:fillRect l="0" t="0" r="0" b="0"/>
            </a:stretch>
          </a:blipFill>
        </p:spPr>
      </p:sp>
      <p:grpSp>
        <p:nvGrpSpPr>
          <p:cNvPr name="Group 5" id="5"/>
          <p:cNvGrpSpPr/>
          <p:nvPr/>
        </p:nvGrpSpPr>
        <p:grpSpPr>
          <a:xfrm rot="0">
            <a:off x="8155725" y="6516429"/>
            <a:ext cx="988275" cy="988275"/>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5645E"/>
            </a:solidFill>
          </p:spPr>
        </p:sp>
        <p:sp>
          <p:nvSpPr>
            <p:cNvPr name="TextBox 7" id="7"/>
            <p:cNvSpPr txBox="true"/>
            <p:nvPr/>
          </p:nvSpPr>
          <p:spPr>
            <a:xfrm>
              <a:off x="0" y="165100"/>
              <a:ext cx="711200" cy="444500"/>
            </a:xfrm>
            <a:prstGeom prst="rect">
              <a:avLst/>
            </a:prstGeom>
          </p:spPr>
          <p:txBody>
            <a:bodyPr anchor="ctr" rtlCol="false" tIns="50800" lIns="50800" bIns="50800" rIns="50800"/>
            <a:lstStyle/>
            <a:p>
              <a:pPr algn="ctr">
                <a:lnSpc>
                  <a:spcPts val="2659"/>
                </a:lnSpc>
                <a:spcBef>
                  <a:spcPct val="0"/>
                </a:spcBef>
              </a:pPr>
            </a:p>
          </p:txBody>
        </p:sp>
      </p:grpSp>
      <p:grpSp>
        <p:nvGrpSpPr>
          <p:cNvPr name="Group 8" id="8"/>
          <p:cNvGrpSpPr/>
          <p:nvPr/>
        </p:nvGrpSpPr>
        <p:grpSpPr>
          <a:xfrm rot="0">
            <a:off x="7970912" y="2326425"/>
            <a:ext cx="988275" cy="988275"/>
            <a:chOff x="0" y="0"/>
            <a:chExt cx="812800" cy="812800"/>
          </a:xfrm>
        </p:grpSpPr>
        <p:sp>
          <p:nvSpPr>
            <p:cNvPr name="Freeform 9" id="9"/>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5645E"/>
            </a:solidFill>
          </p:spPr>
        </p:sp>
        <p:sp>
          <p:nvSpPr>
            <p:cNvPr name="TextBox 10" id="10"/>
            <p:cNvSpPr txBox="true"/>
            <p:nvPr/>
          </p:nvSpPr>
          <p:spPr>
            <a:xfrm>
              <a:off x="0" y="165100"/>
              <a:ext cx="711200" cy="444500"/>
            </a:xfrm>
            <a:prstGeom prst="rect">
              <a:avLst/>
            </a:prstGeom>
          </p:spPr>
          <p:txBody>
            <a:bodyPr anchor="ctr" rtlCol="false" tIns="50800" lIns="50800" bIns="50800" rIns="50800"/>
            <a:lstStyle/>
            <a:p>
              <a:pPr algn="ctr">
                <a:lnSpc>
                  <a:spcPts val="2659"/>
                </a:lnSpc>
                <a:spcBef>
                  <a:spcPct val="0"/>
                </a:spcBef>
              </a:pPr>
            </a:p>
          </p:txBody>
        </p:sp>
      </p:grpSp>
      <p:sp>
        <p:nvSpPr>
          <p:cNvPr name="Freeform 11" id="11"/>
          <p:cNvSpPr/>
          <p:nvPr/>
        </p:nvSpPr>
        <p:spPr>
          <a:xfrm flipH="false" flipV="false" rot="0">
            <a:off x="-258241" y="8391686"/>
            <a:ext cx="2573883" cy="1895314"/>
          </a:xfrm>
          <a:custGeom>
            <a:avLst/>
            <a:gdLst/>
            <a:ahLst/>
            <a:cxnLst/>
            <a:rect r="r" b="b" t="t" l="l"/>
            <a:pathLst>
              <a:path h="1895314" w="2573883">
                <a:moveTo>
                  <a:pt x="0" y="0"/>
                </a:moveTo>
                <a:lnTo>
                  <a:pt x="2573882" y="0"/>
                </a:lnTo>
                <a:lnTo>
                  <a:pt x="2573882" y="1895314"/>
                </a:lnTo>
                <a:lnTo>
                  <a:pt x="0" y="1895314"/>
                </a:lnTo>
                <a:lnTo>
                  <a:pt x="0" y="0"/>
                </a:lnTo>
                <a:close/>
              </a:path>
            </a:pathLst>
          </a:custGeom>
          <a:blipFill>
            <a:blip r:embed="rId5">
              <a:extLst>
                <a:ext uri="{96DAC541-7B7A-43D3-8B79-37D633B846F1}">
                  <asvg:svgBlip xmlns:asvg="http://schemas.microsoft.com/office/drawing/2016/SVG/main" r:embed="rId6"/>
                </a:ext>
              </a:extLst>
            </a:blip>
            <a:stretch>
              <a:fillRect l="0" t="0" r="0" b="0"/>
            </a:stretch>
          </a:blipFill>
        </p:spPr>
      </p:sp>
      <p:sp>
        <p:nvSpPr>
          <p:cNvPr name="TextBox 12" id="12"/>
          <p:cNvSpPr txBox="true"/>
          <p:nvPr/>
        </p:nvSpPr>
        <p:spPr>
          <a:xfrm rot="0">
            <a:off x="622682" y="4705350"/>
            <a:ext cx="646821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Trường hợp nhập tài khoản và mật khẩu sai.</a:t>
            </a:r>
          </a:p>
        </p:txBody>
      </p:sp>
      <p:sp>
        <p:nvSpPr>
          <p:cNvPr name="TextBox 13" id="13"/>
          <p:cNvSpPr txBox="true"/>
          <p:nvPr/>
        </p:nvSpPr>
        <p:spPr>
          <a:xfrm rot="0">
            <a:off x="8834232" y="4724400"/>
            <a:ext cx="8981777"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Khi người dùng đăng nhập thành công màn hình sẽ hiển thị. </a:t>
            </a:r>
          </a:p>
        </p:txBody>
      </p:sp>
      <p:sp>
        <p:nvSpPr>
          <p:cNvPr name="TextBox 14" id="14"/>
          <p:cNvSpPr txBox="true"/>
          <p:nvPr/>
        </p:nvSpPr>
        <p:spPr>
          <a:xfrm rot="0">
            <a:off x="265410" y="5191125"/>
            <a:ext cx="3850481"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3.2.2: Chức năng đăng ký</a:t>
            </a:r>
          </a:p>
        </p:txBody>
      </p:sp>
      <p:sp>
        <p:nvSpPr>
          <p:cNvPr name="TextBox 15" id="15"/>
          <p:cNvSpPr txBox="true"/>
          <p:nvPr/>
        </p:nvSpPr>
        <p:spPr>
          <a:xfrm rot="0">
            <a:off x="265410" y="6546819"/>
            <a:ext cx="7805532" cy="12477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Khi người dùng ấn nút “ Đăng Ký ” ở trang đăng nhập sẽ chuyển tới giao diện đăng ký tài khoản dành cho người dùng.</a:t>
            </a:r>
          </a:p>
        </p:txBody>
      </p:sp>
      <p:sp>
        <p:nvSpPr>
          <p:cNvPr name="TextBox 16" id="16"/>
          <p:cNvSpPr txBox="true"/>
          <p:nvPr/>
        </p:nvSpPr>
        <p:spPr>
          <a:xfrm rot="0">
            <a:off x="10387023" y="9818948"/>
            <a:ext cx="399276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Hiển thị màn hình đăng ký</a:t>
            </a:r>
          </a:p>
        </p:txBody>
      </p:sp>
    </p:spTree>
  </p:cSld>
  <p:clrMapOvr>
    <a:masterClrMapping/>
  </p:clrMapOvr>
</p:sld>
</file>

<file path=ppt/slides/slide8.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9419532" y="341961"/>
            <a:ext cx="7025269" cy="4490185"/>
          </a:xfrm>
          <a:custGeom>
            <a:avLst/>
            <a:gdLst/>
            <a:ahLst/>
            <a:cxnLst/>
            <a:rect r="r" b="b" t="t" l="l"/>
            <a:pathLst>
              <a:path h="4490185" w="7025269">
                <a:moveTo>
                  <a:pt x="0" y="0"/>
                </a:moveTo>
                <a:lnTo>
                  <a:pt x="7025269" y="0"/>
                </a:lnTo>
                <a:lnTo>
                  <a:pt x="7025269" y="4490185"/>
                </a:lnTo>
                <a:lnTo>
                  <a:pt x="0" y="4490185"/>
                </a:lnTo>
                <a:lnTo>
                  <a:pt x="0" y="0"/>
                </a:lnTo>
                <a:close/>
              </a:path>
            </a:pathLst>
          </a:custGeom>
          <a:blipFill>
            <a:blip r:embed="rId2"/>
            <a:stretch>
              <a:fillRect l="0" t="0" r="0" b="0"/>
            </a:stretch>
          </a:blipFill>
        </p:spPr>
      </p:sp>
      <p:sp>
        <p:nvSpPr>
          <p:cNvPr name="Freeform 3" id="3"/>
          <p:cNvSpPr/>
          <p:nvPr/>
        </p:nvSpPr>
        <p:spPr>
          <a:xfrm flipH="false" flipV="false" rot="0">
            <a:off x="1028700" y="341961"/>
            <a:ext cx="7064427" cy="4490185"/>
          </a:xfrm>
          <a:custGeom>
            <a:avLst/>
            <a:gdLst/>
            <a:ahLst/>
            <a:cxnLst/>
            <a:rect r="r" b="b" t="t" l="l"/>
            <a:pathLst>
              <a:path h="4490185" w="7064427">
                <a:moveTo>
                  <a:pt x="0" y="0"/>
                </a:moveTo>
                <a:lnTo>
                  <a:pt x="7064427" y="0"/>
                </a:lnTo>
                <a:lnTo>
                  <a:pt x="7064427" y="4490185"/>
                </a:lnTo>
                <a:lnTo>
                  <a:pt x="0" y="4490185"/>
                </a:lnTo>
                <a:lnTo>
                  <a:pt x="0" y="0"/>
                </a:lnTo>
                <a:close/>
              </a:path>
            </a:pathLst>
          </a:custGeom>
          <a:blipFill>
            <a:blip r:embed="rId3"/>
            <a:stretch>
              <a:fillRect l="0" t="0" r="0" b="0"/>
            </a:stretch>
          </a:blipFill>
        </p:spPr>
      </p:sp>
      <p:sp>
        <p:nvSpPr>
          <p:cNvPr name="Freeform 4" id="4"/>
          <p:cNvSpPr/>
          <p:nvPr/>
        </p:nvSpPr>
        <p:spPr>
          <a:xfrm flipH="false" flipV="false" rot="0">
            <a:off x="8756329" y="5877282"/>
            <a:ext cx="6299759" cy="4129467"/>
          </a:xfrm>
          <a:custGeom>
            <a:avLst/>
            <a:gdLst/>
            <a:ahLst/>
            <a:cxnLst/>
            <a:rect r="r" b="b" t="t" l="l"/>
            <a:pathLst>
              <a:path h="4129467" w="6299759">
                <a:moveTo>
                  <a:pt x="0" y="0"/>
                </a:moveTo>
                <a:lnTo>
                  <a:pt x="6299759" y="0"/>
                </a:lnTo>
                <a:lnTo>
                  <a:pt x="6299759" y="4129466"/>
                </a:lnTo>
                <a:lnTo>
                  <a:pt x="0" y="4129466"/>
                </a:lnTo>
                <a:lnTo>
                  <a:pt x="0" y="0"/>
                </a:lnTo>
                <a:close/>
              </a:path>
            </a:pathLst>
          </a:custGeom>
          <a:blipFill>
            <a:blip r:embed="rId4"/>
            <a:stretch>
              <a:fillRect l="0" t="0" r="0" b="0"/>
            </a:stretch>
          </a:blipFill>
        </p:spPr>
      </p:sp>
      <p:grpSp>
        <p:nvGrpSpPr>
          <p:cNvPr name="Group 5" id="5"/>
          <p:cNvGrpSpPr/>
          <p:nvPr/>
        </p:nvGrpSpPr>
        <p:grpSpPr>
          <a:xfrm rot="0">
            <a:off x="7026182" y="7074352"/>
            <a:ext cx="1398640" cy="1398640"/>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CB892"/>
            </a:solidFill>
          </p:spPr>
        </p:sp>
        <p:sp>
          <p:nvSpPr>
            <p:cNvPr name="TextBox 7" id="7"/>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9419532" y="4943118"/>
            <a:ext cx="7025269" cy="829388"/>
          </a:xfrm>
          <a:prstGeom prst="rect">
            <a:avLst/>
          </a:prstGeom>
        </p:spPr>
        <p:txBody>
          <a:bodyPr anchor="t" rtlCol="false" tIns="0" lIns="0" bIns="0" rIns="0">
            <a:spAutoFit/>
          </a:bodyPr>
          <a:lstStyle/>
          <a:p>
            <a:pPr algn="ctr">
              <a:lnSpc>
                <a:spcPts val="3362"/>
              </a:lnSpc>
              <a:spcBef>
                <a:spcPct val="0"/>
              </a:spcBef>
            </a:pPr>
            <a:r>
              <a:rPr lang="en-US" sz="2802">
                <a:solidFill>
                  <a:srgbClr val="000000"/>
                </a:solidFill>
                <a:latin typeface="Faustina"/>
                <a:ea typeface="Faustina"/>
                <a:cs typeface="Faustina"/>
                <a:sym typeface="Faustina"/>
              </a:rPr>
              <a:t>Khi người dùng nhập thông tin tài khoản và mật khẩu không đúng định dạng.</a:t>
            </a:r>
          </a:p>
        </p:txBody>
      </p:sp>
      <p:sp>
        <p:nvSpPr>
          <p:cNvPr name="TextBox 9" id="9"/>
          <p:cNvSpPr txBox="true"/>
          <p:nvPr/>
        </p:nvSpPr>
        <p:spPr>
          <a:xfrm rot="0">
            <a:off x="886602" y="4943832"/>
            <a:ext cx="7064427"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Khi người dùng không nhập đầy đủ thông tin tài khoản màn hình sẽ hiển thị lên thông báo.</a:t>
            </a:r>
          </a:p>
        </p:txBody>
      </p:sp>
      <p:sp>
        <p:nvSpPr>
          <p:cNvPr name="TextBox 10" id="10"/>
          <p:cNvSpPr txBox="true"/>
          <p:nvPr/>
        </p:nvSpPr>
        <p:spPr>
          <a:xfrm rot="0">
            <a:off x="623061" y="6753225"/>
            <a:ext cx="6071614" cy="25050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Khi người dùng nhập đầy đủ các thông tin sau đó thao tác ấn nút “ Đăng Ký” màn hình hiển thị đăng ký thành công. Nếu tài khoản đã tồn tại trên hệ thống thì màn hình sẽ hiển thị “ Tài khoản đã tồn tại”.</a:t>
            </a:r>
          </a:p>
        </p:txBody>
      </p:sp>
      <p:grpSp>
        <p:nvGrpSpPr>
          <p:cNvPr name="Group 11" id="11"/>
          <p:cNvGrpSpPr/>
          <p:nvPr/>
        </p:nvGrpSpPr>
        <p:grpSpPr>
          <a:xfrm rot="0">
            <a:off x="8296337" y="2423981"/>
            <a:ext cx="919985" cy="919985"/>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CB892"/>
            </a:solidFill>
          </p:spPr>
        </p:sp>
        <p:sp>
          <p:nvSpPr>
            <p:cNvPr name="TextBox 13" id="13"/>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9.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873701" y="1646952"/>
            <a:ext cx="6787909" cy="4297255"/>
          </a:xfrm>
          <a:custGeom>
            <a:avLst/>
            <a:gdLst/>
            <a:ahLst/>
            <a:cxnLst/>
            <a:rect r="r" b="b" t="t" l="l"/>
            <a:pathLst>
              <a:path h="4297255" w="6787909">
                <a:moveTo>
                  <a:pt x="0" y="0"/>
                </a:moveTo>
                <a:lnTo>
                  <a:pt x="6787909" y="0"/>
                </a:lnTo>
                <a:lnTo>
                  <a:pt x="6787909" y="4297255"/>
                </a:lnTo>
                <a:lnTo>
                  <a:pt x="0" y="4297255"/>
                </a:lnTo>
                <a:lnTo>
                  <a:pt x="0" y="0"/>
                </a:lnTo>
                <a:close/>
              </a:path>
            </a:pathLst>
          </a:custGeom>
          <a:blipFill>
            <a:blip r:embed="rId2"/>
            <a:stretch>
              <a:fillRect l="0" t="0" r="0" b="0"/>
            </a:stretch>
          </a:blipFill>
        </p:spPr>
      </p:sp>
      <p:sp>
        <p:nvSpPr>
          <p:cNvPr name="Freeform 3" id="3"/>
          <p:cNvSpPr/>
          <p:nvPr/>
        </p:nvSpPr>
        <p:spPr>
          <a:xfrm flipH="false" flipV="false" rot="0">
            <a:off x="8595453" y="5560839"/>
            <a:ext cx="7884557" cy="4619619"/>
          </a:xfrm>
          <a:custGeom>
            <a:avLst/>
            <a:gdLst/>
            <a:ahLst/>
            <a:cxnLst/>
            <a:rect r="r" b="b" t="t" l="l"/>
            <a:pathLst>
              <a:path h="4619619" w="7884557">
                <a:moveTo>
                  <a:pt x="0" y="0"/>
                </a:moveTo>
                <a:lnTo>
                  <a:pt x="7884557" y="0"/>
                </a:lnTo>
                <a:lnTo>
                  <a:pt x="7884557" y="4619618"/>
                </a:lnTo>
                <a:lnTo>
                  <a:pt x="0" y="4619618"/>
                </a:lnTo>
                <a:lnTo>
                  <a:pt x="0" y="0"/>
                </a:lnTo>
                <a:close/>
              </a:path>
            </a:pathLst>
          </a:custGeom>
          <a:blipFill>
            <a:blip r:embed="rId3"/>
            <a:stretch>
              <a:fillRect l="0" t="-4394" r="0" b="-4394"/>
            </a:stretch>
          </a:blipFill>
        </p:spPr>
      </p:sp>
      <p:sp>
        <p:nvSpPr>
          <p:cNvPr name="TextBox 4" id="4"/>
          <p:cNvSpPr txBox="true"/>
          <p:nvPr/>
        </p:nvSpPr>
        <p:spPr>
          <a:xfrm rot="0">
            <a:off x="204600" y="219008"/>
            <a:ext cx="7963198" cy="542925"/>
          </a:xfrm>
          <a:prstGeom prst="rect">
            <a:avLst/>
          </a:prstGeom>
        </p:spPr>
        <p:txBody>
          <a:bodyPr anchor="t" rtlCol="false" tIns="0" lIns="0" bIns="0" rIns="0">
            <a:spAutoFit/>
          </a:bodyPr>
          <a:lstStyle/>
          <a:p>
            <a:pPr algn="ctr">
              <a:lnSpc>
                <a:spcPts val="4200"/>
              </a:lnSpc>
              <a:spcBef>
                <a:spcPct val="0"/>
              </a:spcBef>
            </a:pPr>
            <a:r>
              <a:rPr lang="en-US" sz="3500">
                <a:solidFill>
                  <a:srgbClr val="000000"/>
                </a:solidFill>
                <a:latin typeface="Faustina"/>
                <a:ea typeface="Faustina"/>
                <a:cs typeface="Faustina"/>
                <a:sym typeface="Faustina"/>
              </a:rPr>
              <a:t>3.3 Các chức năng cho mỗi loại người dùng. </a:t>
            </a:r>
          </a:p>
        </p:txBody>
      </p:sp>
      <p:sp>
        <p:nvSpPr>
          <p:cNvPr name="TextBox 5" id="5"/>
          <p:cNvSpPr txBox="true"/>
          <p:nvPr/>
        </p:nvSpPr>
        <p:spPr>
          <a:xfrm rot="0">
            <a:off x="583581" y="926232"/>
            <a:ext cx="5647581"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3.3.1: Các chức năng của khách hàng</a:t>
            </a:r>
          </a:p>
        </p:txBody>
      </p:sp>
      <p:sp>
        <p:nvSpPr>
          <p:cNvPr name="TextBox 6" id="6"/>
          <p:cNvSpPr txBox="true"/>
          <p:nvPr/>
        </p:nvSpPr>
        <p:spPr>
          <a:xfrm rot="0">
            <a:off x="8335844" y="2069705"/>
            <a:ext cx="6659070" cy="862185"/>
          </a:xfrm>
          <a:prstGeom prst="rect">
            <a:avLst/>
          </a:prstGeom>
        </p:spPr>
        <p:txBody>
          <a:bodyPr anchor="t" rtlCol="false" tIns="0" lIns="0" bIns="0" rIns="0">
            <a:spAutoFit/>
          </a:bodyPr>
          <a:lstStyle/>
          <a:p>
            <a:pPr algn="ctr">
              <a:lnSpc>
                <a:spcPts val="3494"/>
              </a:lnSpc>
              <a:spcBef>
                <a:spcPct val="0"/>
              </a:spcBef>
            </a:pPr>
            <a:r>
              <a:rPr lang="en-US" sz="2911">
                <a:solidFill>
                  <a:srgbClr val="000000"/>
                </a:solidFill>
                <a:latin typeface="Faustina"/>
                <a:ea typeface="Faustina"/>
                <a:cs typeface="Faustina"/>
                <a:sym typeface="Faustina"/>
              </a:rPr>
              <a:t>Sau khi khách hàng đăng nhập thành công màn hình hiển thị giao diện trang chủ.</a:t>
            </a:r>
          </a:p>
        </p:txBody>
      </p:sp>
      <p:sp>
        <p:nvSpPr>
          <p:cNvPr name="TextBox 7" id="7"/>
          <p:cNvSpPr txBox="true"/>
          <p:nvPr/>
        </p:nvSpPr>
        <p:spPr>
          <a:xfrm rot="0">
            <a:off x="873701" y="6117296"/>
            <a:ext cx="5535513"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 Xem thông tinh cá nhân</a:t>
            </a:r>
          </a:p>
        </p:txBody>
      </p:sp>
      <p:sp>
        <p:nvSpPr>
          <p:cNvPr name="TextBox 8" id="8"/>
          <p:cNvSpPr txBox="true"/>
          <p:nvPr/>
        </p:nvSpPr>
        <p:spPr>
          <a:xfrm rot="0">
            <a:off x="902584" y="6698321"/>
            <a:ext cx="6567229" cy="16668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hiển thị Thông Tin Cá Nhân khi khách hang chọn vào “Thông Tin Cá Nhân”.</a:t>
            </a:r>
          </a:p>
          <a:p>
            <a:pPr algn="ctr">
              <a:lnSpc>
                <a:spcPts val="3359"/>
              </a:lnSpc>
              <a:spcBef>
                <a:spcPct val="0"/>
              </a:spcBef>
            </a:pPr>
            <a:r>
              <a:rPr lang="en-US" sz="2799">
                <a:solidFill>
                  <a:srgbClr val="000000"/>
                </a:solidFill>
                <a:latin typeface="Faustina"/>
                <a:ea typeface="Faustina"/>
                <a:cs typeface="Faustina"/>
                <a:sym typeface="Faustina"/>
              </a:rPr>
              <a:t>Trên màn hình người dùng có thể chỉnh sửa thông tin người dùng.</a:t>
            </a:r>
          </a:p>
        </p:txBody>
      </p:sp>
    </p:spTree>
  </p:cSld>
  <p:clrMapOvr>
    <a:masterClrMapping/>
  </p:clrMapOvr>
</p:sld>
</file>

<file path=ppt/slides/slide10.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8017258" y="364066"/>
            <a:ext cx="9287238" cy="5053617"/>
          </a:xfrm>
          <a:custGeom>
            <a:avLst/>
            <a:gdLst/>
            <a:ahLst/>
            <a:cxnLst/>
            <a:rect r="r" b="b" t="t" l="l"/>
            <a:pathLst>
              <a:path h="5053617" w="9287238">
                <a:moveTo>
                  <a:pt x="0" y="0"/>
                </a:moveTo>
                <a:lnTo>
                  <a:pt x="9287238" y="0"/>
                </a:lnTo>
                <a:lnTo>
                  <a:pt x="9287238" y="5053617"/>
                </a:lnTo>
                <a:lnTo>
                  <a:pt x="0" y="5053617"/>
                </a:lnTo>
                <a:lnTo>
                  <a:pt x="0" y="0"/>
                </a:lnTo>
                <a:close/>
              </a:path>
            </a:pathLst>
          </a:custGeom>
          <a:blipFill>
            <a:blip r:embed="rId2"/>
            <a:stretch>
              <a:fillRect l="0" t="-8368" r="0" b="-8368"/>
            </a:stretch>
          </a:blipFill>
        </p:spPr>
      </p:sp>
      <p:sp>
        <p:nvSpPr>
          <p:cNvPr name="Freeform 3" id="3"/>
          <p:cNvSpPr/>
          <p:nvPr/>
        </p:nvSpPr>
        <p:spPr>
          <a:xfrm flipH="false" flipV="false" rot="0">
            <a:off x="9431523" y="5937171"/>
            <a:ext cx="6744781" cy="4274309"/>
          </a:xfrm>
          <a:custGeom>
            <a:avLst/>
            <a:gdLst/>
            <a:ahLst/>
            <a:cxnLst/>
            <a:rect r="r" b="b" t="t" l="l"/>
            <a:pathLst>
              <a:path h="4274309" w="6744781">
                <a:moveTo>
                  <a:pt x="0" y="0"/>
                </a:moveTo>
                <a:lnTo>
                  <a:pt x="6744781" y="0"/>
                </a:lnTo>
                <a:lnTo>
                  <a:pt x="6744781" y="4274309"/>
                </a:lnTo>
                <a:lnTo>
                  <a:pt x="0" y="4274309"/>
                </a:lnTo>
                <a:lnTo>
                  <a:pt x="0" y="0"/>
                </a:lnTo>
                <a:close/>
              </a:path>
            </a:pathLst>
          </a:custGeom>
          <a:blipFill>
            <a:blip r:embed="rId3"/>
            <a:stretch>
              <a:fillRect l="0" t="0" r="0" b="0"/>
            </a:stretch>
          </a:blipFill>
        </p:spPr>
      </p:sp>
      <p:grpSp>
        <p:nvGrpSpPr>
          <p:cNvPr name="Group 4" id="4"/>
          <p:cNvGrpSpPr/>
          <p:nvPr/>
        </p:nvGrpSpPr>
        <p:grpSpPr>
          <a:xfrm rot="0">
            <a:off x="6841457" y="2212201"/>
            <a:ext cx="973527" cy="973527"/>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E2E2E"/>
            </a:solidFill>
          </p:spPr>
        </p:sp>
        <p:sp>
          <p:nvSpPr>
            <p:cNvPr name="TextBox 6" id="6"/>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7" id="7"/>
          <p:cNvSpPr txBox="true"/>
          <p:nvPr/>
        </p:nvSpPr>
        <p:spPr>
          <a:xfrm rot="0">
            <a:off x="278213" y="1173976"/>
            <a:ext cx="6768328" cy="20859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người dùng chỉnh sửa thông tin màn hình hệ thống sẽ hiển thị lên thông báo</a:t>
            </a:r>
          </a:p>
          <a:p>
            <a:pPr algn="ctr">
              <a:lnSpc>
                <a:spcPts val="3359"/>
              </a:lnSpc>
              <a:spcBef>
                <a:spcPct val="0"/>
              </a:spcBef>
            </a:pPr>
            <a:r>
              <a:rPr lang="en-US" sz="2799">
                <a:solidFill>
                  <a:srgbClr val="000000"/>
                </a:solidFill>
                <a:latin typeface="Faustina"/>
                <a:ea typeface="Faustina"/>
                <a:cs typeface="Faustina"/>
                <a:sym typeface="Faustina"/>
              </a:rPr>
              <a:t> “Chỉnh sửa thành công” người dùng cần thoát ra vào lại để cập nhật thông tin tài khoản.</a:t>
            </a:r>
          </a:p>
        </p:txBody>
      </p:sp>
      <p:sp>
        <p:nvSpPr>
          <p:cNvPr name="TextBox 8" id="8"/>
          <p:cNvSpPr txBox="true"/>
          <p:nvPr/>
        </p:nvSpPr>
        <p:spPr>
          <a:xfrm rot="0">
            <a:off x="509770" y="5527596"/>
            <a:ext cx="514617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 Xem địa chỉ cửa hàng</a:t>
            </a:r>
          </a:p>
        </p:txBody>
      </p:sp>
      <p:sp>
        <p:nvSpPr>
          <p:cNvPr name="TextBox 9" id="9"/>
          <p:cNvSpPr txBox="true"/>
          <p:nvPr/>
        </p:nvSpPr>
        <p:spPr>
          <a:xfrm rot="0">
            <a:off x="509770" y="7225755"/>
            <a:ext cx="7192667"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Khi khách hàng chọn chức năng “Địa Chỉ” màn hình hệ thống hiển thị thông tin cửa hàng.</a:t>
            </a:r>
          </a:p>
        </p:txBody>
      </p:sp>
      <p:grpSp>
        <p:nvGrpSpPr>
          <p:cNvPr name="Group 10" id="10"/>
          <p:cNvGrpSpPr/>
          <p:nvPr/>
        </p:nvGrpSpPr>
        <p:grpSpPr>
          <a:xfrm rot="0">
            <a:off x="8170473" y="7216230"/>
            <a:ext cx="973527" cy="973527"/>
            <a:chOff x="0" y="0"/>
            <a:chExt cx="812800" cy="812800"/>
          </a:xfrm>
        </p:grpSpPr>
        <p:sp>
          <p:nvSpPr>
            <p:cNvPr name="Freeform 11" id="11"/>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E2E2E"/>
            </a:solidFill>
          </p:spPr>
        </p:sp>
        <p:sp>
          <p:nvSpPr>
            <p:cNvPr name="TextBox 12" id="12"/>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11.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10493677" y="696309"/>
            <a:ext cx="6106607" cy="2291274"/>
          </a:xfrm>
          <a:custGeom>
            <a:avLst/>
            <a:gdLst/>
            <a:ahLst/>
            <a:cxnLst/>
            <a:rect r="r" b="b" t="t" l="l"/>
            <a:pathLst>
              <a:path h="2291274" w="6106607">
                <a:moveTo>
                  <a:pt x="0" y="0"/>
                </a:moveTo>
                <a:lnTo>
                  <a:pt x="6106607" y="0"/>
                </a:lnTo>
                <a:lnTo>
                  <a:pt x="6106607" y="2291274"/>
                </a:lnTo>
                <a:lnTo>
                  <a:pt x="0" y="2291274"/>
                </a:lnTo>
                <a:lnTo>
                  <a:pt x="0" y="0"/>
                </a:lnTo>
                <a:close/>
              </a:path>
            </a:pathLst>
          </a:custGeom>
          <a:blipFill>
            <a:blip r:embed="rId2"/>
            <a:stretch>
              <a:fillRect l="0" t="0" r="0" b="0"/>
            </a:stretch>
          </a:blipFill>
        </p:spPr>
      </p:sp>
      <p:grpSp>
        <p:nvGrpSpPr>
          <p:cNvPr name="Group 3" id="3"/>
          <p:cNvGrpSpPr/>
          <p:nvPr/>
        </p:nvGrpSpPr>
        <p:grpSpPr>
          <a:xfrm rot="0">
            <a:off x="8734166" y="1040540"/>
            <a:ext cx="1333738" cy="1333738"/>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C65CA8"/>
            </a:solidFill>
          </p:spPr>
        </p:sp>
        <p:sp>
          <p:nvSpPr>
            <p:cNvPr name="TextBox 5" id="5"/>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7895366" y="4065681"/>
            <a:ext cx="8915850" cy="5881660"/>
          </a:xfrm>
          <a:custGeom>
            <a:avLst/>
            <a:gdLst/>
            <a:ahLst/>
            <a:cxnLst/>
            <a:rect r="r" b="b" t="t" l="l"/>
            <a:pathLst>
              <a:path h="5881660" w="8915850">
                <a:moveTo>
                  <a:pt x="0" y="0"/>
                </a:moveTo>
                <a:lnTo>
                  <a:pt x="8915851" y="0"/>
                </a:lnTo>
                <a:lnTo>
                  <a:pt x="8915851" y="5881660"/>
                </a:lnTo>
                <a:lnTo>
                  <a:pt x="0" y="5881660"/>
                </a:lnTo>
                <a:lnTo>
                  <a:pt x="0" y="0"/>
                </a:lnTo>
                <a:close/>
              </a:path>
            </a:pathLst>
          </a:custGeom>
          <a:blipFill>
            <a:blip r:embed="rId3"/>
            <a:stretch>
              <a:fillRect l="0" t="0" r="0" b="0"/>
            </a:stretch>
          </a:blipFill>
        </p:spPr>
      </p:sp>
      <p:sp>
        <p:nvSpPr>
          <p:cNvPr name="TextBox 7" id="7"/>
          <p:cNvSpPr txBox="true"/>
          <p:nvPr/>
        </p:nvSpPr>
        <p:spPr>
          <a:xfrm rot="0">
            <a:off x="335539" y="277209"/>
            <a:ext cx="5948958"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3.3.2: Các chức năng của chủ cửa hàng</a:t>
            </a:r>
          </a:p>
        </p:txBody>
      </p:sp>
      <p:sp>
        <p:nvSpPr>
          <p:cNvPr name="TextBox 8" id="8"/>
          <p:cNvSpPr txBox="true"/>
          <p:nvPr/>
        </p:nvSpPr>
        <p:spPr>
          <a:xfrm rot="0">
            <a:off x="485870" y="1307359"/>
            <a:ext cx="7822524"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đăng nhập thành công vào tài khoản admin của người quản trị hệ thống màn hình hiển thị.</a:t>
            </a:r>
          </a:p>
        </p:txBody>
      </p:sp>
      <p:sp>
        <p:nvSpPr>
          <p:cNvPr name="TextBox 9" id="9"/>
          <p:cNvSpPr txBox="true"/>
          <p:nvPr/>
        </p:nvSpPr>
        <p:spPr>
          <a:xfrm rot="0">
            <a:off x="161358" y="4075206"/>
            <a:ext cx="7367924"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đó màn hình sẽ chuyển tới trang quản trị của hệ thống dành cho Quản Trị Viên của hệ thống.</a:t>
            </a:r>
          </a:p>
        </p:txBody>
      </p:sp>
      <p:sp>
        <p:nvSpPr>
          <p:cNvPr name="TextBox 10" id="10"/>
          <p:cNvSpPr txBox="true"/>
          <p:nvPr/>
        </p:nvSpPr>
        <p:spPr>
          <a:xfrm rot="0">
            <a:off x="729835" y="6712063"/>
            <a:ext cx="5160366"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hiển thị tất cả các chức năng dành cho Quản Trị Viên</a:t>
            </a:r>
          </a:p>
        </p:txBody>
      </p:sp>
      <p:grpSp>
        <p:nvGrpSpPr>
          <p:cNvPr name="Group 11" id="11"/>
          <p:cNvGrpSpPr/>
          <p:nvPr/>
        </p:nvGrpSpPr>
        <p:grpSpPr>
          <a:xfrm rot="0">
            <a:off x="6195545" y="6454769"/>
            <a:ext cx="1333738" cy="1333738"/>
            <a:chOff x="0" y="0"/>
            <a:chExt cx="812800" cy="812800"/>
          </a:xfrm>
        </p:grpSpPr>
        <p:sp>
          <p:nvSpPr>
            <p:cNvPr name="Freeform 12" id="12"/>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C65CA8"/>
            </a:solidFill>
          </p:spPr>
        </p:sp>
        <p:sp>
          <p:nvSpPr>
            <p:cNvPr name="TextBox 13" id="13"/>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12.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9711895" y="672309"/>
            <a:ext cx="7202817" cy="3709451"/>
          </a:xfrm>
          <a:custGeom>
            <a:avLst/>
            <a:gdLst/>
            <a:ahLst/>
            <a:cxnLst/>
            <a:rect r="r" b="b" t="t" l="l"/>
            <a:pathLst>
              <a:path h="3709451" w="7202817">
                <a:moveTo>
                  <a:pt x="0" y="0"/>
                </a:moveTo>
                <a:lnTo>
                  <a:pt x="7202817" y="0"/>
                </a:lnTo>
                <a:lnTo>
                  <a:pt x="7202817" y="3709451"/>
                </a:lnTo>
                <a:lnTo>
                  <a:pt x="0" y="3709451"/>
                </a:lnTo>
                <a:lnTo>
                  <a:pt x="0" y="0"/>
                </a:lnTo>
                <a:close/>
              </a:path>
            </a:pathLst>
          </a:custGeom>
          <a:blipFill>
            <a:blip r:embed="rId2"/>
            <a:stretch>
              <a:fillRect l="0" t="0" r="0" b="0"/>
            </a:stretch>
          </a:blipFill>
        </p:spPr>
      </p:sp>
      <p:sp>
        <p:nvSpPr>
          <p:cNvPr name="Freeform 3" id="3"/>
          <p:cNvSpPr/>
          <p:nvPr/>
        </p:nvSpPr>
        <p:spPr>
          <a:xfrm flipH="false" flipV="false" rot="0">
            <a:off x="310678" y="5143500"/>
            <a:ext cx="7894414" cy="4065623"/>
          </a:xfrm>
          <a:custGeom>
            <a:avLst/>
            <a:gdLst/>
            <a:ahLst/>
            <a:cxnLst/>
            <a:rect r="r" b="b" t="t" l="l"/>
            <a:pathLst>
              <a:path h="4065623" w="7894414">
                <a:moveTo>
                  <a:pt x="0" y="0"/>
                </a:moveTo>
                <a:lnTo>
                  <a:pt x="7894414" y="0"/>
                </a:lnTo>
                <a:lnTo>
                  <a:pt x="7894414" y="4065623"/>
                </a:lnTo>
                <a:lnTo>
                  <a:pt x="0" y="4065623"/>
                </a:lnTo>
                <a:lnTo>
                  <a:pt x="0" y="0"/>
                </a:lnTo>
                <a:close/>
              </a:path>
            </a:pathLst>
          </a:custGeom>
          <a:blipFill>
            <a:blip r:embed="rId3"/>
            <a:stretch>
              <a:fillRect l="0" t="0" r="0" b="0"/>
            </a:stretch>
          </a:blipFill>
        </p:spPr>
      </p:sp>
      <p:grpSp>
        <p:nvGrpSpPr>
          <p:cNvPr name="Group 4" id="4"/>
          <p:cNvGrpSpPr/>
          <p:nvPr/>
        </p:nvGrpSpPr>
        <p:grpSpPr>
          <a:xfrm rot="0">
            <a:off x="8205092" y="1558701"/>
            <a:ext cx="1098467" cy="1098467"/>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6" id="6"/>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Freeform 7" id="7"/>
          <p:cNvSpPr/>
          <p:nvPr/>
        </p:nvSpPr>
        <p:spPr>
          <a:xfrm flipH="false" flipV="false" rot="0">
            <a:off x="9346842" y="5143500"/>
            <a:ext cx="7932923" cy="4065623"/>
          </a:xfrm>
          <a:custGeom>
            <a:avLst/>
            <a:gdLst/>
            <a:ahLst/>
            <a:cxnLst/>
            <a:rect r="r" b="b" t="t" l="l"/>
            <a:pathLst>
              <a:path h="4065623" w="7932923">
                <a:moveTo>
                  <a:pt x="0" y="0"/>
                </a:moveTo>
                <a:lnTo>
                  <a:pt x="7932923" y="0"/>
                </a:lnTo>
                <a:lnTo>
                  <a:pt x="7932923" y="4065623"/>
                </a:lnTo>
                <a:lnTo>
                  <a:pt x="0" y="4065623"/>
                </a:lnTo>
                <a:lnTo>
                  <a:pt x="0" y="0"/>
                </a:lnTo>
                <a:close/>
              </a:path>
            </a:pathLst>
          </a:custGeom>
          <a:blipFill>
            <a:blip r:embed="rId4"/>
            <a:stretch>
              <a:fillRect l="0" t="0" r="0" b="0"/>
            </a:stretch>
          </a:blipFill>
        </p:spPr>
      </p:sp>
      <p:sp>
        <p:nvSpPr>
          <p:cNvPr name="TextBox 8" id="8"/>
          <p:cNvSpPr txBox="true"/>
          <p:nvPr/>
        </p:nvSpPr>
        <p:spPr>
          <a:xfrm rot="0">
            <a:off x="229163" y="238058"/>
            <a:ext cx="5058370"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 Quản Lý Người Dùng</a:t>
            </a:r>
          </a:p>
        </p:txBody>
      </p:sp>
      <p:sp>
        <p:nvSpPr>
          <p:cNvPr name="TextBox 9" id="9"/>
          <p:cNvSpPr txBox="true"/>
          <p:nvPr/>
        </p:nvSpPr>
        <p:spPr>
          <a:xfrm rot="0">
            <a:off x="229163" y="1698360"/>
            <a:ext cx="7827756"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hiển thị thông tin tất cả người dùng sau khi chọn vào chức năng “Quản Lý Người Dùng”.</a:t>
            </a:r>
          </a:p>
        </p:txBody>
      </p:sp>
      <p:sp>
        <p:nvSpPr>
          <p:cNvPr name="TextBox 10" id="10"/>
          <p:cNvSpPr txBox="true"/>
          <p:nvPr/>
        </p:nvSpPr>
        <p:spPr>
          <a:xfrm rot="0">
            <a:off x="229163" y="9478257"/>
            <a:ext cx="7652296"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1.1: tìm kiếm bằng Username người dùng</a:t>
            </a:r>
          </a:p>
        </p:txBody>
      </p:sp>
      <p:sp>
        <p:nvSpPr>
          <p:cNvPr name="TextBox 11" id="11"/>
          <p:cNvSpPr txBox="true"/>
          <p:nvPr/>
        </p:nvSpPr>
        <p:spPr>
          <a:xfrm rot="0">
            <a:off x="9346842" y="9478257"/>
            <a:ext cx="763160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1.2: tìm kiếm bằng Họ và Tên người dùng</a:t>
            </a:r>
          </a:p>
        </p:txBody>
      </p:sp>
    </p:spTree>
  </p:cSld>
  <p:clrMapOvr>
    <a:masterClrMapping/>
  </p:clrMapOvr>
</p:sld>
</file>

<file path=ppt/slides/slide13.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330130" y="805508"/>
            <a:ext cx="8427203" cy="4318942"/>
          </a:xfrm>
          <a:custGeom>
            <a:avLst/>
            <a:gdLst/>
            <a:ahLst/>
            <a:cxnLst/>
            <a:rect r="r" b="b" t="t" l="l"/>
            <a:pathLst>
              <a:path h="4318942" w="8427203">
                <a:moveTo>
                  <a:pt x="0" y="0"/>
                </a:moveTo>
                <a:lnTo>
                  <a:pt x="8427203" y="0"/>
                </a:lnTo>
                <a:lnTo>
                  <a:pt x="8427203" y="4318942"/>
                </a:lnTo>
                <a:lnTo>
                  <a:pt x="0" y="4318942"/>
                </a:lnTo>
                <a:lnTo>
                  <a:pt x="0" y="0"/>
                </a:lnTo>
                <a:close/>
              </a:path>
            </a:pathLst>
          </a:custGeom>
          <a:blipFill>
            <a:blip r:embed="rId2"/>
            <a:stretch>
              <a:fillRect l="0" t="0" r="0" b="0"/>
            </a:stretch>
          </a:blipFill>
        </p:spPr>
      </p:sp>
      <p:sp>
        <p:nvSpPr>
          <p:cNvPr name="Freeform 3" id="3"/>
          <p:cNvSpPr/>
          <p:nvPr/>
        </p:nvSpPr>
        <p:spPr>
          <a:xfrm flipH="false" flipV="false" rot="0">
            <a:off x="9726932" y="905686"/>
            <a:ext cx="7906575" cy="3172513"/>
          </a:xfrm>
          <a:custGeom>
            <a:avLst/>
            <a:gdLst/>
            <a:ahLst/>
            <a:cxnLst/>
            <a:rect r="r" b="b" t="t" l="l"/>
            <a:pathLst>
              <a:path h="3172513" w="7906575">
                <a:moveTo>
                  <a:pt x="0" y="0"/>
                </a:moveTo>
                <a:lnTo>
                  <a:pt x="7906575" y="0"/>
                </a:lnTo>
                <a:lnTo>
                  <a:pt x="7906575" y="3172514"/>
                </a:lnTo>
                <a:lnTo>
                  <a:pt x="0" y="3172514"/>
                </a:lnTo>
                <a:lnTo>
                  <a:pt x="0" y="0"/>
                </a:lnTo>
                <a:close/>
              </a:path>
            </a:pathLst>
          </a:custGeom>
          <a:blipFill>
            <a:blip r:embed="rId3"/>
            <a:stretch>
              <a:fillRect l="0" t="0" r="0" b="0"/>
            </a:stretch>
          </a:blipFill>
        </p:spPr>
      </p:sp>
      <p:sp>
        <p:nvSpPr>
          <p:cNvPr name="Freeform 4" id="4"/>
          <p:cNvSpPr/>
          <p:nvPr/>
        </p:nvSpPr>
        <p:spPr>
          <a:xfrm flipH="false" flipV="false" rot="0">
            <a:off x="330130" y="5956146"/>
            <a:ext cx="7612731" cy="3911040"/>
          </a:xfrm>
          <a:custGeom>
            <a:avLst/>
            <a:gdLst/>
            <a:ahLst/>
            <a:cxnLst/>
            <a:rect r="r" b="b" t="t" l="l"/>
            <a:pathLst>
              <a:path h="3911040" w="7612731">
                <a:moveTo>
                  <a:pt x="0" y="0"/>
                </a:moveTo>
                <a:lnTo>
                  <a:pt x="7612731" y="0"/>
                </a:lnTo>
                <a:lnTo>
                  <a:pt x="7612731" y="3911041"/>
                </a:lnTo>
                <a:lnTo>
                  <a:pt x="0" y="3911041"/>
                </a:lnTo>
                <a:lnTo>
                  <a:pt x="0" y="0"/>
                </a:lnTo>
                <a:close/>
              </a:path>
            </a:pathLst>
          </a:custGeom>
          <a:blipFill>
            <a:blip r:embed="rId4"/>
            <a:stretch>
              <a:fillRect l="0" t="0" r="0" b="0"/>
            </a:stretch>
          </a:blipFill>
        </p:spPr>
      </p:sp>
      <p:sp>
        <p:nvSpPr>
          <p:cNvPr name="Freeform 5" id="5"/>
          <p:cNvSpPr/>
          <p:nvPr/>
        </p:nvSpPr>
        <p:spPr>
          <a:xfrm flipH="false" flipV="false" rot="0">
            <a:off x="9499774" y="5956146"/>
            <a:ext cx="7906575" cy="3221929"/>
          </a:xfrm>
          <a:custGeom>
            <a:avLst/>
            <a:gdLst/>
            <a:ahLst/>
            <a:cxnLst/>
            <a:rect r="r" b="b" t="t" l="l"/>
            <a:pathLst>
              <a:path h="3221929" w="7906575">
                <a:moveTo>
                  <a:pt x="0" y="0"/>
                </a:moveTo>
                <a:lnTo>
                  <a:pt x="7906575" y="0"/>
                </a:lnTo>
                <a:lnTo>
                  <a:pt x="7906575" y="3221930"/>
                </a:lnTo>
                <a:lnTo>
                  <a:pt x="0" y="3221930"/>
                </a:lnTo>
                <a:lnTo>
                  <a:pt x="0" y="0"/>
                </a:lnTo>
                <a:close/>
              </a:path>
            </a:pathLst>
          </a:custGeom>
          <a:blipFill>
            <a:blip r:embed="rId5"/>
            <a:stretch>
              <a:fillRect l="0" t="0" r="0" b="0"/>
            </a:stretch>
          </a:blipFill>
        </p:spPr>
      </p:sp>
      <p:grpSp>
        <p:nvGrpSpPr>
          <p:cNvPr name="Group 6" id="6"/>
          <p:cNvGrpSpPr/>
          <p:nvPr/>
        </p:nvGrpSpPr>
        <p:grpSpPr>
          <a:xfrm rot="0">
            <a:off x="8830817" y="2371848"/>
            <a:ext cx="822632" cy="822632"/>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8" id="8"/>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9" id="9"/>
          <p:cNvSpPr txBox="true"/>
          <p:nvPr/>
        </p:nvSpPr>
        <p:spPr>
          <a:xfrm rot="0">
            <a:off x="330130" y="386408"/>
            <a:ext cx="6186934"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1.3:Thêm tài khoản người dùng</a:t>
            </a:r>
          </a:p>
        </p:txBody>
      </p:sp>
      <p:sp>
        <p:nvSpPr>
          <p:cNvPr name="TextBox 10" id="10"/>
          <p:cNvSpPr txBox="true"/>
          <p:nvPr/>
        </p:nvSpPr>
        <p:spPr>
          <a:xfrm rot="0">
            <a:off x="9380346" y="4375580"/>
            <a:ext cx="8026003"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Thêm thành công hệ thống tự động cập nhật thông tin</a:t>
            </a:r>
          </a:p>
        </p:txBody>
      </p:sp>
      <p:sp>
        <p:nvSpPr>
          <p:cNvPr name="TextBox 11" id="11"/>
          <p:cNvSpPr txBox="true"/>
          <p:nvPr/>
        </p:nvSpPr>
        <p:spPr>
          <a:xfrm rot="0">
            <a:off x="330130" y="5546571"/>
            <a:ext cx="6915150"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1.4: Chỉnh sửa thông tin người dùng</a:t>
            </a:r>
          </a:p>
        </p:txBody>
      </p:sp>
      <p:sp>
        <p:nvSpPr>
          <p:cNvPr name="TextBox 12" id="12"/>
          <p:cNvSpPr txBox="true"/>
          <p:nvPr/>
        </p:nvSpPr>
        <p:spPr>
          <a:xfrm rot="0">
            <a:off x="9499774" y="9267825"/>
            <a:ext cx="7906575"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chỉnh sửa thành công hệ thống hiển thị thông tin đã chỉnh sửa</a:t>
            </a:r>
          </a:p>
        </p:txBody>
      </p:sp>
      <p:grpSp>
        <p:nvGrpSpPr>
          <p:cNvPr name="Group 13" id="13"/>
          <p:cNvGrpSpPr/>
          <p:nvPr/>
        </p:nvGrpSpPr>
        <p:grpSpPr>
          <a:xfrm rot="0">
            <a:off x="8310001" y="7155795"/>
            <a:ext cx="822632" cy="822632"/>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15" id="15"/>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14.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848601" y="819150"/>
            <a:ext cx="7924256" cy="4031465"/>
          </a:xfrm>
          <a:custGeom>
            <a:avLst/>
            <a:gdLst/>
            <a:ahLst/>
            <a:cxnLst/>
            <a:rect r="r" b="b" t="t" l="l"/>
            <a:pathLst>
              <a:path h="4031465" w="7924256">
                <a:moveTo>
                  <a:pt x="0" y="0"/>
                </a:moveTo>
                <a:lnTo>
                  <a:pt x="7924257" y="0"/>
                </a:lnTo>
                <a:lnTo>
                  <a:pt x="7924257" y="4031465"/>
                </a:lnTo>
                <a:lnTo>
                  <a:pt x="0" y="4031465"/>
                </a:lnTo>
                <a:lnTo>
                  <a:pt x="0" y="0"/>
                </a:lnTo>
                <a:close/>
              </a:path>
            </a:pathLst>
          </a:custGeom>
          <a:blipFill>
            <a:blip r:embed="rId2"/>
            <a:stretch>
              <a:fillRect l="0" t="0" r="0" b="0"/>
            </a:stretch>
          </a:blipFill>
        </p:spPr>
      </p:sp>
      <p:sp>
        <p:nvSpPr>
          <p:cNvPr name="Freeform 3" id="3"/>
          <p:cNvSpPr/>
          <p:nvPr/>
        </p:nvSpPr>
        <p:spPr>
          <a:xfrm flipH="false" flipV="false" rot="0">
            <a:off x="10032854" y="1587268"/>
            <a:ext cx="7718761" cy="3079608"/>
          </a:xfrm>
          <a:custGeom>
            <a:avLst/>
            <a:gdLst/>
            <a:ahLst/>
            <a:cxnLst/>
            <a:rect r="r" b="b" t="t" l="l"/>
            <a:pathLst>
              <a:path h="3079608" w="7718761">
                <a:moveTo>
                  <a:pt x="0" y="0"/>
                </a:moveTo>
                <a:lnTo>
                  <a:pt x="7718760" y="0"/>
                </a:lnTo>
                <a:lnTo>
                  <a:pt x="7718760" y="3079608"/>
                </a:lnTo>
                <a:lnTo>
                  <a:pt x="0" y="3079608"/>
                </a:lnTo>
                <a:lnTo>
                  <a:pt x="0" y="0"/>
                </a:lnTo>
                <a:close/>
              </a:path>
            </a:pathLst>
          </a:custGeom>
          <a:blipFill>
            <a:blip r:embed="rId3"/>
            <a:stretch>
              <a:fillRect l="0" t="0" r="0" b="0"/>
            </a:stretch>
          </a:blipFill>
        </p:spPr>
      </p:sp>
      <p:sp>
        <p:nvSpPr>
          <p:cNvPr name="Freeform 4" id="4"/>
          <p:cNvSpPr/>
          <p:nvPr/>
        </p:nvSpPr>
        <p:spPr>
          <a:xfrm flipH="false" flipV="false" rot="0">
            <a:off x="8448401" y="5562600"/>
            <a:ext cx="7470559" cy="4501012"/>
          </a:xfrm>
          <a:custGeom>
            <a:avLst/>
            <a:gdLst/>
            <a:ahLst/>
            <a:cxnLst/>
            <a:rect r="r" b="b" t="t" l="l"/>
            <a:pathLst>
              <a:path h="4501012" w="7470559">
                <a:moveTo>
                  <a:pt x="0" y="0"/>
                </a:moveTo>
                <a:lnTo>
                  <a:pt x="7470559" y="0"/>
                </a:lnTo>
                <a:lnTo>
                  <a:pt x="7470559" y="4501012"/>
                </a:lnTo>
                <a:lnTo>
                  <a:pt x="0" y="4501012"/>
                </a:lnTo>
                <a:lnTo>
                  <a:pt x="0" y="0"/>
                </a:lnTo>
                <a:close/>
              </a:path>
            </a:pathLst>
          </a:custGeom>
          <a:blipFill>
            <a:blip r:embed="rId4"/>
            <a:stretch>
              <a:fillRect l="0" t="0" r="0" b="0"/>
            </a:stretch>
          </a:blipFill>
        </p:spPr>
      </p:sp>
      <p:grpSp>
        <p:nvGrpSpPr>
          <p:cNvPr name="Group 5" id="5"/>
          <p:cNvGrpSpPr/>
          <p:nvPr/>
        </p:nvGrpSpPr>
        <p:grpSpPr>
          <a:xfrm rot="0">
            <a:off x="6657316" y="6815981"/>
            <a:ext cx="1155256" cy="1155256"/>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7" id="7"/>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588992" y="409575"/>
            <a:ext cx="594479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1.5: Xóa thông tin người dùng</a:t>
            </a:r>
          </a:p>
        </p:txBody>
      </p:sp>
      <p:sp>
        <p:nvSpPr>
          <p:cNvPr name="TextBox 9" id="9"/>
          <p:cNvSpPr txBox="true"/>
          <p:nvPr/>
        </p:nvSpPr>
        <p:spPr>
          <a:xfrm rot="0">
            <a:off x="9831459" y="828675"/>
            <a:ext cx="812155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hiển thị lại thông tin người dùng sau khi xóa</a:t>
            </a:r>
          </a:p>
        </p:txBody>
      </p:sp>
      <p:sp>
        <p:nvSpPr>
          <p:cNvPr name="TextBox 10" id="10"/>
          <p:cNvSpPr txBox="true"/>
          <p:nvPr/>
        </p:nvSpPr>
        <p:spPr>
          <a:xfrm rot="0">
            <a:off x="138817" y="5153025"/>
            <a:ext cx="5610225"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 Quản Lý Thông Tin Sách</a:t>
            </a:r>
          </a:p>
        </p:txBody>
      </p:sp>
      <p:sp>
        <p:nvSpPr>
          <p:cNvPr name="TextBox 11" id="11"/>
          <p:cNvSpPr txBox="true"/>
          <p:nvPr/>
        </p:nvSpPr>
        <p:spPr>
          <a:xfrm rot="0">
            <a:off x="848601" y="6723462"/>
            <a:ext cx="5172886" cy="12477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 Màn hình hiển thị tất cả thông tin sách sau khi người dùng chọn chưc năng “Quản Lý Sách”.</a:t>
            </a:r>
          </a:p>
        </p:txBody>
      </p:sp>
      <p:grpSp>
        <p:nvGrpSpPr>
          <p:cNvPr name="Group 12" id="12"/>
          <p:cNvGrpSpPr/>
          <p:nvPr/>
        </p:nvGrpSpPr>
        <p:grpSpPr>
          <a:xfrm rot="0">
            <a:off x="9040216" y="2603701"/>
            <a:ext cx="725279" cy="725279"/>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14" id="14"/>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15.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477030" y="777437"/>
            <a:ext cx="8229918" cy="4597036"/>
          </a:xfrm>
          <a:custGeom>
            <a:avLst/>
            <a:gdLst/>
            <a:ahLst/>
            <a:cxnLst/>
            <a:rect r="r" b="b" t="t" l="l"/>
            <a:pathLst>
              <a:path h="4597036" w="8229918">
                <a:moveTo>
                  <a:pt x="0" y="0"/>
                </a:moveTo>
                <a:lnTo>
                  <a:pt x="8229919" y="0"/>
                </a:lnTo>
                <a:lnTo>
                  <a:pt x="8229919" y="4597036"/>
                </a:lnTo>
                <a:lnTo>
                  <a:pt x="0" y="4597036"/>
                </a:lnTo>
                <a:lnTo>
                  <a:pt x="0" y="0"/>
                </a:lnTo>
                <a:close/>
              </a:path>
            </a:pathLst>
          </a:custGeom>
          <a:blipFill>
            <a:blip r:embed="rId2"/>
            <a:stretch>
              <a:fillRect l="0" t="-3819" r="0" b="-3819"/>
            </a:stretch>
          </a:blipFill>
        </p:spPr>
      </p:sp>
      <p:sp>
        <p:nvSpPr>
          <p:cNvPr name="Freeform 3" id="3"/>
          <p:cNvSpPr/>
          <p:nvPr/>
        </p:nvSpPr>
        <p:spPr>
          <a:xfrm flipH="false" flipV="false" rot="0">
            <a:off x="10196966" y="1028700"/>
            <a:ext cx="7153582" cy="5076406"/>
          </a:xfrm>
          <a:custGeom>
            <a:avLst/>
            <a:gdLst/>
            <a:ahLst/>
            <a:cxnLst/>
            <a:rect r="r" b="b" t="t" l="l"/>
            <a:pathLst>
              <a:path h="5076406" w="7153582">
                <a:moveTo>
                  <a:pt x="0" y="0"/>
                </a:moveTo>
                <a:lnTo>
                  <a:pt x="7153583" y="0"/>
                </a:lnTo>
                <a:lnTo>
                  <a:pt x="7153583" y="5076406"/>
                </a:lnTo>
                <a:lnTo>
                  <a:pt x="0" y="5076406"/>
                </a:lnTo>
                <a:lnTo>
                  <a:pt x="0" y="0"/>
                </a:lnTo>
                <a:close/>
              </a:path>
            </a:pathLst>
          </a:custGeom>
          <a:blipFill>
            <a:blip r:embed="rId3"/>
            <a:stretch>
              <a:fillRect l="0" t="-5966" r="0" b="-5966"/>
            </a:stretch>
          </a:blipFill>
        </p:spPr>
      </p:sp>
      <p:sp>
        <p:nvSpPr>
          <p:cNvPr name="TextBox 4" id="4"/>
          <p:cNvSpPr txBox="true"/>
          <p:nvPr/>
        </p:nvSpPr>
        <p:spPr>
          <a:xfrm rot="0">
            <a:off x="477030" y="263087"/>
            <a:ext cx="525899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2.1: Thêm thông tin sách</a:t>
            </a:r>
          </a:p>
        </p:txBody>
      </p:sp>
      <p:sp>
        <p:nvSpPr>
          <p:cNvPr name="TextBox 5" id="5"/>
          <p:cNvSpPr txBox="true"/>
          <p:nvPr/>
        </p:nvSpPr>
        <p:spPr>
          <a:xfrm rot="0">
            <a:off x="347226" y="5698293"/>
            <a:ext cx="8229918"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(Lưu ý: Link ảnh được lấy đến đường dẫn ảnh trong folder của solution.)</a:t>
            </a:r>
          </a:p>
        </p:txBody>
      </p:sp>
      <p:sp>
        <p:nvSpPr>
          <p:cNvPr name="TextBox 6" id="6"/>
          <p:cNvSpPr txBox="true"/>
          <p:nvPr/>
        </p:nvSpPr>
        <p:spPr>
          <a:xfrm rot="0">
            <a:off x="9629192" y="367862"/>
            <a:ext cx="828913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2.2: Tìm kiếm thông tin sách bằng “Tên Sách”</a:t>
            </a:r>
          </a:p>
        </p:txBody>
      </p:sp>
      <p:sp>
        <p:nvSpPr>
          <p:cNvPr name="TextBox 7" id="7"/>
          <p:cNvSpPr txBox="true"/>
          <p:nvPr/>
        </p:nvSpPr>
        <p:spPr>
          <a:xfrm rot="0">
            <a:off x="855218" y="6850789"/>
            <a:ext cx="687466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hiển thị thông tin thêm thành công.</a:t>
            </a:r>
          </a:p>
        </p:txBody>
      </p:sp>
    </p:spTree>
  </p:cSld>
  <p:clrMapOvr>
    <a:masterClrMapping/>
  </p:clrMapOvr>
</p:sld>
</file>

<file path=ppt/slides/slide16.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298549" y="1284606"/>
            <a:ext cx="7076013" cy="4921714"/>
          </a:xfrm>
          <a:custGeom>
            <a:avLst/>
            <a:gdLst/>
            <a:ahLst/>
            <a:cxnLst/>
            <a:rect r="r" b="b" t="t" l="l"/>
            <a:pathLst>
              <a:path h="4921714" w="7076013">
                <a:moveTo>
                  <a:pt x="0" y="0"/>
                </a:moveTo>
                <a:lnTo>
                  <a:pt x="7076013" y="0"/>
                </a:lnTo>
                <a:lnTo>
                  <a:pt x="7076013" y="4921714"/>
                </a:lnTo>
                <a:lnTo>
                  <a:pt x="0" y="4921714"/>
                </a:lnTo>
                <a:lnTo>
                  <a:pt x="0" y="0"/>
                </a:lnTo>
                <a:close/>
              </a:path>
            </a:pathLst>
          </a:custGeom>
          <a:blipFill>
            <a:blip r:embed="rId2"/>
            <a:stretch>
              <a:fillRect l="0" t="-12682" r="0" b="-12682"/>
            </a:stretch>
          </a:blipFill>
        </p:spPr>
      </p:sp>
      <p:sp>
        <p:nvSpPr>
          <p:cNvPr name="Freeform 3" id="3"/>
          <p:cNvSpPr/>
          <p:nvPr/>
        </p:nvSpPr>
        <p:spPr>
          <a:xfrm flipH="false" flipV="false" rot="0">
            <a:off x="9033244" y="1437802"/>
            <a:ext cx="7555472" cy="5506234"/>
          </a:xfrm>
          <a:custGeom>
            <a:avLst/>
            <a:gdLst/>
            <a:ahLst/>
            <a:cxnLst/>
            <a:rect r="r" b="b" t="t" l="l"/>
            <a:pathLst>
              <a:path h="5506234" w="7555472">
                <a:moveTo>
                  <a:pt x="0" y="0"/>
                </a:moveTo>
                <a:lnTo>
                  <a:pt x="7555473" y="0"/>
                </a:lnTo>
                <a:lnTo>
                  <a:pt x="7555473" y="5506233"/>
                </a:lnTo>
                <a:lnTo>
                  <a:pt x="0" y="5506233"/>
                </a:lnTo>
                <a:lnTo>
                  <a:pt x="0" y="0"/>
                </a:lnTo>
                <a:close/>
              </a:path>
            </a:pathLst>
          </a:custGeom>
          <a:blipFill>
            <a:blip r:embed="rId3"/>
            <a:stretch>
              <a:fillRect l="0" t="-9098" r="0" b="-9098"/>
            </a:stretch>
          </a:blipFill>
        </p:spPr>
      </p:sp>
      <p:sp>
        <p:nvSpPr>
          <p:cNvPr name="TextBox 4" id="4"/>
          <p:cNvSpPr txBox="true"/>
          <p:nvPr/>
        </p:nvSpPr>
        <p:spPr>
          <a:xfrm rot="0">
            <a:off x="298549" y="317066"/>
            <a:ext cx="6548411"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2.3: Tìm kiếm thông tin sách bằng “Loại Sách”</a:t>
            </a:r>
          </a:p>
        </p:txBody>
      </p:sp>
      <p:sp>
        <p:nvSpPr>
          <p:cNvPr name="TextBox 5" id="5"/>
          <p:cNvSpPr txBox="true"/>
          <p:nvPr/>
        </p:nvSpPr>
        <p:spPr>
          <a:xfrm rot="0">
            <a:off x="8873360" y="317066"/>
            <a:ext cx="7875240"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2.4: Tìm kiếm thông tin sách bằng giá tiền.</a:t>
            </a:r>
          </a:p>
        </p:txBody>
      </p:sp>
      <p:sp>
        <p:nvSpPr>
          <p:cNvPr name="TextBox 6" id="6"/>
          <p:cNvSpPr txBox="true"/>
          <p:nvPr/>
        </p:nvSpPr>
        <p:spPr>
          <a:xfrm rot="0">
            <a:off x="9604228" y="7080600"/>
            <a:ext cx="6413505"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(Lưu ý: Tìm kiếm chỉ áp dụng cho những sản phẩm có giá thấp hơn giá tiền nhập).</a:t>
            </a:r>
          </a:p>
        </p:txBody>
      </p:sp>
    </p:spTree>
  </p:cSld>
  <p:clrMapOvr>
    <a:masterClrMapping/>
  </p:clrMapOvr>
</p:sld>
</file>

<file path=ppt/slides/slide17.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580111" y="691175"/>
            <a:ext cx="8397722" cy="4250931"/>
          </a:xfrm>
          <a:custGeom>
            <a:avLst/>
            <a:gdLst/>
            <a:ahLst/>
            <a:cxnLst/>
            <a:rect r="r" b="b" t="t" l="l"/>
            <a:pathLst>
              <a:path h="4250931" w="8397722">
                <a:moveTo>
                  <a:pt x="0" y="0"/>
                </a:moveTo>
                <a:lnTo>
                  <a:pt x="8397723" y="0"/>
                </a:lnTo>
                <a:lnTo>
                  <a:pt x="8397723" y="4250931"/>
                </a:lnTo>
                <a:lnTo>
                  <a:pt x="0" y="4250931"/>
                </a:lnTo>
                <a:lnTo>
                  <a:pt x="0" y="0"/>
                </a:lnTo>
                <a:close/>
              </a:path>
            </a:pathLst>
          </a:custGeom>
          <a:blipFill>
            <a:blip r:embed="rId2"/>
            <a:stretch>
              <a:fillRect l="0" t="-9141" r="0" b="-9141"/>
            </a:stretch>
          </a:blipFill>
        </p:spPr>
      </p:sp>
      <p:sp>
        <p:nvSpPr>
          <p:cNvPr name="Freeform 3" id="3"/>
          <p:cNvSpPr/>
          <p:nvPr/>
        </p:nvSpPr>
        <p:spPr>
          <a:xfrm flipH="false" flipV="false" rot="0">
            <a:off x="9397438" y="931347"/>
            <a:ext cx="8304196" cy="2742696"/>
          </a:xfrm>
          <a:custGeom>
            <a:avLst/>
            <a:gdLst/>
            <a:ahLst/>
            <a:cxnLst/>
            <a:rect r="r" b="b" t="t" l="l"/>
            <a:pathLst>
              <a:path h="2742696" w="8304196">
                <a:moveTo>
                  <a:pt x="0" y="0"/>
                </a:moveTo>
                <a:lnTo>
                  <a:pt x="8304196" y="0"/>
                </a:lnTo>
                <a:lnTo>
                  <a:pt x="8304196" y="2742696"/>
                </a:lnTo>
                <a:lnTo>
                  <a:pt x="0" y="2742696"/>
                </a:lnTo>
                <a:lnTo>
                  <a:pt x="0" y="0"/>
                </a:lnTo>
                <a:close/>
              </a:path>
            </a:pathLst>
          </a:custGeom>
          <a:blipFill>
            <a:blip r:embed="rId3"/>
            <a:stretch>
              <a:fillRect l="0" t="0" r="0" b="-26030"/>
            </a:stretch>
          </a:blipFill>
        </p:spPr>
      </p:sp>
      <p:sp>
        <p:nvSpPr>
          <p:cNvPr name="Freeform 4" id="4"/>
          <p:cNvSpPr/>
          <p:nvPr/>
        </p:nvSpPr>
        <p:spPr>
          <a:xfrm flipH="false" flipV="false" rot="0">
            <a:off x="490145" y="5955015"/>
            <a:ext cx="8525789" cy="4331985"/>
          </a:xfrm>
          <a:custGeom>
            <a:avLst/>
            <a:gdLst/>
            <a:ahLst/>
            <a:cxnLst/>
            <a:rect r="r" b="b" t="t" l="l"/>
            <a:pathLst>
              <a:path h="4331985" w="8525789">
                <a:moveTo>
                  <a:pt x="0" y="0"/>
                </a:moveTo>
                <a:lnTo>
                  <a:pt x="8525789" y="0"/>
                </a:lnTo>
                <a:lnTo>
                  <a:pt x="8525789" y="4331985"/>
                </a:lnTo>
                <a:lnTo>
                  <a:pt x="0" y="4331985"/>
                </a:lnTo>
                <a:lnTo>
                  <a:pt x="0" y="0"/>
                </a:lnTo>
                <a:close/>
              </a:path>
            </a:pathLst>
          </a:custGeom>
          <a:blipFill>
            <a:blip r:embed="rId4"/>
            <a:stretch>
              <a:fillRect l="0" t="-9904" r="0" b="-9904"/>
            </a:stretch>
          </a:blipFill>
        </p:spPr>
      </p:sp>
      <p:sp>
        <p:nvSpPr>
          <p:cNvPr name="Freeform 5" id="5"/>
          <p:cNvSpPr/>
          <p:nvPr/>
        </p:nvSpPr>
        <p:spPr>
          <a:xfrm flipH="false" flipV="false" rot="0">
            <a:off x="9570661" y="5955015"/>
            <a:ext cx="8228326" cy="2687422"/>
          </a:xfrm>
          <a:custGeom>
            <a:avLst/>
            <a:gdLst/>
            <a:ahLst/>
            <a:cxnLst/>
            <a:rect r="r" b="b" t="t" l="l"/>
            <a:pathLst>
              <a:path h="2687422" w="8228326">
                <a:moveTo>
                  <a:pt x="0" y="0"/>
                </a:moveTo>
                <a:lnTo>
                  <a:pt x="8228326" y="0"/>
                </a:lnTo>
                <a:lnTo>
                  <a:pt x="8228326" y="2687421"/>
                </a:lnTo>
                <a:lnTo>
                  <a:pt x="0" y="2687421"/>
                </a:lnTo>
                <a:lnTo>
                  <a:pt x="0" y="0"/>
                </a:lnTo>
                <a:close/>
              </a:path>
            </a:pathLst>
          </a:custGeom>
          <a:blipFill>
            <a:blip r:embed="rId5"/>
            <a:stretch>
              <a:fillRect l="0" t="-7301" r="0" b="-47149"/>
            </a:stretch>
          </a:blipFill>
        </p:spPr>
      </p:sp>
      <p:sp>
        <p:nvSpPr>
          <p:cNvPr name="TextBox 6" id="6"/>
          <p:cNvSpPr txBox="true"/>
          <p:nvPr/>
        </p:nvSpPr>
        <p:spPr>
          <a:xfrm rot="0">
            <a:off x="618211" y="260446"/>
            <a:ext cx="5933777"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2.5: Chỉnh sửa thông tin sách</a:t>
            </a:r>
          </a:p>
        </p:txBody>
      </p:sp>
      <p:sp>
        <p:nvSpPr>
          <p:cNvPr name="TextBox 7" id="7"/>
          <p:cNvSpPr txBox="true"/>
          <p:nvPr/>
        </p:nvSpPr>
        <p:spPr>
          <a:xfrm rot="0">
            <a:off x="9144000" y="4133579"/>
            <a:ext cx="881107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chỉnh sửa hệ thống sẽ hiển thị lại thông tin vừa sửa.</a:t>
            </a:r>
          </a:p>
        </p:txBody>
      </p:sp>
      <p:sp>
        <p:nvSpPr>
          <p:cNvPr name="TextBox 8" id="8"/>
          <p:cNvSpPr txBox="true"/>
          <p:nvPr/>
        </p:nvSpPr>
        <p:spPr>
          <a:xfrm rot="0">
            <a:off x="490145" y="5430242"/>
            <a:ext cx="5003304"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2.6: Xóa thông tin sách</a:t>
            </a:r>
          </a:p>
        </p:txBody>
      </p:sp>
      <p:sp>
        <p:nvSpPr>
          <p:cNvPr name="TextBox 9" id="9"/>
          <p:cNvSpPr txBox="true"/>
          <p:nvPr/>
        </p:nvSpPr>
        <p:spPr>
          <a:xfrm rot="0">
            <a:off x="9399318" y="9099636"/>
            <a:ext cx="8571012"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hệ thống hiển thị lại thông tin sách sau khi xóa.</a:t>
            </a:r>
          </a:p>
        </p:txBody>
      </p:sp>
    </p:spTree>
  </p:cSld>
  <p:clrMapOvr>
    <a:masterClrMapping/>
  </p:clrMapOvr>
</p:sld>
</file>

<file path=ppt/slides/slide18.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7926778" y="709837"/>
            <a:ext cx="9746513" cy="4678032"/>
          </a:xfrm>
          <a:custGeom>
            <a:avLst/>
            <a:gdLst/>
            <a:ahLst/>
            <a:cxnLst/>
            <a:rect r="r" b="b" t="t" l="l"/>
            <a:pathLst>
              <a:path h="4678032" w="9746513">
                <a:moveTo>
                  <a:pt x="0" y="0"/>
                </a:moveTo>
                <a:lnTo>
                  <a:pt x="9746513" y="0"/>
                </a:lnTo>
                <a:lnTo>
                  <a:pt x="9746513" y="4678033"/>
                </a:lnTo>
                <a:lnTo>
                  <a:pt x="0" y="4678033"/>
                </a:lnTo>
                <a:lnTo>
                  <a:pt x="0" y="0"/>
                </a:lnTo>
                <a:close/>
              </a:path>
            </a:pathLst>
          </a:custGeom>
          <a:blipFill>
            <a:blip r:embed="rId2"/>
            <a:stretch>
              <a:fillRect l="0" t="-4821" r="0" b="-4821"/>
            </a:stretch>
          </a:blipFill>
        </p:spPr>
      </p:sp>
      <p:sp>
        <p:nvSpPr>
          <p:cNvPr name="Freeform 3" id="3"/>
          <p:cNvSpPr/>
          <p:nvPr/>
        </p:nvSpPr>
        <p:spPr>
          <a:xfrm flipH="false" flipV="false" rot="0">
            <a:off x="101008" y="5910488"/>
            <a:ext cx="7478560" cy="4173537"/>
          </a:xfrm>
          <a:custGeom>
            <a:avLst/>
            <a:gdLst/>
            <a:ahLst/>
            <a:cxnLst/>
            <a:rect r="r" b="b" t="t" l="l"/>
            <a:pathLst>
              <a:path h="4173537" w="7478560">
                <a:moveTo>
                  <a:pt x="0" y="0"/>
                </a:moveTo>
                <a:lnTo>
                  <a:pt x="7478560" y="0"/>
                </a:lnTo>
                <a:lnTo>
                  <a:pt x="7478560" y="4173537"/>
                </a:lnTo>
                <a:lnTo>
                  <a:pt x="0" y="4173537"/>
                </a:lnTo>
                <a:lnTo>
                  <a:pt x="0" y="0"/>
                </a:lnTo>
                <a:close/>
              </a:path>
            </a:pathLst>
          </a:custGeom>
          <a:blipFill>
            <a:blip r:embed="rId3"/>
            <a:stretch>
              <a:fillRect l="0" t="-6220" r="0" b="-6220"/>
            </a:stretch>
          </a:blipFill>
        </p:spPr>
      </p:sp>
      <p:grpSp>
        <p:nvGrpSpPr>
          <p:cNvPr name="Group 4" id="4"/>
          <p:cNvGrpSpPr/>
          <p:nvPr/>
        </p:nvGrpSpPr>
        <p:grpSpPr>
          <a:xfrm rot="0">
            <a:off x="6408065" y="2074618"/>
            <a:ext cx="1203933" cy="1203933"/>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6" id="6"/>
            <p:cNvSpPr txBox="true"/>
            <p:nvPr/>
          </p:nvSpPr>
          <p:spPr>
            <a:xfrm>
              <a:off x="0" y="165100"/>
              <a:ext cx="711200" cy="444500"/>
            </a:xfrm>
            <a:prstGeom prst="rect">
              <a:avLst/>
            </a:prstGeom>
          </p:spPr>
          <p:txBody>
            <a:bodyPr anchor="ctr" rtlCol="false" tIns="50800" lIns="50800" bIns="50800" rIns="50800"/>
            <a:lstStyle/>
            <a:p>
              <a:pPr algn="ctr">
                <a:lnSpc>
                  <a:spcPts val="2659"/>
                </a:lnSpc>
                <a:spcBef>
                  <a:spcPct val="0"/>
                </a:spcBef>
              </a:pPr>
            </a:p>
          </p:txBody>
        </p:sp>
      </p:grpSp>
      <p:sp>
        <p:nvSpPr>
          <p:cNvPr name="TextBox 7" id="7"/>
          <p:cNvSpPr txBox="true"/>
          <p:nvPr/>
        </p:nvSpPr>
        <p:spPr>
          <a:xfrm rot="0">
            <a:off x="101008" y="252637"/>
            <a:ext cx="5235327"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Chức năng 3: Quản Lý Nhân Viên</a:t>
            </a:r>
          </a:p>
        </p:txBody>
      </p:sp>
      <p:sp>
        <p:nvSpPr>
          <p:cNvPr name="TextBox 8" id="8"/>
          <p:cNvSpPr txBox="true"/>
          <p:nvPr/>
        </p:nvSpPr>
        <p:spPr>
          <a:xfrm rot="0">
            <a:off x="268916" y="2084143"/>
            <a:ext cx="5824370" cy="12477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hệ thống hiển thị thông tin nhân viên sau khi Quản Trị Viên chọn chức năng “Quản Lý Nhân Viên”.</a:t>
            </a:r>
          </a:p>
        </p:txBody>
      </p:sp>
      <p:sp>
        <p:nvSpPr>
          <p:cNvPr name="TextBox 9" id="9"/>
          <p:cNvSpPr txBox="true"/>
          <p:nvPr/>
        </p:nvSpPr>
        <p:spPr>
          <a:xfrm rot="0">
            <a:off x="0" y="5500913"/>
            <a:ext cx="8039255"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3.1:Tìm kiếm nhân viên bằng tên nhân viên</a:t>
            </a:r>
          </a:p>
        </p:txBody>
      </p:sp>
    </p:spTree>
  </p:cSld>
  <p:clrMapOvr>
    <a:masterClrMapping/>
  </p:clrMapOvr>
</p:sld>
</file>

<file path=ppt/slides/slide19.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537219" y="833296"/>
            <a:ext cx="7907522" cy="3891104"/>
          </a:xfrm>
          <a:custGeom>
            <a:avLst/>
            <a:gdLst/>
            <a:ahLst/>
            <a:cxnLst/>
            <a:rect r="r" b="b" t="t" l="l"/>
            <a:pathLst>
              <a:path h="3891104" w="7907522">
                <a:moveTo>
                  <a:pt x="0" y="0"/>
                </a:moveTo>
                <a:lnTo>
                  <a:pt x="7907522" y="0"/>
                </a:lnTo>
                <a:lnTo>
                  <a:pt x="7907522" y="3891104"/>
                </a:lnTo>
                <a:lnTo>
                  <a:pt x="0" y="3891104"/>
                </a:lnTo>
                <a:lnTo>
                  <a:pt x="0" y="0"/>
                </a:lnTo>
                <a:close/>
              </a:path>
            </a:pathLst>
          </a:custGeom>
          <a:blipFill>
            <a:blip r:embed="rId2"/>
            <a:stretch>
              <a:fillRect l="0" t="-7695" r="0" b="-7695"/>
            </a:stretch>
          </a:blipFill>
        </p:spPr>
      </p:sp>
      <p:sp>
        <p:nvSpPr>
          <p:cNvPr name="Freeform 3" id="3"/>
          <p:cNvSpPr/>
          <p:nvPr/>
        </p:nvSpPr>
        <p:spPr>
          <a:xfrm flipH="false" flipV="false" rot="0">
            <a:off x="284925" y="5520218"/>
            <a:ext cx="9048806" cy="4766782"/>
          </a:xfrm>
          <a:custGeom>
            <a:avLst/>
            <a:gdLst/>
            <a:ahLst/>
            <a:cxnLst/>
            <a:rect r="r" b="b" t="t" l="l"/>
            <a:pathLst>
              <a:path h="4766782" w="9048806">
                <a:moveTo>
                  <a:pt x="0" y="0"/>
                </a:moveTo>
                <a:lnTo>
                  <a:pt x="9048806" y="0"/>
                </a:lnTo>
                <a:lnTo>
                  <a:pt x="9048806" y="4766782"/>
                </a:lnTo>
                <a:lnTo>
                  <a:pt x="0" y="4766782"/>
                </a:lnTo>
                <a:lnTo>
                  <a:pt x="0" y="0"/>
                </a:lnTo>
                <a:close/>
              </a:path>
            </a:pathLst>
          </a:custGeom>
          <a:blipFill>
            <a:blip r:embed="rId3"/>
            <a:stretch>
              <a:fillRect l="0" t="0" r="0" b="0"/>
            </a:stretch>
          </a:blipFill>
        </p:spPr>
      </p:sp>
      <p:grpSp>
        <p:nvGrpSpPr>
          <p:cNvPr name="Group 4" id="4"/>
          <p:cNvGrpSpPr/>
          <p:nvPr/>
        </p:nvGrpSpPr>
        <p:grpSpPr>
          <a:xfrm rot="-10800000">
            <a:off x="8636263" y="1583972"/>
            <a:ext cx="1015475" cy="1015475"/>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95C4E"/>
            </a:solidFill>
          </p:spPr>
        </p:sp>
        <p:sp>
          <p:nvSpPr>
            <p:cNvPr name="TextBox 6" id="6"/>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Freeform 7" id="7"/>
          <p:cNvSpPr/>
          <p:nvPr/>
        </p:nvSpPr>
        <p:spPr>
          <a:xfrm flipH="false" flipV="false" rot="0">
            <a:off x="9651737" y="7082318"/>
            <a:ext cx="8599100" cy="2402690"/>
          </a:xfrm>
          <a:custGeom>
            <a:avLst/>
            <a:gdLst/>
            <a:ahLst/>
            <a:cxnLst/>
            <a:rect r="r" b="b" t="t" l="l"/>
            <a:pathLst>
              <a:path h="2402690" w="8599100">
                <a:moveTo>
                  <a:pt x="0" y="0"/>
                </a:moveTo>
                <a:lnTo>
                  <a:pt x="8599100" y="0"/>
                </a:lnTo>
                <a:lnTo>
                  <a:pt x="8599100" y="2402690"/>
                </a:lnTo>
                <a:lnTo>
                  <a:pt x="0" y="2402690"/>
                </a:lnTo>
                <a:lnTo>
                  <a:pt x="0" y="0"/>
                </a:lnTo>
                <a:close/>
              </a:path>
            </a:pathLst>
          </a:custGeom>
          <a:blipFill>
            <a:blip r:embed="rId4"/>
            <a:stretch>
              <a:fillRect l="0" t="0" r="0" b="0"/>
            </a:stretch>
          </a:blipFill>
        </p:spPr>
      </p:sp>
      <p:sp>
        <p:nvSpPr>
          <p:cNvPr name="TextBox 8" id="8"/>
          <p:cNvSpPr txBox="true"/>
          <p:nvPr/>
        </p:nvSpPr>
        <p:spPr>
          <a:xfrm rot="0">
            <a:off x="180256" y="326368"/>
            <a:ext cx="970019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3.2:Tìm kiếm nhân viên bằng trạng thái của nhân viên</a:t>
            </a:r>
          </a:p>
        </p:txBody>
      </p:sp>
      <p:sp>
        <p:nvSpPr>
          <p:cNvPr name="TextBox 9" id="9"/>
          <p:cNvSpPr txBox="true"/>
          <p:nvPr/>
        </p:nvSpPr>
        <p:spPr>
          <a:xfrm rot="0">
            <a:off x="849463" y="5110643"/>
            <a:ext cx="4624536"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3.3: Thêm nhân viên</a:t>
            </a:r>
          </a:p>
        </p:txBody>
      </p:sp>
      <p:sp>
        <p:nvSpPr>
          <p:cNvPr name="TextBox 10" id="10"/>
          <p:cNvSpPr txBox="true"/>
          <p:nvPr/>
        </p:nvSpPr>
        <p:spPr>
          <a:xfrm rot="0">
            <a:off x="10376132" y="5320193"/>
            <a:ext cx="7150310"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thêm thành công nhân viên màn hình hệ thống hiển thị thông tin sinh viên đã thêm</a:t>
            </a:r>
          </a:p>
        </p:txBody>
      </p:sp>
      <p:sp>
        <p:nvSpPr>
          <p:cNvPr name="TextBox 11" id="11"/>
          <p:cNvSpPr txBox="true"/>
          <p:nvPr/>
        </p:nvSpPr>
        <p:spPr>
          <a:xfrm rot="0">
            <a:off x="9707914" y="1682134"/>
            <a:ext cx="5274987"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Chọn</a:t>
            </a:r>
            <a:r>
              <a:rPr lang="en-US" sz="2799">
                <a:solidFill>
                  <a:srgbClr val="000000"/>
                </a:solidFill>
                <a:latin typeface="Faustina"/>
                <a:ea typeface="Faustina"/>
                <a:cs typeface="Faustina"/>
                <a:sym typeface="Faustina"/>
              </a:rPr>
              <a:t> trạng thái của nhân viên cần tìm kiếm màn hình hiển thị</a:t>
            </a:r>
          </a:p>
        </p:txBody>
      </p:sp>
      <p:grpSp>
        <p:nvGrpSpPr>
          <p:cNvPr name="Group 12" id="12"/>
          <p:cNvGrpSpPr/>
          <p:nvPr/>
        </p:nvGrpSpPr>
        <p:grpSpPr>
          <a:xfrm rot="5400000">
            <a:off x="12991087" y="6229548"/>
            <a:ext cx="772091" cy="772091"/>
            <a:chOff x="0" y="0"/>
            <a:chExt cx="812800" cy="812800"/>
          </a:xfrm>
        </p:grpSpPr>
        <p:sp>
          <p:nvSpPr>
            <p:cNvPr name="Freeform 13" id="13"/>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95C4E"/>
            </a:solidFill>
          </p:spPr>
        </p:sp>
        <p:sp>
          <p:nvSpPr>
            <p:cNvPr name="TextBox 14" id="14"/>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20.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348077" y="711891"/>
            <a:ext cx="9194761" cy="4002398"/>
          </a:xfrm>
          <a:custGeom>
            <a:avLst/>
            <a:gdLst/>
            <a:ahLst/>
            <a:cxnLst/>
            <a:rect r="r" b="b" t="t" l="l"/>
            <a:pathLst>
              <a:path h="4002398" w="9194761">
                <a:moveTo>
                  <a:pt x="0" y="0"/>
                </a:moveTo>
                <a:lnTo>
                  <a:pt x="9194761" y="0"/>
                </a:lnTo>
                <a:lnTo>
                  <a:pt x="9194761" y="4002398"/>
                </a:lnTo>
                <a:lnTo>
                  <a:pt x="0" y="4002398"/>
                </a:lnTo>
                <a:lnTo>
                  <a:pt x="0" y="0"/>
                </a:lnTo>
                <a:close/>
              </a:path>
            </a:pathLst>
          </a:custGeom>
          <a:blipFill>
            <a:blip r:embed="rId2"/>
            <a:stretch>
              <a:fillRect l="0" t="-10385" r="0" b="-10385"/>
            </a:stretch>
          </a:blipFill>
        </p:spPr>
      </p:sp>
      <p:sp>
        <p:nvSpPr>
          <p:cNvPr name="Freeform 3" id="3"/>
          <p:cNvSpPr/>
          <p:nvPr/>
        </p:nvSpPr>
        <p:spPr>
          <a:xfrm flipH="false" flipV="false" rot="0">
            <a:off x="9909167" y="1028700"/>
            <a:ext cx="8020313" cy="2639468"/>
          </a:xfrm>
          <a:custGeom>
            <a:avLst/>
            <a:gdLst/>
            <a:ahLst/>
            <a:cxnLst/>
            <a:rect r="r" b="b" t="t" l="l"/>
            <a:pathLst>
              <a:path h="2639468" w="8020313">
                <a:moveTo>
                  <a:pt x="0" y="0"/>
                </a:moveTo>
                <a:lnTo>
                  <a:pt x="8020313" y="0"/>
                </a:lnTo>
                <a:lnTo>
                  <a:pt x="8020313" y="2639468"/>
                </a:lnTo>
                <a:lnTo>
                  <a:pt x="0" y="2639468"/>
                </a:lnTo>
                <a:lnTo>
                  <a:pt x="0" y="0"/>
                </a:lnTo>
                <a:close/>
              </a:path>
            </a:pathLst>
          </a:custGeom>
          <a:blipFill>
            <a:blip r:embed="rId3"/>
            <a:stretch>
              <a:fillRect l="0" t="0" r="0" b="0"/>
            </a:stretch>
          </a:blipFill>
        </p:spPr>
      </p:sp>
      <p:sp>
        <p:nvSpPr>
          <p:cNvPr name="Freeform 4" id="4"/>
          <p:cNvSpPr/>
          <p:nvPr/>
        </p:nvSpPr>
        <p:spPr>
          <a:xfrm flipH="false" flipV="false" rot="0">
            <a:off x="156108" y="5745993"/>
            <a:ext cx="9386730" cy="4306599"/>
          </a:xfrm>
          <a:custGeom>
            <a:avLst/>
            <a:gdLst/>
            <a:ahLst/>
            <a:cxnLst/>
            <a:rect r="r" b="b" t="t" l="l"/>
            <a:pathLst>
              <a:path h="4306599" w="9386730">
                <a:moveTo>
                  <a:pt x="0" y="0"/>
                </a:moveTo>
                <a:lnTo>
                  <a:pt x="9386730" y="0"/>
                </a:lnTo>
                <a:lnTo>
                  <a:pt x="9386730" y="4306599"/>
                </a:lnTo>
                <a:lnTo>
                  <a:pt x="0" y="4306599"/>
                </a:lnTo>
                <a:lnTo>
                  <a:pt x="0" y="0"/>
                </a:lnTo>
                <a:close/>
              </a:path>
            </a:pathLst>
          </a:custGeom>
          <a:blipFill>
            <a:blip r:embed="rId4"/>
            <a:stretch>
              <a:fillRect l="0" t="-4421" r="0" b="-4421"/>
            </a:stretch>
          </a:blipFill>
        </p:spPr>
      </p:sp>
      <p:sp>
        <p:nvSpPr>
          <p:cNvPr name="Freeform 5" id="5"/>
          <p:cNvSpPr/>
          <p:nvPr/>
        </p:nvSpPr>
        <p:spPr>
          <a:xfrm flipH="false" flipV="false" rot="0">
            <a:off x="9985933" y="5953074"/>
            <a:ext cx="7943547" cy="2273955"/>
          </a:xfrm>
          <a:custGeom>
            <a:avLst/>
            <a:gdLst/>
            <a:ahLst/>
            <a:cxnLst/>
            <a:rect r="r" b="b" t="t" l="l"/>
            <a:pathLst>
              <a:path h="2273955" w="7943547">
                <a:moveTo>
                  <a:pt x="0" y="0"/>
                </a:moveTo>
                <a:lnTo>
                  <a:pt x="7943547" y="0"/>
                </a:lnTo>
                <a:lnTo>
                  <a:pt x="7943547" y="2273956"/>
                </a:lnTo>
                <a:lnTo>
                  <a:pt x="0" y="2273956"/>
                </a:lnTo>
                <a:lnTo>
                  <a:pt x="0" y="0"/>
                </a:lnTo>
                <a:close/>
              </a:path>
            </a:pathLst>
          </a:custGeom>
          <a:blipFill>
            <a:blip r:embed="rId5"/>
            <a:stretch>
              <a:fillRect l="0" t="0" r="0" b="0"/>
            </a:stretch>
          </a:blipFill>
        </p:spPr>
      </p:sp>
      <p:sp>
        <p:nvSpPr>
          <p:cNvPr name="TextBox 6" id="6"/>
          <p:cNvSpPr txBox="true"/>
          <p:nvPr/>
        </p:nvSpPr>
        <p:spPr>
          <a:xfrm rot="0">
            <a:off x="348077" y="311841"/>
            <a:ext cx="570726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3.4:Sửa thông tin nhân viên</a:t>
            </a:r>
          </a:p>
        </p:txBody>
      </p:sp>
      <p:sp>
        <p:nvSpPr>
          <p:cNvPr name="TextBox 7" id="7"/>
          <p:cNvSpPr txBox="true"/>
          <p:nvPr/>
        </p:nvSpPr>
        <p:spPr>
          <a:xfrm rot="0">
            <a:off x="9985933" y="3961814"/>
            <a:ext cx="7866782"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hệ thống hiển thị thông tin nhân viên đã chỉnh sau khi Quản trị viên chỉnh sửa thành công.</a:t>
            </a:r>
          </a:p>
        </p:txBody>
      </p:sp>
      <p:sp>
        <p:nvSpPr>
          <p:cNvPr name="TextBox 8" id="8"/>
          <p:cNvSpPr txBox="true"/>
          <p:nvPr/>
        </p:nvSpPr>
        <p:spPr>
          <a:xfrm rot="0">
            <a:off x="449162" y="5336418"/>
            <a:ext cx="4253805"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3.5:Xóa nhân viên</a:t>
            </a:r>
          </a:p>
        </p:txBody>
      </p:sp>
      <p:sp>
        <p:nvSpPr>
          <p:cNvPr name="TextBox 9" id="9"/>
          <p:cNvSpPr txBox="true"/>
          <p:nvPr/>
        </p:nvSpPr>
        <p:spPr>
          <a:xfrm rot="0">
            <a:off x="9985933" y="8659132"/>
            <a:ext cx="7348043"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hệ thống hiển thị lại dữ liệu của nhân viên sau khi Quản trị viên xóa thành công.</a:t>
            </a:r>
          </a:p>
        </p:txBody>
      </p:sp>
    </p:spTree>
  </p:cSld>
  <p:clrMapOvr>
    <a:masterClrMapping/>
  </p:clrMapOvr>
</p:sld>
</file>

<file path=ppt/slides/slide21.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233647" y="848838"/>
            <a:ext cx="9473033" cy="4218586"/>
          </a:xfrm>
          <a:custGeom>
            <a:avLst/>
            <a:gdLst/>
            <a:ahLst/>
            <a:cxnLst/>
            <a:rect r="r" b="b" t="t" l="l"/>
            <a:pathLst>
              <a:path h="4218586" w="9473033">
                <a:moveTo>
                  <a:pt x="0" y="0"/>
                </a:moveTo>
                <a:lnTo>
                  <a:pt x="9473032" y="0"/>
                </a:lnTo>
                <a:lnTo>
                  <a:pt x="9473032" y="4218586"/>
                </a:lnTo>
                <a:lnTo>
                  <a:pt x="0" y="4218586"/>
                </a:lnTo>
                <a:lnTo>
                  <a:pt x="0" y="0"/>
                </a:lnTo>
                <a:close/>
              </a:path>
            </a:pathLst>
          </a:custGeom>
          <a:blipFill>
            <a:blip r:embed="rId2"/>
            <a:stretch>
              <a:fillRect l="0" t="-9902" r="0" b="-9902"/>
            </a:stretch>
          </a:blipFill>
        </p:spPr>
      </p:sp>
      <p:sp>
        <p:nvSpPr>
          <p:cNvPr name="Freeform 3" id="3"/>
          <p:cNvSpPr/>
          <p:nvPr/>
        </p:nvSpPr>
        <p:spPr>
          <a:xfrm flipH="false" flipV="false" rot="0">
            <a:off x="10177415" y="848838"/>
            <a:ext cx="7850055" cy="2976225"/>
          </a:xfrm>
          <a:custGeom>
            <a:avLst/>
            <a:gdLst/>
            <a:ahLst/>
            <a:cxnLst/>
            <a:rect r="r" b="b" t="t" l="l"/>
            <a:pathLst>
              <a:path h="2976225" w="7850055">
                <a:moveTo>
                  <a:pt x="0" y="0"/>
                </a:moveTo>
                <a:lnTo>
                  <a:pt x="7850055" y="0"/>
                </a:lnTo>
                <a:lnTo>
                  <a:pt x="7850055" y="2976225"/>
                </a:lnTo>
                <a:lnTo>
                  <a:pt x="0" y="2976225"/>
                </a:lnTo>
                <a:lnTo>
                  <a:pt x="0" y="0"/>
                </a:lnTo>
                <a:close/>
              </a:path>
            </a:pathLst>
          </a:custGeom>
          <a:blipFill>
            <a:blip r:embed="rId3"/>
            <a:stretch>
              <a:fillRect l="0" t="-3779" r="0" b="-3779"/>
            </a:stretch>
          </a:blipFill>
        </p:spPr>
      </p:sp>
      <p:sp>
        <p:nvSpPr>
          <p:cNvPr name="Freeform 4" id="4"/>
          <p:cNvSpPr/>
          <p:nvPr/>
        </p:nvSpPr>
        <p:spPr>
          <a:xfrm flipH="false" flipV="false" rot="0">
            <a:off x="8993841" y="5639596"/>
            <a:ext cx="9134946" cy="4647404"/>
          </a:xfrm>
          <a:custGeom>
            <a:avLst/>
            <a:gdLst/>
            <a:ahLst/>
            <a:cxnLst/>
            <a:rect r="r" b="b" t="t" l="l"/>
            <a:pathLst>
              <a:path h="4647404" w="9134946">
                <a:moveTo>
                  <a:pt x="0" y="0"/>
                </a:moveTo>
                <a:lnTo>
                  <a:pt x="9134946" y="0"/>
                </a:lnTo>
                <a:lnTo>
                  <a:pt x="9134946" y="4647404"/>
                </a:lnTo>
                <a:lnTo>
                  <a:pt x="0" y="4647404"/>
                </a:lnTo>
                <a:lnTo>
                  <a:pt x="0" y="0"/>
                </a:lnTo>
                <a:close/>
              </a:path>
            </a:pathLst>
          </a:custGeom>
          <a:blipFill>
            <a:blip r:embed="rId4"/>
            <a:stretch>
              <a:fillRect l="0" t="0" r="0" b="0"/>
            </a:stretch>
          </a:blipFill>
        </p:spPr>
      </p:sp>
      <p:grpSp>
        <p:nvGrpSpPr>
          <p:cNvPr name="Group 5" id="5"/>
          <p:cNvGrpSpPr/>
          <p:nvPr/>
        </p:nvGrpSpPr>
        <p:grpSpPr>
          <a:xfrm rot="0">
            <a:off x="7656931" y="6963530"/>
            <a:ext cx="1122805" cy="1122805"/>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C65CA8"/>
            </a:solidFill>
          </p:spPr>
        </p:sp>
        <p:sp>
          <p:nvSpPr>
            <p:cNvPr name="TextBox 7" id="7"/>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426996" y="335411"/>
            <a:ext cx="5526732"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3.6: Tạm ngưng nhân viên </a:t>
            </a:r>
          </a:p>
        </p:txBody>
      </p:sp>
      <p:sp>
        <p:nvSpPr>
          <p:cNvPr name="TextBox 9" id="9"/>
          <p:cNvSpPr txBox="true"/>
          <p:nvPr/>
        </p:nvSpPr>
        <p:spPr>
          <a:xfrm rot="0">
            <a:off x="10772247" y="4238749"/>
            <a:ext cx="6487053"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hệ thống hiển thị thông tin vừa chọn và trạng thái thành “Tạm Ngưng”</a:t>
            </a:r>
          </a:p>
        </p:txBody>
      </p:sp>
      <p:sp>
        <p:nvSpPr>
          <p:cNvPr name="TextBox 10" id="10"/>
          <p:cNvSpPr txBox="true"/>
          <p:nvPr/>
        </p:nvSpPr>
        <p:spPr>
          <a:xfrm rot="0">
            <a:off x="0" y="5323364"/>
            <a:ext cx="5406479"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Chức năng 4: Báo Cáo và Thống Kê</a:t>
            </a:r>
          </a:p>
        </p:txBody>
      </p:sp>
      <p:sp>
        <p:nvSpPr>
          <p:cNvPr name="TextBox 11" id="11"/>
          <p:cNvSpPr txBox="true"/>
          <p:nvPr/>
        </p:nvSpPr>
        <p:spPr>
          <a:xfrm rot="0">
            <a:off x="233647" y="6973055"/>
            <a:ext cx="7209179" cy="12477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Quản Trị Viên chọn chức năng “Báo Cáo và Thống Kê” trên màn hình hệ thống hiển thị ra các chức năng cho quản trị viên lựa chọn </a:t>
            </a:r>
          </a:p>
        </p:txBody>
      </p:sp>
    </p:spTree>
  </p:cSld>
  <p:clrMapOvr>
    <a:masterClrMapping/>
  </p:clrMapOvr>
</p:sld>
</file>

<file path=ppt/slides/slide22.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267304" y="731542"/>
            <a:ext cx="7611101" cy="4278428"/>
          </a:xfrm>
          <a:custGeom>
            <a:avLst/>
            <a:gdLst/>
            <a:ahLst/>
            <a:cxnLst/>
            <a:rect r="r" b="b" t="t" l="l"/>
            <a:pathLst>
              <a:path h="4278428" w="7611101">
                <a:moveTo>
                  <a:pt x="0" y="0"/>
                </a:moveTo>
                <a:lnTo>
                  <a:pt x="7611101" y="0"/>
                </a:lnTo>
                <a:lnTo>
                  <a:pt x="7611101" y="4278428"/>
                </a:lnTo>
                <a:lnTo>
                  <a:pt x="0" y="4278428"/>
                </a:lnTo>
                <a:lnTo>
                  <a:pt x="0" y="0"/>
                </a:lnTo>
                <a:close/>
              </a:path>
            </a:pathLst>
          </a:custGeom>
          <a:blipFill>
            <a:blip r:embed="rId2"/>
            <a:stretch>
              <a:fillRect l="0" t="-17099" r="-18333" b="-17099"/>
            </a:stretch>
          </a:blipFill>
        </p:spPr>
      </p:sp>
      <p:sp>
        <p:nvSpPr>
          <p:cNvPr name="Freeform 3" id="3"/>
          <p:cNvSpPr/>
          <p:nvPr/>
        </p:nvSpPr>
        <p:spPr>
          <a:xfrm flipH="false" flipV="false" rot="0">
            <a:off x="8853788" y="731542"/>
            <a:ext cx="8542911" cy="4278428"/>
          </a:xfrm>
          <a:custGeom>
            <a:avLst/>
            <a:gdLst/>
            <a:ahLst/>
            <a:cxnLst/>
            <a:rect r="r" b="b" t="t" l="l"/>
            <a:pathLst>
              <a:path h="4278428" w="8542911">
                <a:moveTo>
                  <a:pt x="0" y="0"/>
                </a:moveTo>
                <a:lnTo>
                  <a:pt x="8542911" y="0"/>
                </a:lnTo>
                <a:lnTo>
                  <a:pt x="8542911" y="4278428"/>
                </a:lnTo>
                <a:lnTo>
                  <a:pt x="0" y="4278428"/>
                </a:lnTo>
                <a:lnTo>
                  <a:pt x="0" y="0"/>
                </a:lnTo>
                <a:close/>
              </a:path>
            </a:pathLst>
          </a:custGeom>
          <a:blipFill>
            <a:blip r:embed="rId3"/>
            <a:stretch>
              <a:fillRect l="-1322" t="0" r="-13812" b="-28454"/>
            </a:stretch>
          </a:blipFill>
        </p:spPr>
      </p:sp>
      <p:sp>
        <p:nvSpPr>
          <p:cNvPr name="Freeform 4" id="4"/>
          <p:cNvSpPr/>
          <p:nvPr/>
        </p:nvSpPr>
        <p:spPr>
          <a:xfrm flipH="false" flipV="false" rot="0">
            <a:off x="267304" y="6006722"/>
            <a:ext cx="7523037" cy="4100055"/>
          </a:xfrm>
          <a:custGeom>
            <a:avLst/>
            <a:gdLst/>
            <a:ahLst/>
            <a:cxnLst/>
            <a:rect r="r" b="b" t="t" l="l"/>
            <a:pathLst>
              <a:path h="4100055" w="7523037">
                <a:moveTo>
                  <a:pt x="0" y="0"/>
                </a:moveTo>
                <a:lnTo>
                  <a:pt x="7523037" y="0"/>
                </a:lnTo>
                <a:lnTo>
                  <a:pt x="7523037" y="4100055"/>
                </a:lnTo>
                <a:lnTo>
                  <a:pt x="0" y="4100055"/>
                </a:lnTo>
                <a:lnTo>
                  <a:pt x="0" y="0"/>
                </a:lnTo>
                <a:close/>
              </a:path>
            </a:pathLst>
          </a:custGeom>
          <a:blipFill>
            <a:blip r:embed="rId4"/>
            <a:stretch>
              <a:fillRect l="0" t="0" r="0" b="0"/>
            </a:stretch>
          </a:blipFill>
        </p:spPr>
      </p:sp>
      <p:sp>
        <p:nvSpPr>
          <p:cNvPr name="Freeform 5" id="5"/>
          <p:cNvSpPr/>
          <p:nvPr/>
        </p:nvSpPr>
        <p:spPr>
          <a:xfrm flipH="false" flipV="false" rot="0">
            <a:off x="8913713" y="6006722"/>
            <a:ext cx="8423060" cy="4100055"/>
          </a:xfrm>
          <a:custGeom>
            <a:avLst/>
            <a:gdLst/>
            <a:ahLst/>
            <a:cxnLst/>
            <a:rect r="r" b="b" t="t" l="l"/>
            <a:pathLst>
              <a:path h="4100055" w="8423060">
                <a:moveTo>
                  <a:pt x="0" y="0"/>
                </a:moveTo>
                <a:lnTo>
                  <a:pt x="8423060" y="0"/>
                </a:lnTo>
                <a:lnTo>
                  <a:pt x="8423060" y="4100055"/>
                </a:lnTo>
                <a:lnTo>
                  <a:pt x="0" y="4100055"/>
                </a:lnTo>
                <a:lnTo>
                  <a:pt x="0" y="0"/>
                </a:lnTo>
                <a:close/>
              </a:path>
            </a:pathLst>
          </a:custGeom>
          <a:blipFill>
            <a:blip r:embed="rId5"/>
            <a:stretch>
              <a:fillRect l="0" t="0" r="0" b="-23262"/>
            </a:stretch>
          </a:blipFill>
        </p:spPr>
      </p:sp>
      <p:sp>
        <p:nvSpPr>
          <p:cNvPr name="TextBox 6" id="6"/>
          <p:cNvSpPr txBox="true"/>
          <p:nvPr/>
        </p:nvSpPr>
        <p:spPr>
          <a:xfrm rot="0">
            <a:off x="267304" y="321967"/>
            <a:ext cx="482337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4.1: Thống kê hóa đơn</a:t>
            </a:r>
          </a:p>
        </p:txBody>
      </p:sp>
      <p:sp>
        <p:nvSpPr>
          <p:cNvPr name="TextBox 7" id="7"/>
          <p:cNvSpPr txBox="true"/>
          <p:nvPr/>
        </p:nvSpPr>
        <p:spPr>
          <a:xfrm rot="0">
            <a:off x="8716389" y="321967"/>
            <a:ext cx="578093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4.2: Thống kê thông tin sách</a:t>
            </a:r>
          </a:p>
        </p:txBody>
      </p:sp>
      <p:sp>
        <p:nvSpPr>
          <p:cNvPr name="TextBox 8" id="8"/>
          <p:cNvSpPr txBox="true"/>
          <p:nvPr/>
        </p:nvSpPr>
        <p:spPr>
          <a:xfrm rot="0">
            <a:off x="267304" y="5597147"/>
            <a:ext cx="659650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4.3: Thống kê tài khoản nhân viên</a:t>
            </a:r>
          </a:p>
        </p:txBody>
      </p:sp>
      <p:sp>
        <p:nvSpPr>
          <p:cNvPr name="TextBox 9" id="9"/>
          <p:cNvSpPr txBox="true"/>
          <p:nvPr/>
        </p:nvSpPr>
        <p:spPr>
          <a:xfrm rot="0">
            <a:off x="8529276" y="5597147"/>
            <a:ext cx="679459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4.4: Thống kê tài khoản người dùng</a:t>
            </a:r>
          </a:p>
        </p:txBody>
      </p:sp>
    </p:spTree>
  </p:cSld>
  <p:clrMapOvr>
    <a:masterClrMapping/>
  </p:clrMapOvr>
</p:sld>
</file>

<file path=ppt/slides/slide23.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508202" y="932931"/>
            <a:ext cx="8221811" cy="3285711"/>
          </a:xfrm>
          <a:custGeom>
            <a:avLst/>
            <a:gdLst/>
            <a:ahLst/>
            <a:cxnLst/>
            <a:rect r="r" b="b" t="t" l="l"/>
            <a:pathLst>
              <a:path h="3285711" w="8221811">
                <a:moveTo>
                  <a:pt x="0" y="0"/>
                </a:moveTo>
                <a:lnTo>
                  <a:pt x="8221811" y="0"/>
                </a:lnTo>
                <a:lnTo>
                  <a:pt x="8221811" y="3285711"/>
                </a:lnTo>
                <a:lnTo>
                  <a:pt x="0" y="3285711"/>
                </a:lnTo>
                <a:lnTo>
                  <a:pt x="0" y="0"/>
                </a:lnTo>
                <a:close/>
              </a:path>
            </a:pathLst>
          </a:custGeom>
          <a:blipFill>
            <a:blip r:embed="rId2"/>
            <a:stretch>
              <a:fillRect l="0" t="0" r="0" b="-79505"/>
            </a:stretch>
          </a:blipFill>
        </p:spPr>
      </p:sp>
      <p:sp>
        <p:nvSpPr>
          <p:cNvPr name="Freeform 3" id="3"/>
          <p:cNvSpPr/>
          <p:nvPr/>
        </p:nvSpPr>
        <p:spPr>
          <a:xfrm flipH="false" flipV="false" rot="0">
            <a:off x="9864225" y="4033051"/>
            <a:ext cx="7395075" cy="6091693"/>
          </a:xfrm>
          <a:custGeom>
            <a:avLst/>
            <a:gdLst/>
            <a:ahLst/>
            <a:cxnLst/>
            <a:rect r="r" b="b" t="t" l="l"/>
            <a:pathLst>
              <a:path h="6091693" w="7395075">
                <a:moveTo>
                  <a:pt x="0" y="0"/>
                </a:moveTo>
                <a:lnTo>
                  <a:pt x="7395075" y="0"/>
                </a:lnTo>
                <a:lnTo>
                  <a:pt x="7395075" y="6091693"/>
                </a:lnTo>
                <a:lnTo>
                  <a:pt x="0" y="6091693"/>
                </a:lnTo>
                <a:lnTo>
                  <a:pt x="0" y="0"/>
                </a:lnTo>
                <a:close/>
              </a:path>
            </a:pathLst>
          </a:custGeom>
          <a:blipFill>
            <a:blip r:embed="rId3"/>
            <a:stretch>
              <a:fillRect l="0" t="0" r="0" b="0"/>
            </a:stretch>
          </a:blipFill>
        </p:spPr>
      </p:sp>
      <p:grpSp>
        <p:nvGrpSpPr>
          <p:cNvPr name="Group 4" id="4"/>
          <p:cNvGrpSpPr/>
          <p:nvPr/>
        </p:nvGrpSpPr>
        <p:grpSpPr>
          <a:xfrm rot="0">
            <a:off x="8272374" y="6235122"/>
            <a:ext cx="1156461" cy="1156461"/>
            <a:chOff x="0" y="0"/>
            <a:chExt cx="812800" cy="812800"/>
          </a:xfrm>
        </p:grpSpPr>
        <p:sp>
          <p:nvSpPr>
            <p:cNvPr name="Freeform 5" id="5"/>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E2E2E"/>
            </a:solidFill>
          </p:spPr>
        </p:sp>
        <p:sp>
          <p:nvSpPr>
            <p:cNvPr name="TextBox 6" id="6"/>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7" id="7"/>
          <p:cNvSpPr txBox="true"/>
          <p:nvPr/>
        </p:nvSpPr>
        <p:spPr>
          <a:xfrm rot="0">
            <a:off x="508202" y="465216"/>
            <a:ext cx="5881241"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4.4: Thống kê đơn nhập hàng</a:t>
            </a:r>
          </a:p>
        </p:txBody>
      </p:sp>
      <p:sp>
        <p:nvSpPr>
          <p:cNvPr name="TextBox 8" id="8"/>
          <p:cNvSpPr txBox="true"/>
          <p:nvPr/>
        </p:nvSpPr>
        <p:spPr>
          <a:xfrm rot="0">
            <a:off x="254101" y="4528311"/>
            <a:ext cx="8730013"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Chức năng 5: Hiển thị các thông tin của người quản trị </a:t>
            </a:r>
          </a:p>
        </p:txBody>
      </p:sp>
      <p:sp>
        <p:nvSpPr>
          <p:cNvPr name="TextBox 9" id="9"/>
          <p:cNvSpPr txBox="true"/>
          <p:nvPr/>
        </p:nvSpPr>
        <p:spPr>
          <a:xfrm rot="0">
            <a:off x="673781" y="6244647"/>
            <a:ext cx="7501240" cy="12477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người quản trị chọn chức năng thông tin tài khoản màn hình hệ thống hiển thị lên tất cả các thông tin của người quản trị. </a:t>
            </a:r>
          </a:p>
        </p:txBody>
      </p:sp>
    </p:spTree>
  </p:cSld>
  <p:clrMapOvr>
    <a:masterClrMapping/>
  </p:clrMapOvr>
</p:sld>
</file>

<file path=ppt/slides/slide24.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9484914" y="722012"/>
            <a:ext cx="8215996" cy="4984699"/>
          </a:xfrm>
          <a:custGeom>
            <a:avLst/>
            <a:gdLst/>
            <a:ahLst/>
            <a:cxnLst/>
            <a:rect r="r" b="b" t="t" l="l"/>
            <a:pathLst>
              <a:path h="4984699" w="8215996">
                <a:moveTo>
                  <a:pt x="0" y="0"/>
                </a:moveTo>
                <a:lnTo>
                  <a:pt x="8215996" y="0"/>
                </a:lnTo>
                <a:lnTo>
                  <a:pt x="8215996" y="4984699"/>
                </a:lnTo>
                <a:lnTo>
                  <a:pt x="0" y="4984699"/>
                </a:lnTo>
                <a:lnTo>
                  <a:pt x="0" y="0"/>
                </a:lnTo>
                <a:close/>
              </a:path>
            </a:pathLst>
          </a:custGeom>
          <a:blipFill>
            <a:blip r:embed="rId2"/>
            <a:stretch>
              <a:fillRect l="0" t="-904" r="0" b="-904"/>
            </a:stretch>
          </a:blipFill>
        </p:spPr>
      </p:sp>
      <p:grpSp>
        <p:nvGrpSpPr>
          <p:cNvPr name="Group 3" id="3"/>
          <p:cNvGrpSpPr/>
          <p:nvPr/>
        </p:nvGrpSpPr>
        <p:grpSpPr>
          <a:xfrm rot="0">
            <a:off x="8124901" y="2156374"/>
            <a:ext cx="1163369" cy="1163369"/>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C65CA8"/>
            </a:solidFill>
          </p:spPr>
        </p:sp>
        <p:sp>
          <p:nvSpPr>
            <p:cNvPr name="TextBox 5" id="5"/>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868704" y="5047555"/>
            <a:ext cx="6650165" cy="3103813"/>
          </a:xfrm>
          <a:custGeom>
            <a:avLst/>
            <a:gdLst/>
            <a:ahLst/>
            <a:cxnLst/>
            <a:rect r="r" b="b" t="t" l="l"/>
            <a:pathLst>
              <a:path h="3103813" w="6650165">
                <a:moveTo>
                  <a:pt x="0" y="0"/>
                </a:moveTo>
                <a:lnTo>
                  <a:pt x="6650165" y="0"/>
                </a:lnTo>
                <a:lnTo>
                  <a:pt x="6650165" y="3103813"/>
                </a:lnTo>
                <a:lnTo>
                  <a:pt x="0" y="3103813"/>
                </a:lnTo>
                <a:lnTo>
                  <a:pt x="0" y="0"/>
                </a:lnTo>
                <a:close/>
              </a:path>
            </a:pathLst>
          </a:custGeom>
          <a:blipFill>
            <a:blip r:embed="rId3"/>
            <a:stretch>
              <a:fillRect l="-14583" t="-125977" r="0" b="-13213"/>
            </a:stretch>
          </a:blipFill>
        </p:spPr>
      </p:sp>
      <p:sp>
        <p:nvSpPr>
          <p:cNvPr name="TextBox 7" id="7"/>
          <p:cNvSpPr txBox="true"/>
          <p:nvPr/>
        </p:nvSpPr>
        <p:spPr>
          <a:xfrm rot="0">
            <a:off x="134958" y="312437"/>
            <a:ext cx="971058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5.1:Chỉnh sửa thông tin tài khoản của người đăng nhập</a:t>
            </a:r>
          </a:p>
        </p:txBody>
      </p:sp>
      <p:sp>
        <p:nvSpPr>
          <p:cNvPr name="TextBox 8" id="8"/>
          <p:cNvSpPr txBox="true"/>
          <p:nvPr/>
        </p:nvSpPr>
        <p:spPr>
          <a:xfrm rot="0">
            <a:off x="134958" y="1847155"/>
            <a:ext cx="7793300" cy="20859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Người quản trị có thể sửa thông tin của chính mình sau đó ấn sửa thông tin, nếu hiển thị thành công màn hình sẽ hiển thị thông báo người dùng thoát ra để cập nhật lại thông tin</a:t>
            </a:r>
          </a:p>
          <a:p>
            <a:pPr algn="ctr">
              <a:lnSpc>
                <a:spcPts val="3359"/>
              </a:lnSpc>
              <a:spcBef>
                <a:spcPct val="0"/>
              </a:spcBef>
            </a:pPr>
            <a:r>
              <a:rPr lang="en-US" sz="2799">
                <a:solidFill>
                  <a:srgbClr val="000000"/>
                </a:solidFill>
                <a:latin typeface="Faustina"/>
                <a:ea typeface="Faustina"/>
                <a:cs typeface="Faustina"/>
                <a:sym typeface="Faustina"/>
              </a:rPr>
              <a:t>(Lưu ý: Người quản trị không nên thay đổi mã quyền)</a:t>
            </a:r>
          </a:p>
        </p:txBody>
      </p:sp>
    </p:spTree>
  </p:cSld>
  <p:clrMapOvr>
    <a:masterClrMapping/>
  </p:clrMapOvr>
</p:sld>
</file>

<file path=ppt/slides/slide25.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9887127" y="333893"/>
            <a:ext cx="7740777" cy="5202617"/>
          </a:xfrm>
          <a:custGeom>
            <a:avLst/>
            <a:gdLst/>
            <a:ahLst/>
            <a:cxnLst/>
            <a:rect r="r" b="b" t="t" l="l"/>
            <a:pathLst>
              <a:path h="5202617" w="7740777">
                <a:moveTo>
                  <a:pt x="0" y="0"/>
                </a:moveTo>
                <a:lnTo>
                  <a:pt x="7740778" y="0"/>
                </a:lnTo>
                <a:lnTo>
                  <a:pt x="7740778" y="5202617"/>
                </a:lnTo>
                <a:lnTo>
                  <a:pt x="0" y="5202617"/>
                </a:lnTo>
                <a:lnTo>
                  <a:pt x="0" y="0"/>
                </a:lnTo>
                <a:close/>
              </a:path>
            </a:pathLst>
          </a:custGeom>
          <a:blipFill>
            <a:blip r:embed="rId2"/>
            <a:stretch>
              <a:fillRect l="0" t="0" r="0" b="-4054"/>
            </a:stretch>
          </a:blipFill>
        </p:spPr>
      </p:sp>
      <p:grpSp>
        <p:nvGrpSpPr>
          <p:cNvPr name="Group 3" id="3"/>
          <p:cNvGrpSpPr/>
          <p:nvPr/>
        </p:nvGrpSpPr>
        <p:grpSpPr>
          <a:xfrm rot="0">
            <a:off x="8327614" y="2306551"/>
            <a:ext cx="1349963" cy="1349963"/>
            <a:chOff x="0" y="0"/>
            <a:chExt cx="812800" cy="812800"/>
          </a:xfrm>
        </p:grpSpPr>
        <p:sp>
          <p:nvSpPr>
            <p:cNvPr name="Freeform 4" id="4"/>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295C4E"/>
            </a:solidFill>
          </p:spPr>
        </p:sp>
        <p:sp>
          <p:nvSpPr>
            <p:cNvPr name="TextBox 5" id="5"/>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Freeform 6" id="6"/>
          <p:cNvSpPr/>
          <p:nvPr/>
        </p:nvSpPr>
        <p:spPr>
          <a:xfrm flipH="false" flipV="false" rot="0">
            <a:off x="270764" y="6680341"/>
            <a:ext cx="7211708" cy="3335177"/>
          </a:xfrm>
          <a:custGeom>
            <a:avLst/>
            <a:gdLst/>
            <a:ahLst/>
            <a:cxnLst/>
            <a:rect r="r" b="b" t="t" l="l"/>
            <a:pathLst>
              <a:path h="3335177" w="7211708">
                <a:moveTo>
                  <a:pt x="0" y="0"/>
                </a:moveTo>
                <a:lnTo>
                  <a:pt x="7211707" y="0"/>
                </a:lnTo>
                <a:lnTo>
                  <a:pt x="7211707" y="3335177"/>
                </a:lnTo>
                <a:lnTo>
                  <a:pt x="0" y="3335177"/>
                </a:lnTo>
                <a:lnTo>
                  <a:pt x="0" y="0"/>
                </a:lnTo>
                <a:close/>
              </a:path>
            </a:pathLst>
          </a:custGeom>
          <a:blipFill>
            <a:blip r:embed="rId3"/>
            <a:stretch>
              <a:fillRect l="0" t="-112" r="0" b="-80565"/>
            </a:stretch>
          </a:blipFill>
        </p:spPr>
      </p:sp>
      <p:sp>
        <p:nvSpPr>
          <p:cNvPr name="Freeform 7" id="7"/>
          <p:cNvSpPr/>
          <p:nvPr/>
        </p:nvSpPr>
        <p:spPr>
          <a:xfrm flipH="false" flipV="false" rot="0">
            <a:off x="9627971" y="6543810"/>
            <a:ext cx="7631329" cy="3471708"/>
          </a:xfrm>
          <a:custGeom>
            <a:avLst/>
            <a:gdLst/>
            <a:ahLst/>
            <a:cxnLst/>
            <a:rect r="r" b="b" t="t" l="l"/>
            <a:pathLst>
              <a:path h="3471708" w="7631329">
                <a:moveTo>
                  <a:pt x="0" y="0"/>
                </a:moveTo>
                <a:lnTo>
                  <a:pt x="7631329" y="0"/>
                </a:lnTo>
                <a:lnTo>
                  <a:pt x="7631329" y="3471708"/>
                </a:lnTo>
                <a:lnTo>
                  <a:pt x="0" y="3471708"/>
                </a:lnTo>
                <a:lnTo>
                  <a:pt x="0" y="0"/>
                </a:lnTo>
                <a:close/>
              </a:path>
            </a:pathLst>
          </a:custGeom>
          <a:blipFill>
            <a:blip r:embed="rId4"/>
            <a:stretch>
              <a:fillRect l="0" t="-1280" r="0" b="-73661"/>
            </a:stretch>
          </a:blipFill>
        </p:spPr>
      </p:sp>
      <p:sp>
        <p:nvSpPr>
          <p:cNvPr name="TextBox 8" id="8"/>
          <p:cNvSpPr txBox="true"/>
          <p:nvPr/>
        </p:nvSpPr>
        <p:spPr>
          <a:xfrm rot="0">
            <a:off x="114887" y="285088"/>
            <a:ext cx="4850606" cy="457200"/>
          </a:xfrm>
          <a:prstGeom prst="rect">
            <a:avLst/>
          </a:prstGeom>
        </p:spPr>
        <p:txBody>
          <a:bodyPr anchor="t" rtlCol="false" tIns="0" lIns="0" bIns="0" rIns="0">
            <a:spAutoFit/>
          </a:bodyPr>
          <a:lstStyle/>
          <a:p>
            <a:pPr algn="ctr">
              <a:lnSpc>
                <a:spcPts val="3600"/>
              </a:lnSpc>
              <a:spcBef>
                <a:spcPct val="0"/>
              </a:spcBef>
            </a:pPr>
            <a:r>
              <a:rPr lang="en-US" sz="3000">
                <a:solidFill>
                  <a:srgbClr val="000000"/>
                </a:solidFill>
                <a:latin typeface="Faustina"/>
                <a:ea typeface="Faustina"/>
                <a:cs typeface="Faustina"/>
                <a:sym typeface="Faustina"/>
              </a:rPr>
              <a:t>Chức năng 6: Quản lý loại sách</a:t>
            </a:r>
          </a:p>
        </p:txBody>
      </p:sp>
      <p:sp>
        <p:nvSpPr>
          <p:cNvPr name="TextBox 9" id="9"/>
          <p:cNvSpPr txBox="true"/>
          <p:nvPr/>
        </p:nvSpPr>
        <p:spPr>
          <a:xfrm rot="0">
            <a:off x="114887" y="2316076"/>
            <a:ext cx="8004232" cy="12477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người quản trị chọn chức năng “Quản Lý Loại Sách” màn hình hệ thống hiển thị lên giao diện các thông tin loại sách hiện tại của hệ thống</a:t>
            </a:r>
          </a:p>
        </p:txBody>
      </p:sp>
      <p:sp>
        <p:nvSpPr>
          <p:cNvPr name="TextBox 10" id="10"/>
          <p:cNvSpPr txBox="true"/>
          <p:nvPr/>
        </p:nvSpPr>
        <p:spPr>
          <a:xfrm rot="0">
            <a:off x="270764" y="6134235"/>
            <a:ext cx="769247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6.1: Tìm kiếm loại sách bằng mã loại sách</a:t>
            </a:r>
          </a:p>
        </p:txBody>
      </p:sp>
      <p:sp>
        <p:nvSpPr>
          <p:cNvPr name="TextBox 11" id="11"/>
          <p:cNvSpPr txBox="true"/>
          <p:nvPr/>
        </p:nvSpPr>
        <p:spPr>
          <a:xfrm rot="0">
            <a:off x="9437340" y="6134235"/>
            <a:ext cx="7821960"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6.2: Tìm kiếm loại sách bằng tên loại sách </a:t>
            </a:r>
          </a:p>
        </p:txBody>
      </p:sp>
    </p:spTree>
  </p:cSld>
  <p:clrMapOvr>
    <a:masterClrMapping/>
  </p:clrMapOvr>
</p:sld>
</file>

<file path=ppt/slides/slide26.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349546" y="798726"/>
            <a:ext cx="7538716" cy="4849475"/>
          </a:xfrm>
          <a:custGeom>
            <a:avLst/>
            <a:gdLst/>
            <a:ahLst/>
            <a:cxnLst/>
            <a:rect r="r" b="b" t="t" l="l"/>
            <a:pathLst>
              <a:path h="4849475" w="7538716">
                <a:moveTo>
                  <a:pt x="0" y="0"/>
                </a:moveTo>
                <a:lnTo>
                  <a:pt x="7538716" y="0"/>
                </a:lnTo>
                <a:lnTo>
                  <a:pt x="7538716" y="4849475"/>
                </a:lnTo>
                <a:lnTo>
                  <a:pt x="0" y="4849475"/>
                </a:lnTo>
                <a:lnTo>
                  <a:pt x="0" y="0"/>
                </a:lnTo>
                <a:close/>
              </a:path>
            </a:pathLst>
          </a:custGeom>
          <a:blipFill>
            <a:blip r:embed="rId2"/>
            <a:stretch>
              <a:fillRect l="0" t="-4613" r="0" b="-4613"/>
            </a:stretch>
          </a:blipFill>
        </p:spPr>
      </p:sp>
      <p:sp>
        <p:nvSpPr>
          <p:cNvPr name="Freeform 3" id="3"/>
          <p:cNvSpPr/>
          <p:nvPr/>
        </p:nvSpPr>
        <p:spPr>
          <a:xfrm flipH="false" flipV="false" rot="0">
            <a:off x="8888218" y="1223407"/>
            <a:ext cx="9011155" cy="2612478"/>
          </a:xfrm>
          <a:custGeom>
            <a:avLst/>
            <a:gdLst/>
            <a:ahLst/>
            <a:cxnLst/>
            <a:rect r="r" b="b" t="t" l="l"/>
            <a:pathLst>
              <a:path h="2612478" w="9011155">
                <a:moveTo>
                  <a:pt x="0" y="0"/>
                </a:moveTo>
                <a:lnTo>
                  <a:pt x="9011155" y="0"/>
                </a:lnTo>
                <a:lnTo>
                  <a:pt x="9011155" y="2612478"/>
                </a:lnTo>
                <a:lnTo>
                  <a:pt x="0" y="2612478"/>
                </a:lnTo>
                <a:lnTo>
                  <a:pt x="0" y="0"/>
                </a:lnTo>
                <a:close/>
              </a:path>
            </a:pathLst>
          </a:custGeom>
          <a:blipFill>
            <a:blip r:embed="rId3"/>
            <a:stretch>
              <a:fillRect l="0" t="0" r="0" b="0"/>
            </a:stretch>
          </a:blipFill>
        </p:spPr>
      </p:sp>
      <p:sp>
        <p:nvSpPr>
          <p:cNvPr name="Freeform 4" id="4"/>
          <p:cNvSpPr/>
          <p:nvPr/>
        </p:nvSpPr>
        <p:spPr>
          <a:xfrm flipH="false" flipV="false" rot="0">
            <a:off x="10339961" y="5827171"/>
            <a:ext cx="6919339" cy="4459829"/>
          </a:xfrm>
          <a:custGeom>
            <a:avLst/>
            <a:gdLst/>
            <a:ahLst/>
            <a:cxnLst/>
            <a:rect r="r" b="b" t="t" l="l"/>
            <a:pathLst>
              <a:path h="4459829" w="6919339">
                <a:moveTo>
                  <a:pt x="0" y="0"/>
                </a:moveTo>
                <a:lnTo>
                  <a:pt x="6919339" y="0"/>
                </a:lnTo>
                <a:lnTo>
                  <a:pt x="6919339" y="4459829"/>
                </a:lnTo>
                <a:lnTo>
                  <a:pt x="0" y="4459829"/>
                </a:lnTo>
                <a:lnTo>
                  <a:pt x="0" y="0"/>
                </a:lnTo>
                <a:close/>
              </a:path>
            </a:pathLst>
          </a:custGeom>
          <a:blipFill>
            <a:blip r:embed="rId4"/>
            <a:stretch>
              <a:fillRect l="0" t="-3513" r="0" b="-3513"/>
            </a:stretch>
          </a:blipFill>
        </p:spPr>
      </p:sp>
      <p:sp>
        <p:nvSpPr>
          <p:cNvPr name="Freeform 5" id="5"/>
          <p:cNvSpPr/>
          <p:nvPr/>
        </p:nvSpPr>
        <p:spPr>
          <a:xfrm flipH="false" flipV="false" rot="0">
            <a:off x="106908" y="7210301"/>
            <a:ext cx="8241990" cy="2390177"/>
          </a:xfrm>
          <a:custGeom>
            <a:avLst/>
            <a:gdLst/>
            <a:ahLst/>
            <a:cxnLst/>
            <a:rect r="r" b="b" t="t" l="l"/>
            <a:pathLst>
              <a:path h="2390177" w="8241990">
                <a:moveTo>
                  <a:pt x="0" y="0"/>
                </a:moveTo>
                <a:lnTo>
                  <a:pt x="8241990" y="0"/>
                </a:lnTo>
                <a:lnTo>
                  <a:pt x="8241990" y="2390177"/>
                </a:lnTo>
                <a:lnTo>
                  <a:pt x="0" y="2390177"/>
                </a:lnTo>
                <a:lnTo>
                  <a:pt x="0" y="0"/>
                </a:lnTo>
                <a:close/>
              </a:path>
            </a:pathLst>
          </a:custGeom>
          <a:blipFill>
            <a:blip r:embed="rId5"/>
            <a:stretch>
              <a:fillRect l="0" t="0" r="0" b="0"/>
            </a:stretch>
          </a:blipFill>
        </p:spPr>
      </p:sp>
      <p:grpSp>
        <p:nvGrpSpPr>
          <p:cNvPr name="Group 6" id="6"/>
          <p:cNvGrpSpPr/>
          <p:nvPr/>
        </p:nvGrpSpPr>
        <p:grpSpPr>
          <a:xfrm rot="0">
            <a:off x="7888262" y="2529646"/>
            <a:ext cx="846970" cy="846970"/>
            <a:chOff x="0" y="0"/>
            <a:chExt cx="812800" cy="812800"/>
          </a:xfrm>
        </p:grpSpPr>
        <p:sp>
          <p:nvSpPr>
            <p:cNvPr name="Freeform 7" id="7"/>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8" id="8"/>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9" id="9"/>
          <p:cNvSpPr txBox="true"/>
          <p:nvPr/>
        </p:nvSpPr>
        <p:spPr>
          <a:xfrm rot="0">
            <a:off x="349546" y="243121"/>
            <a:ext cx="452764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6.3: Thêm loại sách </a:t>
            </a:r>
          </a:p>
        </p:txBody>
      </p:sp>
      <p:sp>
        <p:nvSpPr>
          <p:cNvPr name="TextBox 10" id="10"/>
          <p:cNvSpPr txBox="true"/>
          <p:nvPr/>
        </p:nvSpPr>
        <p:spPr>
          <a:xfrm rot="0">
            <a:off x="9250164" y="4148422"/>
            <a:ext cx="7084278"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Hệ thống cập nhật lại thông tin và hiển thị loại sách vừa thêm vào</a:t>
            </a:r>
          </a:p>
        </p:txBody>
      </p:sp>
      <p:sp>
        <p:nvSpPr>
          <p:cNvPr name="TextBox 11" id="11"/>
          <p:cNvSpPr txBox="true"/>
          <p:nvPr/>
        </p:nvSpPr>
        <p:spPr>
          <a:xfrm rot="0">
            <a:off x="10339961" y="5417596"/>
            <a:ext cx="5610225"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Chức năng 6.4: Sửa thông tin loại sách</a:t>
            </a:r>
          </a:p>
        </p:txBody>
      </p:sp>
      <p:sp>
        <p:nvSpPr>
          <p:cNvPr name="TextBox 12" id="12"/>
          <p:cNvSpPr txBox="true"/>
          <p:nvPr/>
        </p:nvSpPr>
        <p:spPr>
          <a:xfrm rot="0">
            <a:off x="106908" y="6553737"/>
            <a:ext cx="8413105"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Màn hình hệ thống hiển thị loại sách vừa được chỉnh sửa</a:t>
            </a:r>
          </a:p>
        </p:txBody>
      </p:sp>
      <p:grpSp>
        <p:nvGrpSpPr>
          <p:cNvPr name="Group 13" id="13"/>
          <p:cNvGrpSpPr/>
          <p:nvPr/>
        </p:nvGrpSpPr>
        <p:grpSpPr>
          <a:xfrm rot="-10800000">
            <a:off x="8826679" y="7558419"/>
            <a:ext cx="1049790" cy="1049790"/>
            <a:chOff x="0" y="0"/>
            <a:chExt cx="812800" cy="812800"/>
          </a:xfrm>
        </p:grpSpPr>
        <p:sp>
          <p:nvSpPr>
            <p:cNvPr name="Freeform 14" id="14"/>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EFA593"/>
            </a:solidFill>
          </p:spPr>
        </p:sp>
        <p:sp>
          <p:nvSpPr>
            <p:cNvPr name="TextBox 15" id="15"/>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Tree>
  </p:cSld>
  <p:clrMapOvr>
    <a:masterClrMapping/>
  </p:clrMapOvr>
</p:sld>
</file>

<file path=ppt/slides/slide27.xml><?xml version="1.0" encoding="utf-8"?>
<p:sld xmlns:p="http://schemas.openxmlformats.org/presentationml/2006/main" xmlns:a="http://schemas.openxmlformats.org/drawingml/2006/main" xmlns:r="http://schemas.openxmlformats.org/officeDocument/2006/relationships">
  <p:cSld>
    <p:bg>
      <p:bgPr>
        <a:solidFill>
          <a:srgbClr val="F6F6E9"/>
        </a:solidFill>
      </p:bgPr>
    </p:bg>
    <p:spTree>
      <p:nvGrpSpPr>
        <p:cNvPr id="1" name=""/>
        <p:cNvGrpSpPr/>
        <p:nvPr/>
      </p:nvGrpSpPr>
      <p:grpSpPr>
        <a:xfrm>
          <a:off x="0" y="0"/>
          <a:ext cx="0" cy="0"/>
          <a:chOff x="0" y="0"/>
          <a:chExt cx="0" cy="0"/>
        </a:xfrm>
      </p:grpSpPr>
      <p:sp>
        <p:nvSpPr>
          <p:cNvPr name="Freeform 2" id="2"/>
          <p:cNvSpPr/>
          <p:nvPr/>
        </p:nvSpPr>
        <p:spPr>
          <a:xfrm flipH="false" flipV="false" rot="0">
            <a:off x="666833" y="830940"/>
            <a:ext cx="8967314" cy="4534297"/>
          </a:xfrm>
          <a:custGeom>
            <a:avLst/>
            <a:gdLst/>
            <a:ahLst/>
            <a:cxnLst/>
            <a:rect r="r" b="b" t="t" l="l"/>
            <a:pathLst>
              <a:path h="4534297" w="8967314">
                <a:moveTo>
                  <a:pt x="0" y="0"/>
                </a:moveTo>
                <a:lnTo>
                  <a:pt x="8967314" y="0"/>
                </a:lnTo>
                <a:lnTo>
                  <a:pt x="8967314" y="4534298"/>
                </a:lnTo>
                <a:lnTo>
                  <a:pt x="0" y="4534298"/>
                </a:lnTo>
                <a:lnTo>
                  <a:pt x="0" y="0"/>
                </a:lnTo>
                <a:close/>
              </a:path>
            </a:pathLst>
          </a:custGeom>
          <a:blipFill>
            <a:blip r:embed="rId2"/>
            <a:stretch>
              <a:fillRect l="0" t="-9258" r="0" b="-29384"/>
            </a:stretch>
          </a:blipFill>
        </p:spPr>
      </p:sp>
      <p:sp>
        <p:nvSpPr>
          <p:cNvPr name="Freeform 3" id="3"/>
          <p:cNvSpPr/>
          <p:nvPr/>
        </p:nvSpPr>
        <p:spPr>
          <a:xfrm flipH="false" flipV="false" rot="0">
            <a:off x="9928891" y="1028700"/>
            <a:ext cx="7898304" cy="1974576"/>
          </a:xfrm>
          <a:custGeom>
            <a:avLst/>
            <a:gdLst/>
            <a:ahLst/>
            <a:cxnLst/>
            <a:rect r="r" b="b" t="t" l="l"/>
            <a:pathLst>
              <a:path h="1974576" w="7898304">
                <a:moveTo>
                  <a:pt x="0" y="0"/>
                </a:moveTo>
                <a:lnTo>
                  <a:pt x="7898304" y="0"/>
                </a:lnTo>
                <a:lnTo>
                  <a:pt x="7898304" y="1974576"/>
                </a:lnTo>
                <a:lnTo>
                  <a:pt x="0" y="1974576"/>
                </a:lnTo>
                <a:lnTo>
                  <a:pt x="0" y="0"/>
                </a:lnTo>
                <a:close/>
              </a:path>
            </a:pathLst>
          </a:custGeom>
          <a:blipFill>
            <a:blip r:embed="rId3"/>
            <a:stretch>
              <a:fillRect l="0" t="0" r="0" b="0"/>
            </a:stretch>
          </a:blipFill>
        </p:spPr>
      </p:sp>
      <p:sp>
        <p:nvSpPr>
          <p:cNvPr name="Freeform 4" id="4"/>
          <p:cNvSpPr/>
          <p:nvPr/>
        </p:nvSpPr>
        <p:spPr>
          <a:xfrm flipH="false" flipV="false" rot="0">
            <a:off x="9838082" y="5664101"/>
            <a:ext cx="7421218" cy="4622899"/>
          </a:xfrm>
          <a:custGeom>
            <a:avLst/>
            <a:gdLst/>
            <a:ahLst/>
            <a:cxnLst/>
            <a:rect r="r" b="b" t="t" l="l"/>
            <a:pathLst>
              <a:path h="4622899" w="7421218">
                <a:moveTo>
                  <a:pt x="0" y="0"/>
                </a:moveTo>
                <a:lnTo>
                  <a:pt x="7421218" y="0"/>
                </a:lnTo>
                <a:lnTo>
                  <a:pt x="7421218" y="4622899"/>
                </a:lnTo>
                <a:lnTo>
                  <a:pt x="0" y="4622899"/>
                </a:lnTo>
                <a:lnTo>
                  <a:pt x="0" y="0"/>
                </a:lnTo>
                <a:close/>
              </a:path>
            </a:pathLst>
          </a:custGeom>
          <a:blipFill>
            <a:blip r:embed="rId4"/>
            <a:stretch>
              <a:fillRect l="0" t="0" r="0" b="0"/>
            </a:stretch>
          </a:blipFill>
        </p:spPr>
      </p:sp>
      <p:grpSp>
        <p:nvGrpSpPr>
          <p:cNvPr name="Group 5" id="5"/>
          <p:cNvGrpSpPr/>
          <p:nvPr/>
        </p:nvGrpSpPr>
        <p:grpSpPr>
          <a:xfrm rot="0">
            <a:off x="8245950" y="7186303"/>
            <a:ext cx="1376232" cy="1376232"/>
            <a:chOff x="0" y="0"/>
            <a:chExt cx="812800" cy="812800"/>
          </a:xfrm>
        </p:grpSpPr>
        <p:sp>
          <p:nvSpPr>
            <p:cNvPr name="Freeform 6" id="6"/>
            <p:cNvSpPr/>
            <p:nvPr/>
          </p:nvSpPr>
          <p:spPr>
            <a:xfrm flipH="false" flipV="false" rot="0">
              <a:off x="0" y="0"/>
              <a:ext cx="812800" cy="812800"/>
            </a:xfrm>
            <a:custGeom>
              <a:avLst/>
              <a:gdLst/>
              <a:ahLst/>
              <a:cxnLst/>
              <a:rect r="r" b="b" t="t" l="l"/>
              <a:pathLst>
                <a:path h="812800" w="812800">
                  <a:moveTo>
                    <a:pt x="812800" y="406400"/>
                  </a:moveTo>
                  <a:lnTo>
                    <a:pt x="406400" y="0"/>
                  </a:lnTo>
                  <a:lnTo>
                    <a:pt x="406400" y="203200"/>
                  </a:lnTo>
                  <a:lnTo>
                    <a:pt x="0" y="203200"/>
                  </a:lnTo>
                  <a:lnTo>
                    <a:pt x="0" y="609600"/>
                  </a:lnTo>
                  <a:lnTo>
                    <a:pt x="406400" y="609600"/>
                  </a:lnTo>
                  <a:lnTo>
                    <a:pt x="406400" y="812800"/>
                  </a:lnTo>
                  <a:lnTo>
                    <a:pt x="812800" y="406400"/>
                  </a:lnTo>
                  <a:close/>
                </a:path>
              </a:pathLst>
            </a:custGeom>
            <a:solidFill>
              <a:srgbClr val="C65CA8"/>
            </a:solidFill>
          </p:spPr>
        </p:sp>
        <p:sp>
          <p:nvSpPr>
            <p:cNvPr name="TextBox 7" id="7"/>
            <p:cNvSpPr txBox="true"/>
            <p:nvPr/>
          </p:nvSpPr>
          <p:spPr>
            <a:xfrm>
              <a:off x="0" y="165100"/>
              <a:ext cx="711200" cy="444500"/>
            </a:xfrm>
            <a:prstGeom prst="rect">
              <a:avLst/>
            </a:prstGeom>
          </p:spPr>
          <p:txBody>
            <a:bodyPr anchor="ctr" rtlCol="false" tIns="50800" lIns="50800" bIns="50800" rIns="50800"/>
            <a:lstStyle/>
            <a:p>
              <a:pPr algn="ctr">
                <a:lnSpc>
                  <a:spcPts val="2659"/>
                </a:lnSpc>
              </a:pPr>
            </a:p>
          </p:txBody>
        </p:sp>
      </p:grpSp>
      <p:sp>
        <p:nvSpPr>
          <p:cNvPr name="TextBox 8" id="8"/>
          <p:cNvSpPr txBox="true"/>
          <p:nvPr/>
        </p:nvSpPr>
        <p:spPr>
          <a:xfrm rot="0">
            <a:off x="666833" y="291561"/>
            <a:ext cx="5326559"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 Chức năng 6.5: Xóa dữ liệu loại sách</a:t>
            </a:r>
          </a:p>
        </p:txBody>
      </p:sp>
      <p:sp>
        <p:nvSpPr>
          <p:cNvPr name="TextBox 9" id="9"/>
          <p:cNvSpPr txBox="true"/>
          <p:nvPr/>
        </p:nvSpPr>
        <p:spPr>
          <a:xfrm rot="0">
            <a:off x="9800965" y="4314825"/>
            <a:ext cx="8026230"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(Lưu ý: Không nên xóa loại sách vì nó có thể ảnh hưởng tới dữ liệu)</a:t>
            </a:r>
          </a:p>
        </p:txBody>
      </p:sp>
      <p:sp>
        <p:nvSpPr>
          <p:cNvPr name="TextBox 10" id="10"/>
          <p:cNvSpPr txBox="true"/>
          <p:nvPr/>
        </p:nvSpPr>
        <p:spPr>
          <a:xfrm rot="0">
            <a:off x="11099641" y="3227711"/>
            <a:ext cx="5556804" cy="8286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Sau khi xóa loại sách màn hình hiển thị lại tất cả thông tin của loại sách</a:t>
            </a:r>
          </a:p>
        </p:txBody>
      </p:sp>
      <p:sp>
        <p:nvSpPr>
          <p:cNvPr name="TextBox 11" id="11"/>
          <p:cNvSpPr txBox="true"/>
          <p:nvPr/>
        </p:nvSpPr>
        <p:spPr>
          <a:xfrm rot="0">
            <a:off x="188072" y="5673626"/>
            <a:ext cx="5061198" cy="4095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3.3.3: Các chức năng của nhân viên</a:t>
            </a:r>
          </a:p>
        </p:txBody>
      </p:sp>
      <p:sp>
        <p:nvSpPr>
          <p:cNvPr name="TextBox 12" id="12"/>
          <p:cNvSpPr txBox="true"/>
          <p:nvPr/>
        </p:nvSpPr>
        <p:spPr>
          <a:xfrm rot="0">
            <a:off x="188072" y="6727775"/>
            <a:ext cx="7841977" cy="2505075"/>
          </a:xfrm>
          <a:prstGeom prst="rect">
            <a:avLst/>
          </a:prstGeom>
        </p:spPr>
        <p:txBody>
          <a:bodyPr anchor="t" rtlCol="false" tIns="0" lIns="0" bIns="0" rIns="0">
            <a:spAutoFit/>
          </a:bodyPr>
          <a:lstStyle/>
          <a:p>
            <a:pPr algn="ctr">
              <a:lnSpc>
                <a:spcPts val="3359"/>
              </a:lnSpc>
              <a:spcBef>
                <a:spcPct val="0"/>
              </a:spcBef>
            </a:pPr>
            <a:r>
              <a:rPr lang="en-US" sz="2799">
                <a:solidFill>
                  <a:srgbClr val="000000"/>
                </a:solidFill>
                <a:latin typeface="Faustina"/>
                <a:ea typeface="Faustina"/>
                <a:cs typeface="Faustina"/>
                <a:sym typeface="Faustina"/>
              </a:rPr>
              <a:t>Khi đăng nhập vào tài khoản nhân viên thì nhân viên chỉ có quyền hạn là Quản Lý Sách, Quản Lý Loại Sách, Xem Thông Tin Tài Khoản,</a:t>
            </a:r>
          </a:p>
          <a:p>
            <a:pPr algn="ctr">
              <a:lnSpc>
                <a:spcPts val="3359"/>
              </a:lnSpc>
              <a:spcBef>
                <a:spcPct val="0"/>
              </a:spcBef>
            </a:pPr>
            <a:r>
              <a:rPr lang="en-US" sz="2799">
                <a:solidFill>
                  <a:srgbClr val="000000"/>
                </a:solidFill>
                <a:latin typeface="Faustina"/>
                <a:ea typeface="Faustina"/>
                <a:cs typeface="Faustina"/>
                <a:sym typeface="Faustina"/>
              </a:rPr>
              <a:t>Thống Kê và Báo Cáo như ở trên hình các chức năng ở quản lý thì giống như chủ cửa hàng , nhân viên không thể truy cập vào các chức năng quản lý còn lại</a:t>
            </a:r>
          </a:p>
        </p:txBody>
      </p:sp>
    </p:spTree>
  </p:cSld>
  <p:clrMapOvr>
    <a:masterClrMapping/>
  </p:clrMapOvr>
</p:sld>
</file>

<file path=ppt/slides/slide28.xml><?xml version="1.0" encoding="utf-8"?>
<p:sld xmlns:p="http://schemas.openxmlformats.org/presentationml/2006/main" xmlns:a="http://schemas.openxmlformats.org/drawingml/2006/main" xmlns:r="http://schemas.openxmlformats.org/officeDocument/2006/relationships">
  <p:cSld>
    <p:bg>
      <p:bgPr>
        <a:solidFill>
          <a:srgbClr val="295C4E"/>
        </a:solidFill>
      </p:bgPr>
    </p:bg>
    <p:spTree>
      <p:nvGrpSpPr>
        <p:cNvPr id="1" name=""/>
        <p:cNvGrpSpPr/>
        <p:nvPr/>
      </p:nvGrpSpPr>
      <p:grpSpPr>
        <a:xfrm>
          <a:off x="0" y="0"/>
          <a:ext cx="0" cy="0"/>
          <a:chOff x="0" y="0"/>
          <a:chExt cx="0" cy="0"/>
        </a:xfrm>
      </p:grpSpPr>
      <p:sp>
        <p:nvSpPr>
          <p:cNvPr name="AutoShape 2" id="2"/>
          <p:cNvSpPr/>
          <p:nvPr/>
        </p:nvSpPr>
        <p:spPr>
          <a:xfrm flipV="true">
            <a:off x="17391062" y="2140537"/>
            <a:ext cx="0" cy="10257527"/>
          </a:xfrm>
          <a:prstGeom prst="line">
            <a:avLst/>
          </a:prstGeom>
          <a:ln cap="rnd" w="9525">
            <a:solidFill>
              <a:srgbClr val="191919">
                <a:alpha val="29804"/>
              </a:srgbClr>
            </a:solidFill>
            <a:prstDash val="solid"/>
            <a:headEnd type="none" len="sm" w="sm"/>
            <a:tailEnd type="none" len="sm" w="sm"/>
          </a:ln>
        </p:spPr>
      </p:sp>
      <p:sp>
        <p:nvSpPr>
          <p:cNvPr name="TextBox 3" id="3"/>
          <p:cNvSpPr txBox="true"/>
          <p:nvPr/>
        </p:nvSpPr>
        <p:spPr>
          <a:xfrm rot="0">
            <a:off x="4499851" y="3086654"/>
            <a:ext cx="8424716" cy="3451135"/>
          </a:xfrm>
          <a:prstGeom prst="rect">
            <a:avLst/>
          </a:prstGeom>
        </p:spPr>
        <p:txBody>
          <a:bodyPr anchor="t" rtlCol="false" tIns="0" lIns="0" bIns="0" rIns="0">
            <a:spAutoFit/>
          </a:bodyPr>
          <a:lstStyle/>
          <a:p>
            <a:pPr algn="ctr">
              <a:lnSpc>
                <a:spcPts val="13656"/>
              </a:lnSpc>
            </a:pPr>
            <a:r>
              <a:rPr lang="en-US" sz="11380" b="true">
                <a:solidFill>
                  <a:srgbClr val="F6F6E9"/>
                </a:solidFill>
                <a:latin typeface="Faustina Bold"/>
                <a:ea typeface="Faustina Bold"/>
                <a:cs typeface="Faustina Bold"/>
                <a:sym typeface="Faustina Bold"/>
              </a:rPr>
              <a:t>Thank you for listening</a:t>
            </a:r>
          </a:p>
        </p:txBody>
      </p:sp>
      <p:sp>
        <p:nvSpPr>
          <p:cNvPr name="Freeform 4" id="4"/>
          <p:cNvSpPr/>
          <p:nvPr/>
        </p:nvSpPr>
        <p:spPr>
          <a:xfrm flipH="false" flipV="false" rot="0">
            <a:off x="12966564" y="3866104"/>
            <a:ext cx="1520668" cy="1892234"/>
          </a:xfrm>
          <a:custGeom>
            <a:avLst/>
            <a:gdLst/>
            <a:ahLst/>
            <a:cxnLst/>
            <a:rect r="r" b="b" t="t" l="l"/>
            <a:pathLst>
              <a:path h="1892234" w="1520668">
                <a:moveTo>
                  <a:pt x="0" y="0"/>
                </a:moveTo>
                <a:lnTo>
                  <a:pt x="1520668" y="0"/>
                </a:lnTo>
                <a:lnTo>
                  <a:pt x="1520668" y="1892234"/>
                </a:lnTo>
                <a:lnTo>
                  <a:pt x="0" y="1892234"/>
                </a:lnTo>
                <a:lnTo>
                  <a:pt x="0" y="0"/>
                </a:lnTo>
                <a:close/>
              </a:path>
            </a:pathLst>
          </a:custGeom>
          <a:blipFill>
            <a:blip r:embed="rId2">
              <a:extLst>
                <a:ext uri="{96DAC541-7B7A-43D3-8B79-37D633B846F1}">
                  <asvg:svgBlip xmlns:asvg="http://schemas.microsoft.com/office/drawing/2016/SVG/main" r:embed="rId3"/>
                </a:ext>
              </a:extLst>
            </a:blip>
            <a:stretch>
              <a:fillRect l="0" t="0" r="0" b="0"/>
            </a:stretch>
          </a:blipFill>
        </p:spPr>
      </p:sp>
      <p:sp>
        <p:nvSpPr>
          <p:cNvPr name="Freeform 5" id="5"/>
          <p:cNvSpPr/>
          <p:nvPr/>
        </p:nvSpPr>
        <p:spPr>
          <a:xfrm flipH="false" flipV="false" rot="0">
            <a:off x="2979183" y="4159483"/>
            <a:ext cx="1520668" cy="1892234"/>
          </a:xfrm>
          <a:custGeom>
            <a:avLst/>
            <a:gdLst/>
            <a:ahLst/>
            <a:cxnLst/>
            <a:rect r="r" b="b" t="t" l="l"/>
            <a:pathLst>
              <a:path h="1892234" w="1520668">
                <a:moveTo>
                  <a:pt x="0" y="0"/>
                </a:moveTo>
                <a:lnTo>
                  <a:pt x="1520668" y="0"/>
                </a:lnTo>
                <a:lnTo>
                  <a:pt x="1520668" y="1892234"/>
                </a:lnTo>
                <a:lnTo>
                  <a:pt x="0" y="1892234"/>
                </a:lnTo>
                <a:lnTo>
                  <a:pt x="0" y="0"/>
                </a:lnTo>
                <a:close/>
              </a:path>
            </a:pathLst>
          </a:custGeom>
          <a:blipFill>
            <a:blip r:embed="rId4">
              <a:extLst>
                <a:ext uri="{96DAC541-7B7A-43D3-8B79-37D633B846F1}">
                  <asvg:svgBlip xmlns:asvg="http://schemas.microsoft.com/office/drawing/2016/SVG/main" r:embed="rId5"/>
                </a:ext>
              </a:extLst>
            </a:blip>
            <a:stretch>
              <a:fillRect l="0" t="0" r="0" b="0"/>
            </a:stretch>
          </a:blipFill>
        </p:spPr>
      </p:sp>
      <p:sp>
        <p:nvSpPr>
          <p:cNvPr name="Freeform 6" id="6"/>
          <p:cNvSpPr/>
          <p:nvPr/>
        </p:nvSpPr>
        <p:spPr>
          <a:xfrm flipH="false" flipV="false" rot="0">
            <a:off x="1710250" y="4311134"/>
            <a:ext cx="1520668" cy="1892234"/>
          </a:xfrm>
          <a:custGeom>
            <a:avLst/>
            <a:gdLst/>
            <a:ahLst/>
            <a:cxnLst/>
            <a:rect r="r" b="b" t="t" l="l"/>
            <a:pathLst>
              <a:path h="1892234" w="1520668">
                <a:moveTo>
                  <a:pt x="0" y="0"/>
                </a:moveTo>
                <a:lnTo>
                  <a:pt x="1520668" y="0"/>
                </a:lnTo>
                <a:lnTo>
                  <a:pt x="1520668" y="1892234"/>
                </a:lnTo>
                <a:lnTo>
                  <a:pt x="0" y="1892234"/>
                </a:lnTo>
                <a:lnTo>
                  <a:pt x="0" y="0"/>
                </a:lnTo>
                <a:close/>
              </a:path>
            </a:pathLst>
          </a:custGeom>
          <a:blipFill>
            <a:blip r:embed="rId6">
              <a:extLst>
                <a:ext uri="{96DAC541-7B7A-43D3-8B79-37D633B846F1}">
                  <asvg:svgBlip xmlns:asvg="http://schemas.microsoft.com/office/drawing/2016/SVG/main" r:embed="rId7"/>
                </a:ext>
              </a:extLst>
            </a:blip>
            <a:stretch>
              <a:fillRect l="0" t="0" r="0" b="0"/>
            </a:stretch>
          </a:blipFill>
        </p:spPr>
      </p:sp>
      <p:sp>
        <p:nvSpPr>
          <p:cNvPr name="Freeform 7" id="7"/>
          <p:cNvSpPr/>
          <p:nvPr/>
        </p:nvSpPr>
        <p:spPr>
          <a:xfrm flipH="false" flipV="false" rot="0">
            <a:off x="13354023" y="5257251"/>
            <a:ext cx="1747736" cy="1892234"/>
          </a:xfrm>
          <a:custGeom>
            <a:avLst/>
            <a:gdLst/>
            <a:ahLst/>
            <a:cxnLst/>
            <a:rect r="r" b="b" t="t" l="l"/>
            <a:pathLst>
              <a:path h="1892234" w="1747736">
                <a:moveTo>
                  <a:pt x="0" y="0"/>
                </a:moveTo>
                <a:lnTo>
                  <a:pt x="1747736" y="0"/>
                </a:lnTo>
                <a:lnTo>
                  <a:pt x="1747736" y="1892234"/>
                </a:lnTo>
                <a:lnTo>
                  <a:pt x="0" y="1892234"/>
                </a:lnTo>
                <a:lnTo>
                  <a:pt x="0" y="0"/>
                </a:lnTo>
                <a:close/>
              </a:path>
            </a:pathLst>
          </a:custGeom>
          <a:blipFill>
            <a:blip r:embed="rId8">
              <a:extLst>
                <a:ext uri="{96DAC541-7B7A-43D3-8B79-37D633B846F1}">
                  <asvg:svgBlip xmlns:asvg="http://schemas.microsoft.com/office/drawing/2016/SVG/main" r:embed="rId9"/>
                </a:ext>
              </a:extLst>
            </a:blip>
            <a:stretch>
              <a:fillRect l="0" t="0" r="0" b="0"/>
            </a:stretch>
          </a:blipFill>
        </p:spPr>
      </p:sp>
      <p:sp>
        <p:nvSpPr>
          <p:cNvPr name="Freeform 8" id="8"/>
          <p:cNvSpPr/>
          <p:nvPr/>
        </p:nvSpPr>
        <p:spPr>
          <a:xfrm flipH="false" flipV="false" rot="0">
            <a:off x="2831829" y="2683709"/>
            <a:ext cx="1868151" cy="1892234"/>
          </a:xfrm>
          <a:custGeom>
            <a:avLst/>
            <a:gdLst/>
            <a:ahLst/>
            <a:cxnLst/>
            <a:rect r="r" b="b" t="t" l="l"/>
            <a:pathLst>
              <a:path h="1892234" w="1868151">
                <a:moveTo>
                  <a:pt x="0" y="0"/>
                </a:moveTo>
                <a:lnTo>
                  <a:pt x="1868151" y="0"/>
                </a:lnTo>
                <a:lnTo>
                  <a:pt x="1868151" y="1892234"/>
                </a:lnTo>
                <a:lnTo>
                  <a:pt x="0" y="1892234"/>
                </a:lnTo>
                <a:lnTo>
                  <a:pt x="0" y="0"/>
                </a:lnTo>
                <a:close/>
              </a:path>
            </a:pathLst>
          </a:custGeom>
          <a:blipFill>
            <a:blip r:embed="rId10">
              <a:extLst>
                <a:ext uri="{96DAC541-7B7A-43D3-8B79-37D633B846F1}">
                  <asvg:svgBlip xmlns:asvg="http://schemas.microsoft.com/office/drawing/2016/SVG/main" r:embed="rId11"/>
                </a:ext>
              </a:extLst>
            </a:blip>
            <a:stretch>
              <a:fillRect l="0" t="0" r="0" b="0"/>
            </a:stretch>
          </a:blipFill>
        </p:spPr>
      </p:sp>
      <p:sp>
        <p:nvSpPr>
          <p:cNvPr name="Freeform 9" id="9"/>
          <p:cNvSpPr/>
          <p:nvPr/>
        </p:nvSpPr>
        <p:spPr>
          <a:xfrm flipH="false" flipV="false" rot="0">
            <a:off x="2765877" y="5574340"/>
            <a:ext cx="1733974" cy="1892234"/>
          </a:xfrm>
          <a:custGeom>
            <a:avLst/>
            <a:gdLst/>
            <a:ahLst/>
            <a:cxnLst/>
            <a:rect r="r" b="b" t="t" l="l"/>
            <a:pathLst>
              <a:path h="1892234" w="1733974">
                <a:moveTo>
                  <a:pt x="0" y="0"/>
                </a:moveTo>
                <a:lnTo>
                  <a:pt x="1733974" y="0"/>
                </a:lnTo>
                <a:lnTo>
                  <a:pt x="1733974" y="1892234"/>
                </a:lnTo>
                <a:lnTo>
                  <a:pt x="0" y="1892234"/>
                </a:lnTo>
                <a:lnTo>
                  <a:pt x="0" y="0"/>
                </a:lnTo>
                <a:close/>
              </a:path>
            </a:pathLst>
          </a:custGeom>
          <a:blipFill>
            <a:blip r:embed="rId12">
              <a:extLst>
                <a:ext uri="{96DAC541-7B7A-43D3-8B79-37D633B846F1}">
                  <asvg:svgBlip xmlns:asvg="http://schemas.microsoft.com/office/drawing/2016/SVG/main" r:embed="rId13"/>
                </a:ext>
              </a:extLst>
            </a:blip>
            <a:stretch>
              <a:fillRect l="0" t="0" r="0" b="0"/>
            </a:stretch>
          </a:blipFill>
        </p:spPr>
      </p:sp>
      <p:sp>
        <p:nvSpPr>
          <p:cNvPr name="Freeform 10" id="10"/>
          <p:cNvSpPr/>
          <p:nvPr/>
        </p:nvSpPr>
        <p:spPr>
          <a:xfrm flipH="false" flipV="false" rot="0">
            <a:off x="14487232" y="3481908"/>
            <a:ext cx="1561953" cy="1892234"/>
          </a:xfrm>
          <a:custGeom>
            <a:avLst/>
            <a:gdLst/>
            <a:ahLst/>
            <a:cxnLst/>
            <a:rect r="r" b="b" t="t" l="l"/>
            <a:pathLst>
              <a:path h="1892234" w="1561953">
                <a:moveTo>
                  <a:pt x="0" y="0"/>
                </a:moveTo>
                <a:lnTo>
                  <a:pt x="1561953" y="0"/>
                </a:lnTo>
                <a:lnTo>
                  <a:pt x="1561953" y="1892234"/>
                </a:lnTo>
                <a:lnTo>
                  <a:pt x="0" y="1892234"/>
                </a:lnTo>
                <a:lnTo>
                  <a:pt x="0" y="0"/>
                </a:lnTo>
                <a:close/>
              </a:path>
            </a:pathLst>
          </a:custGeom>
          <a:blipFill>
            <a:blip r:embed="rId14">
              <a:extLst>
                <a:ext uri="{96DAC541-7B7A-43D3-8B79-37D633B846F1}">
                  <asvg:svgBlip xmlns:asvg="http://schemas.microsoft.com/office/drawing/2016/SVG/main" r:embed="rId15"/>
                </a:ext>
              </a:extLst>
            </a:blip>
            <a:stretch>
              <a:fillRect l="0" t="0" r="0" b="0"/>
            </a:stretch>
          </a:blipFill>
        </p:spPr>
      </p:sp>
      <p:sp>
        <p:nvSpPr>
          <p:cNvPr name="Freeform 11" id="11"/>
          <p:cNvSpPr/>
          <p:nvPr/>
        </p:nvSpPr>
        <p:spPr>
          <a:xfrm flipH="false" flipV="false" rot="0">
            <a:off x="12924568" y="2288692"/>
            <a:ext cx="1469062" cy="1892234"/>
          </a:xfrm>
          <a:custGeom>
            <a:avLst/>
            <a:gdLst/>
            <a:ahLst/>
            <a:cxnLst/>
            <a:rect r="r" b="b" t="t" l="l"/>
            <a:pathLst>
              <a:path h="1892234" w="1469062">
                <a:moveTo>
                  <a:pt x="0" y="0"/>
                </a:moveTo>
                <a:lnTo>
                  <a:pt x="1469061" y="0"/>
                </a:lnTo>
                <a:lnTo>
                  <a:pt x="1469061" y="1892234"/>
                </a:lnTo>
                <a:lnTo>
                  <a:pt x="0" y="1892234"/>
                </a:lnTo>
                <a:lnTo>
                  <a:pt x="0" y="0"/>
                </a:lnTo>
                <a:close/>
              </a:path>
            </a:pathLst>
          </a:custGeom>
          <a:blipFill>
            <a:blip r:embed="rId16">
              <a:extLst>
                <a:ext uri="{96DAC541-7B7A-43D3-8B79-37D633B846F1}">
                  <asvg:svgBlip xmlns:asvg="http://schemas.microsoft.com/office/drawing/2016/SVG/main" r:embed="rId17"/>
                </a:ext>
              </a:extLst>
            </a:blip>
            <a:stretch>
              <a:fillRect l="0" t="0" r="0" b="0"/>
            </a:stretch>
          </a:blipFill>
        </p:spPr>
      </p:sp>
      <p:sp>
        <p:nvSpPr>
          <p:cNvPr name="Freeform 12" id="12"/>
          <p:cNvSpPr/>
          <p:nvPr/>
        </p:nvSpPr>
        <p:spPr>
          <a:xfrm flipH="false" flipV="false" rot="0">
            <a:off x="7704508" y="7290266"/>
            <a:ext cx="2057400" cy="938923"/>
          </a:xfrm>
          <a:custGeom>
            <a:avLst/>
            <a:gdLst/>
            <a:ahLst/>
            <a:cxnLst/>
            <a:rect r="r" b="b" t="t" l="l"/>
            <a:pathLst>
              <a:path h="938923" w="2057400">
                <a:moveTo>
                  <a:pt x="0" y="0"/>
                </a:moveTo>
                <a:lnTo>
                  <a:pt x="2057400" y="0"/>
                </a:lnTo>
                <a:lnTo>
                  <a:pt x="2057400" y="938923"/>
                </a:lnTo>
                <a:lnTo>
                  <a:pt x="0" y="938923"/>
                </a:lnTo>
                <a:lnTo>
                  <a:pt x="0" y="0"/>
                </a:lnTo>
                <a:close/>
              </a:path>
            </a:pathLst>
          </a:custGeom>
          <a:blipFill>
            <a:blip r:embed="rId18">
              <a:extLst>
                <a:ext uri="{96DAC541-7B7A-43D3-8B79-37D633B846F1}">
                  <asvg:svgBlip xmlns:asvg="http://schemas.microsoft.com/office/drawing/2016/SVG/main" r:embed="rId19"/>
                </a:ext>
              </a:extLst>
            </a:blip>
            <a:stretch>
              <a:fillRect l="0" t="0" r="0" b="0"/>
            </a:stretch>
          </a:blipFill>
        </p:spPr>
      </p:sp>
      <p:sp>
        <p:nvSpPr>
          <p:cNvPr name="Freeform 13" id="13"/>
          <p:cNvSpPr/>
          <p:nvPr/>
        </p:nvSpPr>
        <p:spPr>
          <a:xfrm flipH="false" flipV="false" rot="0">
            <a:off x="5514589" y="7484784"/>
            <a:ext cx="2057400" cy="744405"/>
          </a:xfrm>
          <a:custGeom>
            <a:avLst/>
            <a:gdLst/>
            <a:ahLst/>
            <a:cxnLst/>
            <a:rect r="r" b="b" t="t" l="l"/>
            <a:pathLst>
              <a:path h="744405" w="2057400">
                <a:moveTo>
                  <a:pt x="0" y="0"/>
                </a:moveTo>
                <a:lnTo>
                  <a:pt x="2057400" y="0"/>
                </a:lnTo>
                <a:lnTo>
                  <a:pt x="2057400" y="744405"/>
                </a:lnTo>
                <a:lnTo>
                  <a:pt x="0" y="744405"/>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14" id="14"/>
          <p:cNvSpPr/>
          <p:nvPr/>
        </p:nvSpPr>
        <p:spPr>
          <a:xfrm flipH="false" flipV="false" rot="0">
            <a:off x="6870564" y="8229189"/>
            <a:ext cx="2057400" cy="359110"/>
          </a:xfrm>
          <a:custGeom>
            <a:avLst/>
            <a:gdLst/>
            <a:ahLst/>
            <a:cxnLst/>
            <a:rect r="r" b="b" t="t" l="l"/>
            <a:pathLst>
              <a:path h="359110" w="2057400">
                <a:moveTo>
                  <a:pt x="0" y="0"/>
                </a:moveTo>
                <a:lnTo>
                  <a:pt x="2057400" y="0"/>
                </a:lnTo>
                <a:lnTo>
                  <a:pt x="2057400" y="359110"/>
                </a:lnTo>
                <a:lnTo>
                  <a:pt x="0" y="359110"/>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15" id="15"/>
          <p:cNvSpPr/>
          <p:nvPr/>
        </p:nvSpPr>
        <p:spPr>
          <a:xfrm flipH="false" flipV="false" rot="0">
            <a:off x="14196236" y="2140537"/>
            <a:ext cx="1682368" cy="1892234"/>
          </a:xfrm>
          <a:custGeom>
            <a:avLst/>
            <a:gdLst/>
            <a:ahLst/>
            <a:cxnLst/>
            <a:rect r="r" b="b" t="t" l="l"/>
            <a:pathLst>
              <a:path h="1892234" w="1682368">
                <a:moveTo>
                  <a:pt x="0" y="0"/>
                </a:moveTo>
                <a:lnTo>
                  <a:pt x="1682368" y="0"/>
                </a:lnTo>
                <a:lnTo>
                  <a:pt x="1682368" y="1892234"/>
                </a:lnTo>
                <a:lnTo>
                  <a:pt x="0" y="1892234"/>
                </a:lnTo>
                <a:lnTo>
                  <a:pt x="0" y="0"/>
                </a:lnTo>
                <a:close/>
              </a:path>
            </a:pathLst>
          </a:custGeom>
          <a:blipFill>
            <a:blip r:embed="rId24">
              <a:extLst>
                <a:ext uri="{96DAC541-7B7A-43D3-8B79-37D633B846F1}">
                  <asvg:svgBlip xmlns:asvg="http://schemas.microsoft.com/office/drawing/2016/SVG/main" r:embed="rId25"/>
                </a:ext>
              </a:extLst>
            </a:blip>
            <a:stretch>
              <a:fillRect l="0" t="0" r="0" b="0"/>
            </a:stretch>
          </a:blipFill>
        </p:spPr>
      </p:sp>
      <p:sp>
        <p:nvSpPr>
          <p:cNvPr name="Freeform 16" id="16"/>
          <p:cNvSpPr/>
          <p:nvPr/>
        </p:nvSpPr>
        <p:spPr>
          <a:xfrm flipH="false" flipV="false" rot="0">
            <a:off x="1710250" y="2418900"/>
            <a:ext cx="1469062" cy="1892234"/>
          </a:xfrm>
          <a:custGeom>
            <a:avLst/>
            <a:gdLst/>
            <a:ahLst/>
            <a:cxnLst/>
            <a:rect r="r" b="b" t="t" l="l"/>
            <a:pathLst>
              <a:path h="1892234" w="1469062">
                <a:moveTo>
                  <a:pt x="0" y="0"/>
                </a:moveTo>
                <a:lnTo>
                  <a:pt x="1469062" y="0"/>
                </a:lnTo>
                <a:lnTo>
                  <a:pt x="1469062" y="1892234"/>
                </a:lnTo>
                <a:lnTo>
                  <a:pt x="0" y="1892234"/>
                </a:lnTo>
                <a:lnTo>
                  <a:pt x="0" y="0"/>
                </a:lnTo>
                <a:close/>
              </a:path>
            </a:pathLst>
          </a:custGeom>
          <a:blipFill>
            <a:blip r:embed="rId26">
              <a:extLst>
                <a:ext uri="{96DAC541-7B7A-43D3-8B79-37D633B846F1}">
                  <asvg:svgBlip xmlns:asvg="http://schemas.microsoft.com/office/drawing/2016/SVG/main" r:embed="rId27"/>
                </a:ext>
              </a:extLst>
            </a:blip>
            <a:stretch>
              <a:fillRect l="0" t="0" r="0" b="0"/>
            </a:stretch>
          </a:blipFill>
        </p:spPr>
      </p:sp>
      <p:sp>
        <p:nvSpPr>
          <p:cNvPr name="Freeform 17" id="17"/>
          <p:cNvSpPr/>
          <p:nvPr/>
        </p:nvSpPr>
        <p:spPr>
          <a:xfrm flipH="false" flipV="false" rot="0">
            <a:off x="14602845" y="5143500"/>
            <a:ext cx="1446341" cy="1464986"/>
          </a:xfrm>
          <a:custGeom>
            <a:avLst/>
            <a:gdLst/>
            <a:ahLst/>
            <a:cxnLst/>
            <a:rect r="r" b="b" t="t" l="l"/>
            <a:pathLst>
              <a:path h="1464986" w="1446341">
                <a:moveTo>
                  <a:pt x="0" y="0"/>
                </a:moveTo>
                <a:lnTo>
                  <a:pt x="1446340" y="0"/>
                </a:lnTo>
                <a:lnTo>
                  <a:pt x="1446340" y="1464986"/>
                </a:lnTo>
                <a:lnTo>
                  <a:pt x="0" y="1464986"/>
                </a:lnTo>
                <a:lnTo>
                  <a:pt x="0" y="0"/>
                </a:lnTo>
                <a:close/>
              </a:path>
            </a:pathLst>
          </a:custGeom>
          <a:blipFill>
            <a:blip r:embed="rId28">
              <a:extLst>
                <a:ext uri="{96DAC541-7B7A-43D3-8B79-37D633B846F1}">
                  <asvg:svgBlip xmlns:asvg="http://schemas.microsoft.com/office/drawing/2016/SVG/main" r:embed="rId29"/>
                </a:ext>
              </a:extLst>
            </a:blip>
            <a:stretch>
              <a:fillRect l="0" t="0" r="0" b="0"/>
            </a:stretch>
          </a:blipFill>
        </p:spPr>
      </p:sp>
      <p:sp>
        <p:nvSpPr>
          <p:cNvPr name="Freeform 18" id="18"/>
          <p:cNvSpPr/>
          <p:nvPr/>
        </p:nvSpPr>
        <p:spPr>
          <a:xfrm flipH="false" flipV="false" rot="-5400000">
            <a:off x="13012804" y="7124493"/>
            <a:ext cx="1483872" cy="1464986"/>
          </a:xfrm>
          <a:custGeom>
            <a:avLst/>
            <a:gdLst/>
            <a:ahLst/>
            <a:cxnLst/>
            <a:rect r="r" b="b" t="t" l="l"/>
            <a:pathLst>
              <a:path h="1464986" w="1483872">
                <a:moveTo>
                  <a:pt x="0" y="0"/>
                </a:moveTo>
                <a:lnTo>
                  <a:pt x="1483871" y="0"/>
                </a:lnTo>
                <a:lnTo>
                  <a:pt x="1483871" y="1464986"/>
                </a:lnTo>
                <a:lnTo>
                  <a:pt x="0" y="1464986"/>
                </a:lnTo>
                <a:lnTo>
                  <a:pt x="0" y="0"/>
                </a:lnTo>
                <a:close/>
              </a:path>
            </a:pathLst>
          </a:custGeom>
          <a:blipFill>
            <a:blip r:embed="rId30">
              <a:extLst>
                <a:ext uri="{96DAC541-7B7A-43D3-8B79-37D633B846F1}">
                  <asvg:svgBlip xmlns:asvg="http://schemas.microsoft.com/office/drawing/2016/SVG/main" r:embed="rId31"/>
                </a:ext>
              </a:extLst>
            </a:blip>
            <a:stretch>
              <a:fillRect l="0" t="0" r="0" b="0"/>
            </a:stretch>
          </a:blipFill>
        </p:spPr>
      </p:sp>
      <p:sp>
        <p:nvSpPr>
          <p:cNvPr name="Freeform 19" id="19"/>
          <p:cNvSpPr/>
          <p:nvPr/>
        </p:nvSpPr>
        <p:spPr>
          <a:xfrm flipH="false" flipV="false" rot="0">
            <a:off x="3374524" y="7290266"/>
            <a:ext cx="1514553" cy="1464986"/>
          </a:xfrm>
          <a:custGeom>
            <a:avLst/>
            <a:gdLst/>
            <a:ahLst/>
            <a:cxnLst/>
            <a:rect r="r" b="b" t="t" l="l"/>
            <a:pathLst>
              <a:path h="1464986" w="1514553">
                <a:moveTo>
                  <a:pt x="0" y="0"/>
                </a:moveTo>
                <a:lnTo>
                  <a:pt x="1514553" y="0"/>
                </a:lnTo>
                <a:lnTo>
                  <a:pt x="1514553" y="1464986"/>
                </a:lnTo>
                <a:lnTo>
                  <a:pt x="0" y="1464986"/>
                </a:lnTo>
                <a:lnTo>
                  <a:pt x="0" y="0"/>
                </a:lnTo>
                <a:close/>
              </a:path>
            </a:pathLst>
          </a:custGeom>
          <a:blipFill>
            <a:blip r:embed="rId32">
              <a:extLst>
                <a:ext uri="{96DAC541-7B7A-43D3-8B79-37D633B846F1}">
                  <asvg:svgBlip xmlns:asvg="http://schemas.microsoft.com/office/drawing/2016/SVG/main" r:embed="rId33"/>
                </a:ext>
              </a:extLst>
            </a:blip>
            <a:stretch>
              <a:fillRect l="0" t="0" r="0" b="0"/>
            </a:stretch>
          </a:blipFill>
        </p:spPr>
      </p:sp>
      <p:sp>
        <p:nvSpPr>
          <p:cNvPr name="Freeform 20" id="20"/>
          <p:cNvSpPr/>
          <p:nvPr/>
        </p:nvSpPr>
        <p:spPr>
          <a:xfrm flipH="false" flipV="false" rot="0">
            <a:off x="3965449" y="6943758"/>
            <a:ext cx="1443677" cy="1464986"/>
          </a:xfrm>
          <a:custGeom>
            <a:avLst/>
            <a:gdLst/>
            <a:ahLst/>
            <a:cxnLst/>
            <a:rect r="r" b="b" t="t" l="l"/>
            <a:pathLst>
              <a:path h="1464986" w="1443677">
                <a:moveTo>
                  <a:pt x="0" y="0"/>
                </a:moveTo>
                <a:lnTo>
                  <a:pt x="1443677" y="0"/>
                </a:lnTo>
                <a:lnTo>
                  <a:pt x="1443677" y="1464986"/>
                </a:lnTo>
                <a:lnTo>
                  <a:pt x="0" y="1464986"/>
                </a:lnTo>
                <a:lnTo>
                  <a:pt x="0" y="0"/>
                </a:lnTo>
                <a:close/>
              </a:path>
            </a:pathLst>
          </a:custGeom>
          <a:blipFill>
            <a:blip r:embed="rId34">
              <a:extLst>
                <a:ext uri="{96DAC541-7B7A-43D3-8B79-37D633B846F1}">
                  <asvg:svgBlip xmlns:asvg="http://schemas.microsoft.com/office/drawing/2016/SVG/main" r:embed="rId35"/>
                </a:ext>
              </a:extLst>
            </a:blip>
            <a:stretch>
              <a:fillRect l="0" t="0" r="0" b="0"/>
            </a:stretch>
          </a:blipFill>
        </p:spPr>
      </p:sp>
      <p:sp>
        <p:nvSpPr>
          <p:cNvPr name="Freeform 21" id="21"/>
          <p:cNvSpPr/>
          <p:nvPr/>
        </p:nvSpPr>
        <p:spPr>
          <a:xfrm flipH="false" flipV="false" rot="0">
            <a:off x="4889077" y="8229189"/>
            <a:ext cx="2057400" cy="359110"/>
          </a:xfrm>
          <a:custGeom>
            <a:avLst/>
            <a:gdLst/>
            <a:ahLst/>
            <a:cxnLst/>
            <a:rect r="r" b="b" t="t" l="l"/>
            <a:pathLst>
              <a:path h="359110" w="2057400">
                <a:moveTo>
                  <a:pt x="0" y="0"/>
                </a:moveTo>
                <a:lnTo>
                  <a:pt x="2057400" y="0"/>
                </a:lnTo>
                <a:lnTo>
                  <a:pt x="2057400" y="359110"/>
                </a:lnTo>
                <a:lnTo>
                  <a:pt x="0" y="359110"/>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2" id="22"/>
          <p:cNvSpPr/>
          <p:nvPr/>
        </p:nvSpPr>
        <p:spPr>
          <a:xfrm flipH="false" flipV="false" rot="0">
            <a:off x="9004164" y="8229189"/>
            <a:ext cx="2057400" cy="359110"/>
          </a:xfrm>
          <a:custGeom>
            <a:avLst/>
            <a:gdLst/>
            <a:ahLst/>
            <a:cxnLst/>
            <a:rect r="r" b="b" t="t" l="l"/>
            <a:pathLst>
              <a:path h="359110" w="2057400">
                <a:moveTo>
                  <a:pt x="0" y="0"/>
                </a:moveTo>
                <a:lnTo>
                  <a:pt x="2057400" y="0"/>
                </a:lnTo>
                <a:lnTo>
                  <a:pt x="2057400" y="359110"/>
                </a:lnTo>
                <a:lnTo>
                  <a:pt x="0" y="359110"/>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3" id="23"/>
          <p:cNvSpPr/>
          <p:nvPr/>
        </p:nvSpPr>
        <p:spPr>
          <a:xfrm flipH="false" flipV="false" rot="0">
            <a:off x="10909164" y="8229189"/>
            <a:ext cx="2057400" cy="359110"/>
          </a:xfrm>
          <a:custGeom>
            <a:avLst/>
            <a:gdLst/>
            <a:ahLst/>
            <a:cxnLst/>
            <a:rect r="r" b="b" t="t" l="l"/>
            <a:pathLst>
              <a:path h="359110" w="2057400">
                <a:moveTo>
                  <a:pt x="0" y="0"/>
                </a:moveTo>
                <a:lnTo>
                  <a:pt x="2057400" y="0"/>
                </a:lnTo>
                <a:lnTo>
                  <a:pt x="2057400" y="359110"/>
                </a:lnTo>
                <a:lnTo>
                  <a:pt x="0" y="359110"/>
                </a:lnTo>
                <a:lnTo>
                  <a:pt x="0" y="0"/>
                </a:lnTo>
                <a:close/>
              </a:path>
            </a:pathLst>
          </a:custGeom>
          <a:blipFill>
            <a:blip r:embed="rId22">
              <a:extLst>
                <a:ext uri="{96DAC541-7B7A-43D3-8B79-37D633B846F1}">
                  <asvg:svgBlip xmlns:asvg="http://schemas.microsoft.com/office/drawing/2016/SVG/main" r:embed="rId23"/>
                </a:ext>
              </a:extLst>
            </a:blip>
            <a:stretch>
              <a:fillRect l="0" t="0" r="0" b="0"/>
            </a:stretch>
          </a:blipFill>
        </p:spPr>
      </p:sp>
      <p:sp>
        <p:nvSpPr>
          <p:cNvPr name="Freeform 24" id="24"/>
          <p:cNvSpPr/>
          <p:nvPr/>
        </p:nvSpPr>
        <p:spPr>
          <a:xfrm flipH="false" flipV="false" rot="0">
            <a:off x="10108989" y="7484784"/>
            <a:ext cx="2057400" cy="744405"/>
          </a:xfrm>
          <a:custGeom>
            <a:avLst/>
            <a:gdLst/>
            <a:ahLst/>
            <a:cxnLst/>
            <a:rect r="r" b="b" t="t" l="l"/>
            <a:pathLst>
              <a:path h="744405" w="2057400">
                <a:moveTo>
                  <a:pt x="0" y="0"/>
                </a:moveTo>
                <a:lnTo>
                  <a:pt x="2057400" y="0"/>
                </a:lnTo>
                <a:lnTo>
                  <a:pt x="2057400" y="744405"/>
                </a:lnTo>
                <a:lnTo>
                  <a:pt x="0" y="744405"/>
                </a:lnTo>
                <a:lnTo>
                  <a:pt x="0" y="0"/>
                </a:lnTo>
                <a:close/>
              </a:path>
            </a:pathLst>
          </a:custGeom>
          <a:blipFill>
            <a:blip r:embed="rId20">
              <a:extLst>
                <a:ext uri="{96DAC541-7B7A-43D3-8B79-37D633B846F1}">
                  <asvg:svgBlip xmlns:asvg="http://schemas.microsoft.com/office/drawing/2016/SVG/main" r:embed="rId21"/>
                </a:ext>
              </a:extLst>
            </a:blip>
            <a:stretch>
              <a:fillRect l="0" t="0" r="0" b="0"/>
            </a:stretch>
          </a:blipFill>
        </p:spPr>
      </p:sp>
      <p:sp>
        <p:nvSpPr>
          <p:cNvPr name="Freeform 25" id="25"/>
          <p:cNvSpPr/>
          <p:nvPr/>
        </p:nvSpPr>
        <p:spPr>
          <a:xfrm flipH="false" flipV="false" rot="-5400000">
            <a:off x="12272567" y="6734081"/>
            <a:ext cx="1443677" cy="1464986"/>
          </a:xfrm>
          <a:custGeom>
            <a:avLst/>
            <a:gdLst/>
            <a:ahLst/>
            <a:cxnLst/>
            <a:rect r="r" b="b" t="t" l="l"/>
            <a:pathLst>
              <a:path h="1464986" w="1443677">
                <a:moveTo>
                  <a:pt x="0" y="0"/>
                </a:moveTo>
                <a:lnTo>
                  <a:pt x="1443677" y="0"/>
                </a:lnTo>
                <a:lnTo>
                  <a:pt x="1443677" y="1464986"/>
                </a:lnTo>
                <a:lnTo>
                  <a:pt x="0" y="1464986"/>
                </a:lnTo>
                <a:lnTo>
                  <a:pt x="0" y="0"/>
                </a:lnTo>
                <a:close/>
              </a:path>
            </a:pathLst>
          </a:custGeom>
          <a:blipFill>
            <a:blip r:embed="rId34">
              <a:extLst>
                <a:ext uri="{96DAC541-7B7A-43D3-8B79-37D633B846F1}">
                  <asvg:svgBlip xmlns:asvg="http://schemas.microsoft.com/office/drawing/2016/SVG/main" r:embed="rId35"/>
                </a:ext>
              </a:extLst>
            </a:blip>
            <a:stretch>
              <a:fillRect l="0" t="0" r="0" b="0"/>
            </a:stretch>
          </a:blipFill>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DAGZ5nkwFuM</dc:identifier>
  <dcterms:modified xsi:type="dcterms:W3CDTF">2011-08-01T06:04:30Z</dcterms:modified>
  <cp:revision>1</cp:revision>
  <dc:title>Quản Lý Cửa Hàng Bán Sách</dc:title>
</cp:coreProperties>
</file>