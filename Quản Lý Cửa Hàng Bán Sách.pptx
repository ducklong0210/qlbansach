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8288000" cy="10287000"/>
  <p:notesSz cx="6858000" cy="9144000"/>
  <p:embeddedFontLst>
    <p:embeddedFont>
      <p:font typeface="Asap" panose="020B0604020202020204" charset="0"/>
      <p:regular r:id="rId31"/>
    </p:embeddedFont>
    <p:embeddedFont>
      <p:font typeface="Asap Bold" panose="020B0604020202020204" charset="0"/>
      <p:regular r:id="rId32"/>
    </p:embeddedFont>
    <p:embeddedFont>
      <p:font typeface="Calibri" panose="020F0502020204030204" pitchFamily="34" charset="0"/>
      <p:regular r:id="rId33"/>
      <p:bold r:id="rId34"/>
      <p:italic r:id="rId35"/>
      <p:boldItalic r:id="rId36"/>
    </p:embeddedFont>
    <p:embeddedFont>
      <p:font typeface="Faustina" panose="020B0604020202020204" charset="0"/>
      <p:regular r:id="rId37"/>
    </p:embeddedFont>
    <p:embeddedFont>
      <p:font typeface="Faustina Bold" panose="020B0604020202020204" charset="0"/>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3" d="100"/>
          <a:sy n="73" d="100"/>
        </p:scale>
        <p:origin x="594" y="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5.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12/23/2024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12/23/2024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12/23/2024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gif"/></Relationships>
</file>

<file path=ppt/slides/_rels/slide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gif"/></Relationships>
</file>

<file path=ppt/slides/_rels/slide4.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gif"/></Relationships>
</file>

<file path=ppt/slides/_rels/slide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22.svg"/></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5" Type="http://schemas.openxmlformats.org/officeDocument/2006/relationships/image" Target="../media/image26.svg"/><Relationship Id="rId4" Type="http://schemas.openxmlformats.org/officeDocument/2006/relationships/image" Target="../media/image25.png"/></Relationships>
</file>

<file path=ppt/slides/_rels/slide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29.png"/></Relationships>
</file>

<file path=ppt/slides/_rels/slide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 Id="rId5" Type="http://schemas.openxmlformats.org/officeDocument/2006/relationships/image" Target="../media/image38.png"/><Relationship Id="rId4" Type="http://schemas.openxmlformats.org/officeDocument/2006/relationships/image" Target="../media/image37.png"/></Relationships>
</file>

<file path=ppt/slides/_rels/slide1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 Id="rId4" Type="http://schemas.openxmlformats.org/officeDocument/2006/relationships/image" Target="../media/image47.png"/></Relationships>
</file>

<file path=ppt/slides/_rels/slide1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 Id="rId5" Type="http://schemas.openxmlformats.org/officeDocument/2006/relationships/image" Target="../media/image51.png"/><Relationship Id="rId4" Type="http://schemas.openxmlformats.org/officeDocument/2006/relationships/image" Target="../media/image50.png"/></Relationships>
</file>

<file path=ppt/slides/_rels/slide1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7.xml"/><Relationship Id="rId4" Type="http://schemas.openxmlformats.org/officeDocument/2006/relationships/image" Target="../media/image54.png"/></Relationships>
</file>

<file path=ppt/slides/_rels/slide1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7.xml"/><Relationship Id="rId5" Type="http://schemas.openxmlformats.org/officeDocument/2006/relationships/image" Target="../media/image62.png"/><Relationship Id="rId4" Type="http://schemas.openxmlformats.org/officeDocument/2006/relationships/image" Target="../media/image61.png"/></Relationships>
</file>

<file path=ppt/slides/_rels/slide1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7.xml"/><Relationship Id="rId4" Type="http://schemas.openxmlformats.org/officeDocument/2006/relationships/image" Target="../media/image67.png"/></Relationships>
</file>

<file path=ppt/slides/_rels/slide2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7.xml"/><Relationship Id="rId5" Type="http://schemas.openxmlformats.org/officeDocument/2006/relationships/image" Target="../media/image71.png"/><Relationship Id="rId4" Type="http://schemas.openxmlformats.org/officeDocument/2006/relationships/image" Target="../media/image70.png"/></Relationships>
</file>

<file path=ppt/slides/_rels/slide22.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7.xml"/><Relationship Id="rId4" Type="http://schemas.openxmlformats.org/officeDocument/2006/relationships/image" Target="../media/image74.png"/></Relationships>
</file>

<file path=ppt/slides/_rels/slide23.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7.xml"/><Relationship Id="rId5" Type="http://schemas.openxmlformats.org/officeDocument/2006/relationships/image" Target="../media/image78.png"/><Relationship Id="rId4" Type="http://schemas.openxmlformats.org/officeDocument/2006/relationships/image" Target="../media/image77.png"/></Relationships>
</file>

<file path=ppt/slides/_rels/slide2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7.xml"/><Relationship Id="rId4" Type="http://schemas.openxmlformats.org/officeDocument/2006/relationships/image" Target="../media/image85.png"/></Relationships>
</file>

<file path=ppt/slides/_rels/slide27.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7.xml"/><Relationship Id="rId5" Type="http://schemas.openxmlformats.org/officeDocument/2006/relationships/image" Target="../media/image89.png"/><Relationship Id="rId4" Type="http://schemas.openxmlformats.org/officeDocument/2006/relationships/image" Target="../media/image88.png"/></Relationships>
</file>

<file path=ppt/slides/_rels/slide28.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7.xml"/><Relationship Id="rId4" Type="http://schemas.openxmlformats.org/officeDocument/2006/relationships/image" Target="../media/image92.png"/></Relationships>
</file>

<file path=ppt/slides/_rels/slide29.xml.rels><?xml version="1.0" encoding="UTF-8" standalone="yes"?>
<Relationships xmlns="http://schemas.openxmlformats.org/package/2006/relationships"><Relationship Id="rId8" Type="http://schemas.openxmlformats.org/officeDocument/2006/relationships/image" Target="../media/image99.png"/><Relationship Id="rId13" Type="http://schemas.openxmlformats.org/officeDocument/2006/relationships/image" Target="../media/image104.svg"/><Relationship Id="rId18" Type="http://schemas.openxmlformats.org/officeDocument/2006/relationships/image" Target="../media/image109.png"/><Relationship Id="rId26" Type="http://schemas.openxmlformats.org/officeDocument/2006/relationships/image" Target="../media/image117.png"/><Relationship Id="rId3" Type="http://schemas.openxmlformats.org/officeDocument/2006/relationships/image" Target="../media/image94.svg"/><Relationship Id="rId21" Type="http://schemas.openxmlformats.org/officeDocument/2006/relationships/image" Target="../media/image112.svg"/><Relationship Id="rId34" Type="http://schemas.openxmlformats.org/officeDocument/2006/relationships/image" Target="../media/image125.png"/><Relationship Id="rId7" Type="http://schemas.openxmlformats.org/officeDocument/2006/relationships/image" Target="../media/image98.svg"/><Relationship Id="rId12" Type="http://schemas.openxmlformats.org/officeDocument/2006/relationships/image" Target="../media/image103.png"/><Relationship Id="rId17" Type="http://schemas.openxmlformats.org/officeDocument/2006/relationships/image" Target="../media/image108.svg"/><Relationship Id="rId25" Type="http://schemas.openxmlformats.org/officeDocument/2006/relationships/image" Target="../media/image116.svg"/><Relationship Id="rId33" Type="http://schemas.openxmlformats.org/officeDocument/2006/relationships/image" Target="../media/image124.svg"/><Relationship Id="rId2" Type="http://schemas.openxmlformats.org/officeDocument/2006/relationships/image" Target="../media/image93.png"/><Relationship Id="rId16" Type="http://schemas.openxmlformats.org/officeDocument/2006/relationships/image" Target="../media/image107.png"/><Relationship Id="rId20" Type="http://schemas.openxmlformats.org/officeDocument/2006/relationships/image" Target="../media/image111.png"/><Relationship Id="rId29" Type="http://schemas.openxmlformats.org/officeDocument/2006/relationships/image" Target="../media/image120.svg"/><Relationship Id="rId1" Type="http://schemas.openxmlformats.org/officeDocument/2006/relationships/slideLayout" Target="../slideLayouts/slideLayout7.xml"/><Relationship Id="rId6" Type="http://schemas.openxmlformats.org/officeDocument/2006/relationships/image" Target="../media/image97.png"/><Relationship Id="rId11" Type="http://schemas.openxmlformats.org/officeDocument/2006/relationships/image" Target="../media/image102.svg"/><Relationship Id="rId24" Type="http://schemas.openxmlformats.org/officeDocument/2006/relationships/image" Target="../media/image115.png"/><Relationship Id="rId32" Type="http://schemas.openxmlformats.org/officeDocument/2006/relationships/image" Target="../media/image123.png"/><Relationship Id="rId5" Type="http://schemas.openxmlformats.org/officeDocument/2006/relationships/image" Target="../media/image96.svg"/><Relationship Id="rId15" Type="http://schemas.openxmlformats.org/officeDocument/2006/relationships/image" Target="../media/image106.svg"/><Relationship Id="rId23" Type="http://schemas.openxmlformats.org/officeDocument/2006/relationships/image" Target="../media/image114.svg"/><Relationship Id="rId28" Type="http://schemas.openxmlformats.org/officeDocument/2006/relationships/image" Target="../media/image119.png"/><Relationship Id="rId10" Type="http://schemas.openxmlformats.org/officeDocument/2006/relationships/image" Target="../media/image101.png"/><Relationship Id="rId19" Type="http://schemas.openxmlformats.org/officeDocument/2006/relationships/image" Target="../media/image110.svg"/><Relationship Id="rId31" Type="http://schemas.openxmlformats.org/officeDocument/2006/relationships/image" Target="../media/image122.svg"/><Relationship Id="rId4" Type="http://schemas.openxmlformats.org/officeDocument/2006/relationships/image" Target="../media/image95.png"/><Relationship Id="rId9" Type="http://schemas.openxmlformats.org/officeDocument/2006/relationships/image" Target="../media/image100.svg"/><Relationship Id="rId14" Type="http://schemas.openxmlformats.org/officeDocument/2006/relationships/image" Target="../media/image105.png"/><Relationship Id="rId22" Type="http://schemas.openxmlformats.org/officeDocument/2006/relationships/image" Target="../media/image113.png"/><Relationship Id="rId27" Type="http://schemas.openxmlformats.org/officeDocument/2006/relationships/image" Target="../media/image118.svg"/><Relationship Id="rId30" Type="http://schemas.openxmlformats.org/officeDocument/2006/relationships/image" Target="../media/image121.png"/><Relationship Id="rId35" Type="http://schemas.openxmlformats.org/officeDocument/2006/relationships/image" Target="../media/image126.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95C4E"/>
        </a:solidFill>
        <a:effectLst/>
      </p:bgPr>
    </p:bg>
    <p:spTree>
      <p:nvGrpSpPr>
        <p:cNvPr id="1" name=""/>
        <p:cNvGrpSpPr/>
        <p:nvPr/>
      </p:nvGrpSpPr>
      <p:grpSpPr>
        <a:xfrm>
          <a:off x="0" y="0"/>
          <a:ext cx="0" cy="0"/>
          <a:chOff x="0" y="0"/>
          <a:chExt cx="0" cy="0"/>
        </a:xfrm>
      </p:grpSpPr>
      <p:grpSp>
        <p:nvGrpSpPr>
          <p:cNvPr id="2" name="Group 2"/>
          <p:cNvGrpSpPr/>
          <p:nvPr/>
        </p:nvGrpSpPr>
        <p:grpSpPr>
          <a:xfrm>
            <a:off x="-4868919" y="-3415154"/>
            <a:ext cx="10808939" cy="17365434"/>
            <a:chOff x="0" y="0"/>
            <a:chExt cx="14411919" cy="23153912"/>
          </a:xfrm>
        </p:grpSpPr>
        <p:sp>
          <p:nvSpPr>
            <p:cNvPr id="3" name="Freeform 3"/>
            <p:cNvSpPr/>
            <p:nvPr/>
          </p:nvSpPr>
          <p:spPr>
            <a:xfrm rot="1788130">
              <a:off x="1908439" y="6798097"/>
              <a:ext cx="7850521" cy="9768748"/>
            </a:xfrm>
            <a:custGeom>
              <a:avLst/>
              <a:gdLst/>
              <a:ahLst/>
              <a:cxnLst/>
              <a:rect l="l" t="t" r="r" b="b"/>
              <a:pathLst>
                <a:path w="7850521" h="9768748">
                  <a:moveTo>
                    <a:pt x="0" y="0"/>
                  </a:moveTo>
                  <a:lnTo>
                    <a:pt x="7850521" y="0"/>
                  </a:lnTo>
                  <a:lnTo>
                    <a:pt x="7850521" y="9768749"/>
                  </a:lnTo>
                  <a:lnTo>
                    <a:pt x="0" y="9768749"/>
                  </a:lnTo>
                  <a:lnTo>
                    <a:pt x="0" y="0"/>
                  </a:lnTo>
                  <a:close/>
                </a:path>
              </a:pathLst>
            </a:custGeom>
            <a:blipFill>
              <a:blip r:embed="rId2">
                <a:alphaModFix amt="25000"/>
                <a:extLst>
                  <a:ext uri="{96DAC541-7B7A-43D3-8B79-37D633B846F1}">
                    <asvg:svgBlip xmlns:asvg="http://schemas.microsoft.com/office/drawing/2016/SVG/main" r:embed="rId3"/>
                  </a:ext>
                </a:extLst>
              </a:blip>
              <a:stretch>
                <a:fillRect/>
              </a:stretch>
            </a:blipFill>
          </p:spPr>
        </p:sp>
        <p:sp>
          <p:nvSpPr>
            <p:cNvPr id="4" name="Freeform 4"/>
            <p:cNvSpPr/>
            <p:nvPr/>
          </p:nvSpPr>
          <p:spPr>
            <a:xfrm rot="5528272">
              <a:off x="5459255" y="-779638"/>
              <a:ext cx="7850521" cy="9768748"/>
            </a:xfrm>
            <a:custGeom>
              <a:avLst/>
              <a:gdLst/>
              <a:ahLst/>
              <a:cxnLst/>
              <a:rect l="l" t="t" r="r" b="b"/>
              <a:pathLst>
                <a:path w="7850521" h="9768748">
                  <a:moveTo>
                    <a:pt x="0" y="0"/>
                  </a:moveTo>
                  <a:lnTo>
                    <a:pt x="7850521" y="0"/>
                  </a:lnTo>
                  <a:lnTo>
                    <a:pt x="7850521" y="9768749"/>
                  </a:lnTo>
                  <a:lnTo>
                    <a:pt x="0" y="9768749"/>
                  </a:lnTo>
                  <a:lnTo>
                    <a:pt x="0" y="0"/>
                  </a:lnTo>
                  <a:close/>
                </a:path>
              </a:pathLst>
            </a:custGeom>
            <a:blipFill>
              <a:blip r:embed="rId2">
                <a:alphaModFix amt="25000"/>
                <a:extLst>
                  <a:ext uri="{96DAC541-7B7A-43D3-8B79-37D633B846F1}">
                    <asvg:svgBlip xmlns:asvg="http://schemas.microsoft.com/office/drawing/2016/SVG/main" r:embed="rId3"/>
                  </a:ext>
                </a:extLst>
              </a:blip>
              <a:stretch>
                <a:fillRect/>
              </a:stretch>
            </a:blipFill>
          </p:spPr>
        </p:sp>
        <p:sp>
          <p:nvSpPr>
            <p:cNvPr id="5" name="Freeform 5"/>
            <p:cNvSpPr/>
            <p:nvPr/>
          </p:nvSpPr>
          <p:spPr>
            <a:xfrm>
              <a:off x="4973372" y="13385164"/>
              <a:ext cx="7850521" cy="9768748"/>
            </a:xfrm>
            <a:custGeom>
              <a:avLst/>
              <a:gdLst/>
              <a:ahLst/>
              <a:cxnLst/>
              <a:rect l="l" t="t" r="r" b="b"/>
              <a:pathLst>
                <a:path w="7850521" h="9768748">
                  <a:moveTo>
                    <a:pt x="0" y="0"/>
                  </a:moveTo>
                  <a:lnTo>
                    <a:pt x="7850521" y="0"/>
                  </a:lnTo>
                  <a:lnTo>
                    <a:pt x="7850521" y="9768748"/>
                  </a:lnTo>
                  <a:lnTo>
                    <a:pt x="0" y="9768748"/>
                  </a:lnTo>
                  <a:lnTo>
                    <a:pt x="0" y="0"/>
                  </a:lnTo>
                  <a:close/>
                </a:path>
              </a:pathLst>
            </a:custGeom>
            <a:blipFill>
              <a:blip r:embed="rId2">
                <a:alphaModFix amt="25000"/>
                <a:extLst>
                  <a:ext uri="{96DAC541-7B7A-43D3-8B79-37D633B846F1}">
                    <asvg:svgBlip xmlns:asvg="http://schemas.microsoft.com/office/drawing/2016/SVG/main" r:embed="rId3"/>
                  </a:ext>
                </a:extLst>
              </a:blip>
              <a:stretch>
                <a:fillRect/>
              </a:stretch>
            </a:blipFill>
          </p:spPr>
        </p:sp>
      </p:grpSp>
      <p:sp>
        <p:nvSpPr>
          <p:cNvPr id="6" name="Freeform 6"/>
          <p:cNvSpPr/>
          <p:nvPr/>
        </p:nvSpPr>
        <p:spPr>
          <a:xfrm>
            <a:off x="535551" y="7308486"/>
            <a:ext cx="2538599" cy="2455517"/>
          </a:xfrm>
          <a:custGeom>
            <a:avLst/>
            <a:gdLst/>
            <a:ahLst/>
            <a:cxnLst/>
            <a:rect l="l" t="t" r="r" b="b"/>
            <a:pathLst>
              <a:path w="2538599" h="2455517">
                <a:moveTo>
                  <a:pt x="0" y="0"/>
                </a:moveTo>
                <a:lnTo>
                  <a:pt x="2538598" y="0"/>
                </a:lnTo>
                <a:lnTo>
                  <a:pt x="2538598" y="2455518"/>
                </a:lnTo>
                <a:lnTo>
                  <a:pt x="0" y="245551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7" name="Group 7"/>
          <p:cNvGrpSpPr/>
          <p:nvPr/>
        </p:nvGrpSpPr>
        <p:grpSpPr>
          <a:xfrm>
            <a:off x="12347980" y="-3592481"/>
            <a:ext cx="10808939" cy="17365434"/>
            <a:chOff x="0" y="0"/>
            <a:chExt cx="14411919" cy="23153912"/>
          </a:xfrm>
        </p:grpSpPr>
        <p:sp>
          <p:nvSpPr>
            <p:cNvPr id="8" name="Freeform 8"/>
            <p:cNvSpPr/>
            <p:nvPr/>
          </p:nvSpPr>
          <p:spPr>
            <a:xfrm rot="-9011869">
              <a:off x="4652959" y="6587067"/>
              <a:ext cx="7850521" cy="9768748"/>
            </a:xfrm>
            <a:custGeom>
              <a:avLst/>
              <a:gdLst/>
              <a:ahLst/>
              <a:cxnLst/>
              <a:rect l="l" t="t" r="r" b="b"/>
              <a:pathLst>
                <a:path w="7850521" h="9768748">
                  <a:moveTo>
                    <a:pt x="0" y="0"/>
                  </a:moveTo>
                  <a:lnTo>
                    <a:pt x="7850521" y="0"/>
                  </a:lnTo>
                  <a:lnTo>
                    <a:pt x="7850521" y="9768748"/>
                  </a:lnTo>
                  <a:lnTo>
                    <a:pt x="0" y="9768748"/>
                  </a:lnTo>
                  <a:lnTo>
                    <a:pt x="0" y="0"/>
                  </a:lnTo>
                  <a:close/>
                </a:path>
              </a:pathLst>
            </a:custGeom>
            <a:blipFill>
              <a:blip r:embed="rId2">
                <a:alphaModFix amt="25000"/>
                <a:extLst>
                  <a:ext uri="{96DAC541-7B7A-43D3-8B79-37D633B846F1}">
                    <asvg:svgBlip xmlns:asvg="http://schemas.microsoft.com/office/drawing/2016/SVG/main" r:embed="rId3"/>
                  </a:ext>
                </a:extLst>
              </a:blip>
              <a:stretch>
                <a:fillRect/>
              </a:stretch>
            </a:blipFill>
          </p:spPr>
        </p:sp>
        <p:sp>
          <p:nvSpPr>
            <p:cNvPr id="9" name="Freeform 9"/>
            <p:cNvSpPr/>
            <p:nvPr/>
          </p:nvSpPr>
          <p:spPr>
            <a:xfrm rot="-5271727">
              <a:off x="1102143" y="14164802"/>
              <a:ext cx="7850521" cy="9768748"/>
            </a:xfrm>
            <a:custGeom>
              <a:avLst/>
              <a:gdLst/>
              <a:ahLst/>
              <a:cxnLst/>
              <a:rect l="l" t="t" r="r" b="b"/>
              <a:pathLst>
                <a:path w="7850521" h="9768748">
                  <a:moveTo>
                    <a:pt x="0" y="0"/>
                  </a:moveTo>
                  <a:lnTo>
                    <a:pt x="7850521" y="0"/>
                  </a:lnTo>
                  <a:lnTo>
                    <a:pt x="7850521" y="9768748"/>
                  </a:lnTo>
                  <a:lnTo>
                    <a:pt x="0" y="9768748"/>
                  </a:lnTo>
                  <a:lnTo>
                    <a:pt x="0" y="0"/>
                  </a:lnTo>
                  <a:close/>
                </a:path>
              </a:pathLst>
            </a:custGeom>
            <a:blipFill>
              <a:blip r:embed="rId2">
                <a:alphaModFix amt="25000"/>
                <a:extLst>
                  <a:ext uri="{96DAC541-7B7A-43D3-8B79-37D633B846F1}">
                    <asvg:svgBlip xmlns:asvg="http://schemas.microsoft.com/office/drawing/2016/SVG/main" r:embed="rId3"/>
                  </a:ext>
                </a:extLst>
              </a:blip>
              <a:stretch>
                <a:fillRect/>
              </a:stretch>
            </a:blipFill>
          </p:spPr>
        </p:sp>
        <p:sp>
          <p:nvSpPr>
            <p:cNvPr id="10" name="Freeform 10"/>
            <p:cNvSpPr/>
            <p:nvPr/>
          </p:nvSpPr>
          <p:spPr>
            <a:xfrm rot="-10800000">
              <a:off x="1588026" y="0"/>
              <a:ext cx="7850521" cy="9768748"/>
            </a:xfrm>
            <a:custGeom>
              <a:avLst/>
              <a:gdLst/>
              <a:ahLst/>
              <a:cxnLst/>
              <a:rect l="l" t="t" r="r" b="b"/>
              <a:pathLst>
                <a:path w="7850521" h="9768748">
                  <a:moveTo>
                    <a:pt x="0" y="0"/>
                  </a:moveTo>
                  <a:lnTo>
                    <a:pt x="7850521" y="0"/>
                  </a:lnTo>
                  <a:lnTo>
                    <a:pt x="7850521" y="9768748"/>
                  </a:lnTo>
                  <a:lnTo>
                    <a:pt x="0" y="9768748"/>
                  </a:lnTo>
                  <a:lnTo>
                    <a:pt x="0" y="0"/>
                  </a:lnTo>
                  <a:close/>
                </a:path>
              </a:pathLst>
            </a:custGeom>
            <a:blipFill>
              <a:blip r:embed="rId2">
                <a:alphaModFix amt="25000"/>
                <a:extLst>
                  <a:ext uri="{96DAC541-7B7A-43D3-8B79-37D633B846F1}">
                    <asvg:svgBlip xmlns:asvg="http://schemas.microsoft.com/office/drawing/2016/SVG/main" r:embed="rId3"/>
                  </a:ext>
                </a:extLst>
              </a:blip>
              <a:stretch>
                <a:fillRect/>
              </a:stretch>
            </a:blipFill>
          </p:spPr>
        </p:sp>
      </p:grpSp>
      <p:sp>
        <p:nvSpPr>
          <p:cNvPr id="11" name="Freeform 11"/>
          <p:cNvSpPr/>
          <p:nvPr/>
        </p:nvSpPr>
        <p:spPr>
          <a:xfrm rot="-5400000">
            <a:off x="15255391" y="7266946"/>
            <a:ext cx="2538599" cy="2455517"/>
          </a:xfrm>
          <a:custGeom>
            <a:avLst/>
            <a:gdLst/>
            <a:ahLst/>
            <a:cxnLst/>
            <a:rect l="l" t="t" r="r" b="b"/>
            <a:pathLst>
              <a:path w="2538599" h="2455517">
                <a:moveTo>
                  <a:pt x="0" y="0"/>
                </a:moveTo>
                <a:lnTo>
                  <a:pt x="2538599" y="0"/>
                </a:lnTo>
                <a:lnTo>
                  <a:pt x="2538599" y="2455517"/>
                </a:lnTo>
                <a:lnTo>
                  <a:pt x="0" y="245551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Freeform 12"/>
          <p:cNvSpPr/>
          <p:nvPr/>
        </p:nvSpPr>
        <p:spPr>
          <a:xfrm rot="5334643">
            <a:off x="598097" y="660312"/>
            <a:ext cx="2538599" cy="2455517"/>
          </a:xfrm>
          <a:custGeom>
            <a:avLst/>
            <a:gdLst/>
            <a:ahLst/>
            <a:cxnLst/>
            <a:rect l="l" t="t" r="r" b="b"/>
            <a:pathLst>
              <a:path w="2538599" h="2455517">
                <a:moveTo>
                  <a:pt x="0" y="0"/>
                </a:moveTo>
                <a:lnTo>
                  <a:pt x="2538599" y="0"/>
                </a:lnTo>
                <a:lnTo>
                  <a:pt x="2538599" y="2455518"/>
                </a:lnTo>
                <a:lnTo>
                  <a:pt x="0" y="245551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3" name="Freeform 13"/>
          <p:cNvSpPr/>
          <p:nvPr/>
        </p:nvSpPr>
        <p:spPr>
          <a:xfrm rot="-10800000">
            <a:off x="15213851" y="595661"/>
            <a:ext cx="2538599" cy="2455517"/>
          </a:xfrm>
          <a:custGeom>
            <a:avLst/>
            <a:gdLst/>
            <a:ahLst/>
            <a:cxnLst/>
            <a:rect l="l" t="t" r="r" b="b"/>
            <a:pathLst>
              <a:path w="2538599" h="2455517">
                <a:moveTo>
                  <a:pt x="0" y="0"/>
                </a:moveTo>
                <a:lnTo>
                  <a:pt x="2538598" y="0"/>
                </a:lnTo>
                <a:lnTo>
                  <a:pt x="2538598" y="2455517"/>
                </a:lnTo>
                <a:lnTo>
                  <a:pt x="0" y="245551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4" name="Group 14"/>
          <p:cNvGrpSpPr/>
          <p:nvPr/>
        </p:nvGrpSpPr>
        <p:grpSpPr>
          <a:xfrm>
            <a:off x="3119063" y="1654711"/>
            <a:ext cx="11288442" cy="5973211"/>
            <a:chOff x="0" y="0"/>
            <a:chExt cx="15051256" cy="7964281"/>
          </a:xfrm>
        </p:grpSpPr>
        <p:sp>
          <p:nvSpPr>
            <p:cNvPr id="15" name="TextBox 15"/>
            <p:cNvSpPr txBox="1"/>
            <p:nvPr/>
          </p:nvSpPr>
          <p:spPr>
            <a:xfrm>
              <a:off x="0" y="1799985"/>
              <a:ext cx="15051256" cy="4507187"/>
            </a:xfrm>
            <a:prstGeom prst="rect">
              <a:avLst/>
            </a:prstGeom>
          </p:spPr>
          <p:txBody>
            <a:bodyPr lIns="0" tIns="0" rIns="0" bIns="0" rtlCol="0" anchor="t">
              <a:spAutoFit/>
            </a:bodyPr>
            <a:lstStyle/>
            <a:p>
              <a:pPr marL="0" lvl="0" indent="0" algn="ctr">
                <a:lnSpc>
                  <a:spcPts val="13020"/>
                </a:lnSpc>
              </a:pPr>
              <a:r>
                <a:rPr lang="en-US" sz="12168">
                  <a:solidFill>
                    <a:srgbClr val="F6F6E9"/>
                  </a:solidFill>
                  <a:latin typeface="Faustina"/>
                  <a:ea typeface="Faustina"/>
                  <a:cs typeface="Faustina"/>
                  <a:sym typeface="Faustina"/>
                </a:rPr>
                <a:t>Quản Lý Cửa Hàng Bán Sách</a:t>
              </a:r>
            </a:p>
          </p:txBody>
        </p:sp>
        <p:sp>
          <p:nvSpPr>
            <p:cNvPr id="16" name="Freeform 16"/>
            <p:cNvSpPr/>
            <p:nvPr/>
          </p:nvSpPr>
          <p:spPr>
            <a:xfrm>
              <a:off x="4057739" y="0"/>
              <a:ext cx="6935777" cy="1248440"/>
            </a:xfrm>
            <a:custGeom>
              <a:avLst/>
              <a:gdLst/>
              <a:ahLst/>
              <a:cxnLst/>
              <a:rect l="l" t="t" r="r" b="b"/>
              <a:pathLst>
                <a:path w="6935777" h="1248440">
                  <a:moveTo>
                    <a:pt x="0" y="0"/>
                  </a:moveTo>
                  <a:lnTo>
                    <a:pt x="6935778" y="0"/>
                  </a:lnTo>
                  <a:lnTo>
                    <a:pt x="6935778" y="1248440"/>
                  </a:lnTo>
                  <a:lnTo>
                    <a:pt x="0" y="124844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7" name="Freeform 17"/>
            <p:cNvSpPr/>
            <p:nvPr/>
          </p:nvSpPr>
          <p:spPr>
            <a:xfrm rot="-10800000">
              <a:off x="4057739" y="6715842"/>
              <a:ext cx="6935777" cy="1248440"/>
            </a:xfrm>
            <a:custGeom>
              <a:avLst/>
              <a:gdLst/>
              <a:ahLst/>
              <a:cxnLst/>
              <a:rect l="l" t="t" r="r" b="b"/>
              <a:pathLst>
                <a:path w="6935777" h="1248440">
                  <a:moveTo>
                    <a:pt x="0" y="0"/>
                  </a:moveTo>
                  <a:lnTo>
                    <a:pt x="6935778" y="0"/>
                  </a:lnTo>
                  <a:lnTo>
                    <a:pt x="6935778" y="1248439"/>
                  </a:lnTo>
                  <a:lnTo>
                    <a:pt x="0" y="124843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6E9"/>
        </a:solidFill>
        <a:effectLst/>
      </p:bgPr>
    </p:bg>
    <p:spTree>
      <p:nvGrpSpPr>
        <p:cNvPr id="1" name=""/>
        <p:cNvGrpSpPr/>
        <p:nvPr/>
      </p:nvGrpSpPr>
      <p:grpSpPr>
        <a:xfrm>
          <a:off x="0" y="0"/>
          <a:ext cx="0" cy="0"/>
          <a:chOff x="0" y="0"/>
          <a:chExt cx="0" cy="0"/>
        </a:xfrm>
      </p:grpSpPr>
      <p:sp>
        <p:nvSpPr>
          <p:cNvPr id="2" name="Freeform 2"/>
          <p:cNvSpPr/>
          <p:nvPr/>
        </p:nvSpPr>
        <p:spPr>
          <a:xfrm rot="-5400000">
            <a:off x="12388725" y="2274403"/>
            <a:ext cx="8367370" cy="3818563"/>
          </a:xfrm>
          <a:custGeom>
            <a:avLst/>
            <a:gdLst/>
            <a:ahLst/>
            <a:cxnLst/>
            <a:rect l="l" t="t" r="r" b="b"/>
            <a:pathLst>
              <a:path w="8367370" h="3818563">
                <a:moveTo>
                  <a:pt x="0" y="0"/>
                </a:moveTo>
                <a:lnTo>
                  <a:pt x="8367370" y="0"/>
                </a:lnTo>
                <a:lnTo>
                  <a:pt x="8367370" y="3818564"/>
                </a:lnTo>
                <a:lnTo>
                  <a:pt x="0" y="38185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pic>
        <p:nvPicPr>
          <p:cNvPr id="3" name="Picture 3"/>
          <p:cNvPicPr>
            <a:picLocks noChangeAspect="1"/>
          </p:cNvPicPr>
          <p:nvPr/>
        </p:nvPicPr>
        <p:blipFill>
          <a:blip r:embed="rId4"/>
          <a:srcRect/>
          <a:stretch>
            <a:fillRect/>
          </a:stretch>
        </p:blipFill>
        <p:spPr>
          <a:xfrm>
            <a:off x="0" y="8871805"/>
            <a:ext cx="1272801" cy="1415195"/>
          </a:xfrm>
          <a:prstGeom prst="rect">
            <a:avLst/>
          </a:prstGeom>
        </p:spPr>
      </p:pic>
      <p:sp>
        <p:nvSpPr>
          <p:cNvPr id="4" name="TextBox 4"/>
          <p:cNvSpPr txBox="1"/>
          <p:nvPr/>
        </p:nvSpPr>
        <p:spPr>
          <a:xfrm>
            <a:off x="1221779" y="2318744"/>
            <a:ext cx="13441349" cy="5638800"/>
          </a:xfrm>
          <a:prstGeom prst="rect">
            <a:avLst/>
          </a:prstGeom>
        </p:spPr>
        <p:txBody>
          <a:bodyPr lIns="0" tIns="0" rIns="0" bIns="0" rtlCol="0" anchor="t">
            <a:spAutoFit/>
          </a:bodyPr>
          <a:lstStyle/>
          <a:p>
            <a:pPr algn="just">
              <a:lnSpc>
                <a:spcPts val="4422"/>
              </a:lnSpc>
              <a:spcBef>
                <a:spcPct val="0"/>
              </a:spcBef>
            </a:pPr>
            <a:r>
              <a:rPr lang="en-US" sz="3685" b="1">
                <a:solidFill>
                  <a:srgbClr val="000000"/>
                </a:solidFill>
                <a:latin typeface="Asap Bold"/>
                <a:ea typeface="Asap Bold"/>
                <a:cs typeface="Asap Bold"/>
                <a:sym typeface="Asap Bold"/>
              </a:rPr>
              <a:t>Phần 1: Giới Thiệu Tổng Quan Hệ Thống</a:t>
            </a:r>
          </a:p>
          <a:p>
            <a:pPr algn="just">
              <a:lnSpc>
                <a:spcPts val="4422"/>
              </a:lnSpc>
              <a:spcBef>
                <a:spcPct val="0"/>
              </a:spcBef>
            </a:pPr>
            <a:r>
              <a:rPr lang="en-US" sz="3685" b="1">
                <a:solidFill>
                  <a:srgbClr val="000000"/>
                </a:solidFill>
                <a:latin typeface="Asap Bold"/>
                <a:ea typeface="Asap Bold"/>
                <a:cs typeface="Asap Bold"/>
                <a:sym typeface="Asap Bold"/>
              </a:rPr>
              <a:t>Phần 2: Thiết kế hệ thống. </a:t>
            </a:r>
          </a:p>
          <a:p>
            <a:pPr algn="just">
              <a:lnSpc>
                <a:spcPts val="4082"/>
              </a:lnSpc>
              <a:spcBef>
                <a:spcPct val="0"/>
              </a:spcBef>
            </a:pPr>
            <a:r>
              <a:rPr lang="en-US" sz="3402">
                <a:solidFill>
                  <a:srgbClr val="000000"/>
                </a:solidFill>
                <a:latin typeface="Asap"/>
                <a:ea typeface="Asap"/>
                <a:cs typeface="Asap"/>
                <a:sym typeface="Asap"/>
              </a:rPr>
              <a:t>   2.1: Biểu đồ Use-case </a:t>
            </a:r>
          </a:p>
          <a:p>
            <a:pPr algn="just">
              <a:lnSpc>
                <a:spcPts val="4082"/>
              </a:lnSpc>
              <a:spcBef>
                <a:spcPct val="0"/>
              </a:spcBef>
            </a:pPr>
            <a:r>
              <a:rPr lang="en-US" sz="3402">
                <a:solidFill>
                  <a:srgbClr val="000000"/>
                </a:solidFill>
                <a:latin typeface="Asap"/>
                <a:ea typeface="Asap"/>
                <a:cs typeface="Asap"/>
                <a:sym typeface="Asap"/>
              </a:rPr>
              <a:t>   2.2: Biểu đồ Data-base. </a:t>
            </a:r>
          </a:p>
          <a:p>
            <a:pPr algn="just">
              <a:lnSpc>
                <a:spcPts val="4422"/>
              </a:lnSpc>
              <a:spcBef>
                <a:spcPct val="0"/>
              </a:spcBef>
            </a:pPr>
            <a:r>
              <a:rPr lang="en-US" sz="3685" b="1">
                <a:solidFill>
                  <a:srgbClr val="000000"/>
                </a:solidFill>
                <a:latin typeface="Asap Bold"/>
                <a:ea typeface="Asap Bold"/>
                <a:cs typeface="Asap Bold"/>
                <a:sym typeface="Asap Bold"/>
              </a:rPr>
              <a:t>Phần 3: Thiết kế chương trình. </a:t>
            </a:r>
          </a:p>
          <a:p>
            <a:pPr algn="just">
              <a:lnSpc>
                <a:spcPts val="4082"/>
              </a:lnSpc>
              <a:spcBef>
                <a:spcPct val="0"/>
              </a:spcBef>
            </a:pPr>
            <a:r>
              <a:rPr lang="en-US" sz="3402">
                <a:solidFill>
                  <a:srgbClr val="000000"/>
                </a:solidFill>
                <a:latin typeface="Asap"/>
                <a:ea typeface="Asap"/>
                <a:cs typeface="Asap"/>
                <a:sym typeface="Asap"/>
              </a:rPr>
              <a:t>   3.1: Tài khoản dùng để đăng nhập vào hệ thống. </a:t>
            </a:r>
          </a:p>
          <a:p>
            <a:pPr algn="just">
              <a:lnSpc>
                <a:spcPts val="4082"/>
              </a:lnSpc>
              <a:spcBef>
                <a:spcPct val="0"/>
              </a:spcBef>
            </a:pPr>
            <a:r>
              <a:rPr lang="en-US" sz="3402">
                <a:solidFill>
                  <a:srgbClr val="000000"/>
                </a:solidFill>
                <a:latin typeface="Asap"/>
                <a:ea typeface="Asap"/>
                <a:cs typeface="Asap"/>
                <a:sym typeface="Asap"/>
              </a:rPr>
              <a:t>   3.2: Các chức năng ( khi người dùng chưa đăng nhập vào hệ thống ) </a:t>
            </a:r>
          </a:p>
          <a:p>
            <a:pPr algn="just">
              <a:lnSpc>
                <a:spcPts val="4082"/>
              </a:lnSpc>
              <a:spcBef>
                <a:spcPct val="0"/>
              </a:spcBef>
            </a:pPr>
            <a:r>
              <a:rPr lang="en-US" sz="3402">
                <a:solidFill>
                  <a:srgbClr val="000000"/>
                </a:solidFill>
                <a:latin typeface="Asap"/>
                <a:ea typeface="Asap"/>
                <a:cs typeface="Asap"/>
                <a:sym typeface="Asap"/>
              </a:rPr>
              <a:t>   3.3 Các chức năng cho mỗi loại người dùng. </a:t>
            </a:r>
          </a:p>
          <a:p>
            <a:pPr algn="just">
              <a:lnSpc>
                <a:spcPts val="3742"/>
              </a:lnSpc>
              <a:spcBef>
                <a:spcPct val="0"/>
              </a:spcBef>
            </a:pPr>
            <a:r>
              <a:rPr lang="en-US" sz="3118">
                <a:solidFill>
                  <a:srgbClr val="000000"/>
                </a:solidFill>
                <a:latin typeface="Asap"/>
                <a:ea typeface="Asap"/>
                <a:cs typeface="Asap"/>
                <a:sym typeface="Asap"/>
              </a:rPr>
              <a:t>      3.3.1: Các chức năng của khách hàng. </a:t>
            </a:r>
          </a:p>
          <a:p>
            <a:pPr algn="just">
              <a:lnSpc>
                <a:spcPts val="3742"/>
              </a:lnSpc>
              <a:spcBef>
                <a:spcPct val="0"/>
              </a:spcBef>
            </a:pPr>
            <a:r>
              <a:rPr lang="en-US" sz="3118">
                <a:solidFill>
                  <a:srgbClr val="000000"/>
                </a:solidFill>
                <a:latin typeface="Asap"/>
                <a:ea typeface="Asap"/>
                <a:cs typeface="Asap"/>
                <a:sym typeface="Asap"/>
              </a:rPr>
              <a:t>      3.3.2: Các chức năng của chủ cửa hàng. </a:t>
            </a:r>
          </a:p>
          <a:p>
            <a:pPr algn="just">
              <a:lnSpc>
                <a:spcPts val="3742"/>
              </a:lnSpc>
              <a:spcBef>
                <a:spcPct val="0"/>
              </a:spcBef>
            </a:pPr>
            <a:r>
              <a:rPr lang="en-US" sz="3118">
                <a:solidFill>
                  <a:srgbClr val="000000"/>
                </a:solidFill>
                <a:latin typeface="Asap"/>
                <a:ea typeface="Asap"/>
                <a:cs typeface="Asap"/>
                <a:sym typeface="Asap"/>
              </a:rPr>
              <a:t>      3.3.3: Các chức năng của nhân viên </a:t>
            </a:r>
          </a:p>
        </p:txBody>
      </p:sp>
      <p:sp>
        <p:nvSpPr>
          <p:cNvPr id="5" name="TextBox 5"/>
          <p:cNvSpPr txBox="1"/>
          <p:nvPr/>
        </p:nvSpPr>
        <p:spPr>
          <a:xfrm>
            <a:off x="5815563" y="415164"/>
            <a:ext cx="3641289" cy="998842"/>
          </a:xfrm>
          <a:prstGeom prst="rect">
            <a:avLst/>
          </a:prstGeom>
        </p:spPr>
        <p:txBody>
          <a:bodyPr lIns="0" tIns="0" rIns="0" bIns="0" rtlCol="0" anchor="t">
            <a:spAutoFit/>
          </a:bodyPr>
          <a:lstStyle/>
          <a:p>
            <a:pPr algn="ctr">
              <a:lnSpc>
                <a:spcPts val="7984"/>
              </a:lnSpc>
              <a:spcBef>
                <a:spcPct val="0"/>
              </a:spcBef>
            </a:pPr>
            <a:r>
              <a:rPr lang="en-US" sz="6653" b="1">
                <a:solidFill>
                  <a:srgbClr val="000000"/>
                </a:solidFill>
                <a:latin typeface="Faustina Bold"/>
                <a:ea typeface="Faustina Bold"/>
                <a:cs typeface="Faustina Bold"/>
                <a:sym typeface="Faustina Bold"/>
              </a:rPr>
              <a:t>Nội  Dung</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Freeform 2"/>
          <p:cNvSpPr/>
          <p:nvPr/>
        </p:nvSpPr>
        <p:spPr>
          <a:xfrm>
            <a:off x="412915" y="7489162"/>
            <a:ext cx="2860244" cy="2797838"/>
          </a:xfrm>
          <a:custGeom>
            <a:avLst/>
            <a:gdLst/>
            <a:ahLst/>
            <a:cxnLst/>
            <a:rect l="l" t="t" r="r" b="b"/>
            <a:pathLst>
              <a:path w="2860244" h="2797838">
                <a:moveTo>
                  <a:pt x="0" y="0"/>
                </a:moveTo>
                <a:lnTo>
                  <a:pt x="2860244" y="0"/>
                </a:lnTo>
                <a:lnTo>
                  <a:pt x="2860244" y="2797838"/>
                </a:lnTo>
                <a:lnTo>
                  <a:pt x="0" y="279783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a:off x="15427756" y="7489162"/>
            <a:ext cx="2860244" cy="2797838"/>
          </a:xfrm>
          <a:custGeom>
            <a:avLst/>
            <a:gdLst/>
            <a:ahLst/>
            <a:cxnLst/>
            <a:rect l="l" t="t" r="r" b="b"/>
            <a:pathLst>
              <a:path w="2860244" h="2797838">
                <a:moveTo>
                  <a:pt x="2860244" y="0"/>
                </a:moveTo>
                <a:lnTo>
                  <a:pt x="0" y="0"/>
                </a:lnTo>
                <a:lnTo>
                  <a:pt x="0" y="2797838"/>
                </a:lnTo>
                <a:lnTo>
                  <a:pt x="2860244" y="2797838"/>
                </a:lnTo>
                <a:lnTo>
                  <a:pt x="2860244"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V="1">
            <a:off x="412915" y="0"/>
            <a:ext cx="2860244" cy="2797838"/>
          </a:xfrm>
          <a:custGeom>
            <a:avLst/>
            <a:gdLst/>
            <a:ahLst/>
            <a:cxnLst/>
            <a:rect l="l" t="t" r="r" b="b"/>
            <a:pathLst>
              <a:path w="2860244" h="2797838">
                <a:moveTo>
                  <a:pt x="0" y="2797838"/>
                </a:moveTo>
                <a:lnTo>
                  <a:pt x="2860244" y="2797838"/>
                </a:lnTo>
                <a:lnTo>
                  <a:pt x="2860244" y="0"/>
                </a:lnTo>
                <a:lnTo>
                  <a:pt x="0" y="0"/>
                </a:lnTo>
                <a:lnTo>
                  <a:pt x="0" y="2797838"/>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flipH="1" flipV="1">
            <a:off x="15427756" y="0"/>
            <a:ext cx="2860244" cy="2797838"/>
          </a:xfrm>
          <a:custGeom>
            <a:avLst/>
            <a:gdLst/>
            <a:ahLst/>
            <a:cxnLst/>
            <a:rect l="l" t="t" r="r" b="b"/>
            <a:pathLst>
              <a:path w="2860244" h="2797838">
                <a:moveTo>
                  <a:pt x="2860244" y="2797838"/>
                </a:moveTo>
                <a:lnTo>
                  <a:pt x="0" y="2797838"/>
                </a:lnTo>
                <a:lnTo>
                  <a:pt x="0" y="0"/>
                </a:lnTo>
                <a:lnTo>
                  <a:pt x="2860244" y="0"/>
                </a:lnTo>
                <a:lnTo>
                  <a:pt x="2860244" y="2797838"/>
                </a:lnTo>
                <a:close/>
              </a:path>
            </a:pathLst>
          </a:custGeom>
          <a:blipFill>
            <a:blip r:embed="rId2">
              <a:extLst>
                <a:ext uri="{96DAC541-7B7A-43D3-8B79-37D633B846F1}">
                  <asvg:svgBlip xmlns:asvg="http://schemas.microsoft.com/office/drawing/2016/SVG/main" r:embed="rId3"/>
                </a:ext>
              </a:extLst>
            </a:blip>
            <a:stretch>
              <a:fillRect/>
            </a:stretch>
          </a:blipFill>
        </p:spPr>
      </p:sp>
      <p:pic>
        <p:nvPicPr>
          <p:cNvPr id="6" name="Picture 6"/>
          <p:cNvPicPr>
            <a:picLocks noChangeAspect="1"/>
          </p:cNvPicPr>
          <p:nvPr/>
        </p:nvPicPr>
        <p:blipFill>
          <a:blip r:embed="rId4"/>
          <a:srcRect/>
          <a:stretch>
            <a:fillRect/>
          </a:stretch>
        </p:blipFill>
        <p:spPr>
          <a:xfrm>
            <a:off x="15065548" y="7757375"/>
            <a:ext cx="3222452" cy="2529625"/>
          </a:xfrm>
          <a:prstGeom prst="rect">
            <a:avLst/>
          </a:prstGeom>
        </p:spPr>
      </p:pic>
      <p:sp>
        <p:nvSpPr>
          <p:cNvPr id="7" name="TextBox 7"/>
          <p:cNvSpPr txBox="1"/>
          <p:nvPr/>
        </p:nvSpPr>
        <p:spPr>
          <a:xfrm>
            <a:off x="2321730" y="1953558"/>
            <a:ext cx="10236838" cy="7458075"/>
          </a:xfrm>
          <a:prstGeom prst="rect">
            <a:avLst/>
          </a:prstGeom>
        </p:spPr>
        <p:txBody>
          <a:bodyPr lIns="0" tIns="0" rIns="0" bIns="0" rtlCol="0" anchor="t">
            <a:spAutoFit/>
          </a:bodyPr>
          <a:lstStyle/>
          <a:p>
            <a:pPr marL="582930" lvl="1" indent="-291465" algn="l">
              <a:lnSpc>
                <a:spcPts val="3240"/>
              </a:lnSpc>
              <a:buFont typeface="Arial"/>
              <a:buChar char="•"/>
            </a:pPr>
            <a:r>
              <a:rPr lang="en-US" sz="2700">
                <a:solidFill>
                  <a:srgbClr val="000000"/>
                </a:solidFill>
                <a:latin typeface="Faustina"/>
                <a:ea typeface="Faustina"/>
                <a:cs typeface="Faustina"/>
                <a:sym typeface="Faustina"/>
              </a:rPr>
              <a:t>Hệ thống cửa hàng bán sách online</a:t>
            </a:r>
          </a:p>
          <a:p>
            <a:pPr algn="l">
              <a:lnSpc>
                <a:spcPts val="3120"/>
              </a:lnSpc>
            </a:pPr>
            <a:endParaRPr lang="en-US" sz="2700">
              <a:solidFill>
                <a:srgbClr val="000000"/>
              </a:solidFill>
              <a:latin typeface="Faustina"/>
              <a:ea typeface="Faustina"/>
              <a:cs typeface="Faustina"/>
              <a:sym typeface="Faustina"/>
            </a:endParaRPr>
          </a:p>
          <a:p>
            <a:pPr marL="582930" lvl="1" indent="-291465" algn="l">
              <a:lnSpc>
                <a:spcPts val="3240"/>
              </a:lnSpc>
              <a:buFont typeface="Arial"/>
              <a:buChar char="•"/>
            </a:pPr>
            <a:r>
              <a:rPr lang="en-US" sz="2700">
                <a:solidFill>
                  <a:srgbClr val="000000"/>
                </a:solidFill>
                <a:latin typeface="Faustina"/>
                <a:ea typeface="Faustina"/>
                <a:cs typeface="Faustina"/>
                <a:sym typeface="Faustina"/>
              </a:rPr>
              <a:t>Người sử dụng hệ thống:</a:t>
            </a:r>
          </a:p>
          <a:p>
            <a:pPr algn="l">
              <a:lnSpc>
                <a:spcPts val="3120"/>
              </a:lnSpc>
            </a:pPr>
            <a:r>
              <a:rPr lang="en-US" sz="2600">
                <a:solidFill>
                  <a:srgbClr val="000000"/>
                </a:solidFill>
                <a:latin typeface="Faustina"/>
                <a:ea typeface="Faustina"/>
                <a:cs typeface="Faustina"/>
                <a:sym typeface="Faustina"/>
              </a:rPr>
              <a:t> </a:t>
            </a:r>
          </a:p>
          <a:p>
            <a:pPr marL="1122681" lvl="2" indent="-374227" algn="l">
              <a:lnSpc>
                <a:spcPts val="3120"/>
              </a:lnSpc>
              <a:buFont typeface="Arial"/>
              <a:buChar char="⚬"/>
            </a:pPr>
            <a:r>
              <a:rPr lang="en-US" sz="2600">
                <a:solidFill>
                  <a:srgbClr val="000000"/>
                </a:solidFill>
                <a:latin typeface="Faustina"/>
                <a:ea typeface="Faustina"/>
                <a:cs typeface="Faustina"/>
                <a:sym typeface="Faustina"/>
              </a:rPr>
              <a:t> Chủ cửa hàng : Có toàn bộ quyền quản lý cửa hàng</a:t>
            </a:r>
          </a:p>
          <a:p>
            <a:pPr marL="1684022" lvl="3" indent="-421005" algn="l">
              <a:lnSpc>
                <a:spcPts val="3120"/>
              </a:lnSpc>
              <a:buFont typeface="Arial"/>
              <a:buChar char="￭"/>
            </a:pPr>
            <a:r>
              <a:rPr lang="en-US" sz="2600">
                <a:solidFill>
                  <a:srgbClr val="000000"/>
                </a:solidFill>
                <a:latin typeface="Faustina"/>
                <a:ea typeface="Faustina"/>
                <a:cs typeface="Faustina"/>
                <a:sym typeface="Faustina"/>
              </a:rPr>
              <a:t> Quản lý khách hàng.</a:t>
            </a:r>
          </a:p>
          <a:p>
            <a:pPr marL="1684022" lvl="3" indent="-421005" algn="l">
              <a:lnSpc>
                <a:spcPts val="3120"/>
              </a:lnSpc>
              <a:buFont typeface="Arial"/>
              <a:buChar char="￭"/>
            </a:pPr>
            <a:r>
              <a:rPr lang="en-US" sz="2600">
                <a:solidFill>
                  <a:srgbClr val="000000"/>
                </a:solidFill>
                <a:latin typeface="Faustina"/>
                <a:ea typeface="Faustina"/>
                <a:cs typeface="Faustina"/>
                <a:sym typeface="Faustina"/>
              </a:rPr>
              <a:t>Quản lý loại sách.</a:t>
            </a:r>
          </a:p>
          <a:p>
            <a:pPr marL="1684022" lvl="3" indent="-421005" algn="l">
              <a:lnSpc>
                <a:spcPts val="3120"/>
              </a:lnSpc>
              <a:buFont typeface="Arial"/>
              <a:buChar char="￭"/>
            </a:pPr>
            <a:r>
              <a:rPr lang="en-US" sz="2600">
                <a:solidFill>
                  <a:srgbClr val="000000"/>
                </a:solidFill>
                <a:latin typeface="Faustina"/>
                <a:ea typeface="Faustina"/>
                <a:cs typeface="Faustina"/>
                <a:sym typeface="Faustina"/>
              </a:rPr>
              <a:t>Quản lý nhân viên.</a:t>
            </a:r>
          </a:p>
          <a:p>
            <a:pPr marL="1684022" lvl="3" indent="-421005" algn="l">
              <a:lnSpc>
                <a:spcPts val="3120"/>
              </a:lnSpc>
              <a:buFont typeface="Arial"/>
              <a:buChar char="￭"/>
            </a:pPr>
            <a:r>
              <a:rPr lang="en-US" sz="2600">
                <a:solidFill>
                  <a:srgbClr val="000000"/>
                </a:solidFill>
                <a:latin typeface="Faustina"/>
                <a:ea typeface="Faustina"/>
                <a:cs typeface="Faustina"/>
                <a:sym typeface="Faustina"/>
              </a:rPr>
              <a:t>Quản lý sách.</a:t>
            </a:r>
          </a:p>
          <a:p>
            <a:pPr marL="1684022" lvl="3" indent="-421005" algn="l">
              <a:lnSpc>
                <a:spcPts val="3120"/>
              </a:lnSpc>
              <a:buFont typeface="Arial"/>
              <a:buChar char="￭"/>
            </a:pPr>
            <a:r>
              <a:rPr lang="en-US" sz="2600">
                <a:solidFill>
                  <a:srgbClr val="000000"/>
                </a:solidFill>
                <a:latin typeface="Faustina"/>
                <a:ea typeface="Faustina"/>
                <a:cs typeface="Faustina"/>
                <a:sym typeface="Faustina"/>
              </a:rPr>
              <a:t>Báo cáo và thống kê.</a:t>
            </a:r>
          </a:p>
          <a:p>
            <a:pPr marL="1684022" lvl="3" indent="-421005" algn="l">
              <a:lnSpc>
                <a:spcPts val="3120"/>
              </a:lnSpc>
              <a:buFont typeface="Arial"/>
              <a:buChar char="￭"/>
            </a:pPr>
            <a:r>
              <a:rPr lang="en-US" sz="2600">
                <a:solidFill>
                  <a:srgbClr val="000000"/>
                </a:solidFill>
                <a:latin typeface="Faustina"/>
                <a:ea typeface="Faustina"/>
                <a:cs typeface="Faustina"/>
                <a:sym typeface="Faustina"/>
              </a:rPr>
              <a:t>Xem và chỉnh sửa thông tin tài khoản cá nhân.</a:t>
            </a:r>
          </a:p>
          <a:p>
            <a:pPr marL="1122681" lvl="2" indent="-374227" algn="l">
              <a:lnSpc>
                <a:spcPts val="3120"/>
              </a:lnSpc>
              <a:buFont typeface="Arial"/>
              <a:buChar char="⚬"/>
            </a:pPr>
            <a:r>
              <a:rPr lang="en-US" sz="2600">
                <a:solidFill>
                  <a:srgbClr val="000000"/>
                </a:solidFill>
                <a:latin typeface="Faustina"/>
                <a:ea typeface="Faustina"/>
                <a:cs typeface="Faustina"/>
                <a:sym typeface="Faustina"/>
              </a:rPr>
              <a:t>Nhân viên : Không có quyền quản lý khách hàng và nhân viên</a:t>
            </a:r>
          </a:p>
          <a:p>
            <a:pPr marL="1684022" lvl="3" indent="-421005" algn="l">
              <a:lnSpc>
                <a:spcPts val="3120"/>
              </a:lnSpc>
              <a:buFont typeface="Arial"/>
              <a:buChar char="￭"/>
            </a:pPr>
            <a:r>
              <a:rPr lang="en-US" sz="2600">
                <a:solidFill>
                  <a:srgbClr val="000000"/>
                </a:solidFill>
                <a:latin typeface="Faustina"/>
                <a:ea typeface="Faustina"/>
                <a:cs typeface="Faustina"/>
                <a:sym typeface="Faustina"/>
              </a:rPr>
              <a:t>Quản lý loại sách.</a:t>
            </a:r>
          </a:p>
          <a:p>
            <a:pPr marL="1684022" lvl="3" indent="-421005" algn="l">
              <a:lnSpc>
                <a:spcPts val="3120"/>
              </a:lnSpc>
              <a:buFont typeface="Arial"/>
              <a:buChar char="￭"/>
            </a:pPr>
            <a:r>
              <a:rPr lang="en-US" sz="2600">
                <a:solidFill>
                  <a:srgbClr val="000000"/>
                </a:solidFill>
                <a:latin typeface="Faustina"/>
                <a:ea typeface="Faustina"/>
                <a:cs typeface="Faustina"/>
                <a:sym typeface="Faustina"/>
              </a:rPr>
              <a:t>Quản lý sách.</a:t>
            </a:r>
          </a:p>
          <a:p>
            <a:pPr marL="1684022" lvl="3" indent="-421005" algn="l">
              <a:lnSpc>
                <a:spcPts val="3120"/>
              </a:lnSpc>
              <a:buFont typeface="Arial"/>
              <a:buChar char="￭"/>
            </a:pPr>
            <a:r>
              <a:rPr lang="en-US" sz="2600">
                <a:solidFill>
                  <a:srgbClr val="000000"/>
                </a:solidFill>
                <a:latin typeface="Faustina"/>
                <a:ea typeface="Faustina"/>
                <a:cs typeface="Faustina"/>
                <a:sym typeface="Faustina"/>
              </a:rPr>
              <a:t>Báo cáo và thống kê.</a:t>
            </a:r>
          </a:p>
          <a:p>
            <a:pPr marL="1684022" lvl="3" indent="-421005" algn="l">
              <a:lnSpc>
                <a:spcPts val="3120"/>
              </a:lnSpc>
              <a:buFont typeface="Arial"/>
              <a:buChar char="￭"/>
            </a:pPr>
            <a:r>
              <a:rPr lang="en-US" sz="2600">
                <a:solidFill>
                  <a:srgbClr val="000000"/>
                </a:solidFill>
                <a:latin typeface="Faustina"/>
                <a:ea typeface="Faustina"/>
                <a:cs typeface="Faustina"/>
                <a:sym typeface="Faustina"/>
              </a:rPr>
              <a:t>Xem và chỉnh sửa thông tin tài khoản cá nhân.</a:t>
            </a:r>
          </a:p>
          <a:p>
            <a:pPr marL="1122681" lvl="2" indent="-374227" algn="l">
              <a:lnSpc>
                <a:spcPts val="3120"/>
              </a:lnSpc>
              <a:buFont typeface="Arial"/>
              <a:buChar char="⚬"/>
            </a:pPr>
            <a:r>
              <a:rPr lang="en-US" sz="2600">
                <a:solidFill>
                  <a:srgbClr val="000000"/>
                </a:solidFill>
                <a:latin typeface="Faustina"/>
                <a:ea typeface="Faustina"/>
                <a:cs typeface="Faustina"/>
                <a:sym typeface="Faustina"/>
              </a:rPr>
              <a:t>Người dùng: </a:t>
            </a:r>
          </a:p>
          <a:p>
            <a:pPr marL="1684022" lvl="3" indent="-421005" algn="l">
              <a:lnSpc>
                <a:spcPts val="3120"/>
              </a:lnSpc>
              <a:buFont typeface="Arial"/>
              <a:buChar char="￭"/>
            </a:pPr>
            <a:r>
              <a:rPr lang="en-US" sz="2600">
                <a:solidFill>
                  <a:srgbClr val="000000"/>
                </a:solidFill>
                <a:latin typeface="Faustina"/>
                <a:ea typeface="Faustina"/>
                <a:cs typeface="Faustina"/>
                <a:sym typeface="Faustina"/>
              </a:rPr>
              <a:t>Xem và chỉnh sửa thông tin cá nhân.</a:t>
            </a:r>
          </a:p>
          <a:p>
            <a:pPr marL="1684022" lvl="3" indent="-421005" algn="l">
              <a:lnSpc>
                <a:spcPts val="3120"/>
              </a:lnSpc>
              <a:buFont typeface="Arial"/>
              <a:buChar char="￭"/>
            </a:pPr>
            <a:r>
              <a:rPr lang="en-US" sz="2600">
                <a:solidFill>
                  <a:srgbClr val="000000"/>
                </a:solidFill>
                <a:latin typeface="Faustina"/>
                <a:ea typeface="Faustina"/>
                <a:cs typeface="Faustina"/>
                <a:sym typeface="Faustina"/>
              </a:rPr>
              <a:t>Xem thông tin cửa hàng.</a:t>
            </a:r>
          </a:p>
        </p:txBody>
      </p:sp>
      <p:sp>
        <p:nvSpPr>
          <p:cNvPr id="8" name="TextBox 8"/>
          <p:cNvSpPr txBox="1"/>
          <p:nvPr/>
        </p:nvSpPr>
        <p:spPr>
          <a:xfrm>
            <a:off x="2099588" y="1015877"/>
            <a:ext cx="11146363" cy="766084"/>
          </a:xfrm>
          <a:prstGeom prst="rect">
            <a:avLst/>
          </a:prstGeom>
        </p:spPr>
        <p:txBody>
          <a:bodyPr lIns="0" tIns="0" rIns="0" bIns="0" rtlCol="0" anchor="t">
            <a:spAutoFit/>
          </a:bodyPr>
          <a:lstStyle/>
          <a:p>
            <a:pPr algn="ctr">
              <a:lnSpc>
                <a:spcPts val="6050"/>
              </a:lnSpc>
              <a:spcBef>
                <a:spcPct val="0"/>
              </a:spcBef>
            </a:pPr>
            <a:r>
              <a:rPr lang="en-US" sz="5042" b="1">
                <a:solidFill>
                  <a:srgbClr val="000000"/>
                </a:solidFill>
                <a:latin typeface="Faustina Bold"/>
                <a:ea typeface="Faustina Bold"/>
                <a:cs typeface="Faustina Bold"/>
                <a:sym typeface="Faustina Bold"/>
              </a:rPr>
              <a:t>Phần 1: Giới Thiệu Tổng Quan Hệ Thống</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6E9"/>
        </a:solidFill>
        <a:effectLst/>
      </p:bgPr>
    </p:bg>
    <p:spTree>
      <p:nvGrpSpPr>
        <p:cNvPr id="1" name=""/>
        <p:cNvGrpSpPr/>
        <p:nvPr/>
      </p:nvGrpSpPr>
      <p:grpSpPr>
        <a:xfrm>
          <a:off x="0" y="0"/>
          <a:ext cx="0" cy="0"/>
          <a:chOff x="0" y="0"/>
          <a:chExt cx="0" cy="0"/>
        </a:xfrm>
      </p:grpSpPr>
      <p:sp>
        <p:nvSpPr>
          <p:cNvPr id="2" name="Freeform 2"/>
          <p:cNvSpPr/>
          <p:nvPr/>
        </p:nvSpPr>
        <p:spPr>
          <a:xfrm>
            <a:off x="606835" y="2222896"/>
            <a:ext cx="9432026" cy="6713401"/>
          </a:xfrm>
          <a:custGeom>
            <a:avLst/>
            <a:gdLst/>
            <a:ahLst/>
            <a:cxnLst/>
            <a:rect l="l" t="t" r="r" b="b"/>
            <a:pathLst>
              <a:path w="9432026" h="6713401">
                <a:moveTo>
                  <a:pt x="0" y="0"/>
                </a:moveTo>
                <a:lnTo>
                  <a:pt x="9432026" y="0"/>
                </a:lnTo>
                <a:lnTo>
                  <a:pt x="9432026" y="6713401"/>
                </a:lnTo>
                <a:lnTo>
                  <a:pt x="0" y="6713401"/>
                </a:lnTo>
                <a:lnTo>
                  <a:pt x="0" y="0"/>
                </a:lnTo>
                <a:close/>
              </a:path>
            </a:pathLst>
          </a:custGeom>
          <a:blipFill>
            <a:blip r:embed="rId2"/>
            <a:stretch>
              <a:fillRect t="-1456" b="-1456"/>
            </a:stretch>
          </a:blipFill>
        </p:spPr>
      </p:sp>
      <p:sp>
        <p:nvSpPr>
          <p:cNvPr id="3" name="Freeform 3"/>
          <p:cNvSpPr/>
          <p:nvPr/>
        </p:nvSpPr>
        <p:spPr>
          <a:xfrm>
            <a:off x="10038861" y="3222933"/>
            <a:ext cx="8249139" cy="3841133"/>
          </a:xfrm>
          <a:custGeom>
            <a:avLst/>
            <a:gdLst/>
            <a:ahLst/>
            <a:cxnLst/>
            <a:rect l="l" t="t" r="r" b="b"/>
            <a:pathLst>
              <a:path w="8249139" h="3841133">
                <a:moveTo>
                  <a:pt x="0" y="0"/>
                </a:moveTo>
                <a:lnTo>
                  <a:pt x="8249139" y="0"/>
                </a:lnTo>
                <a:lnTo>
                  <a:pt x="8249139" y="3841134"/>
                </a:lnTo>
                <a:lnTo>
                  <a:pt x="0" y="3841134"/>
                </a:lnTo>
                <a:lnTo>
                  <a:pt x="0" y="0"/>
                </a:lnTo>
                <a:close/>
              </a:path>
            </a:pathLst>
          </a:custGeom>
          <a:blipFill>
            <a:blip r:embed="rId3"/>
            <a:stretch>
              <a:fillRect t="-1005" b="-1005"/>
            </a:stretch>
          </a:blipFill>
        </p:spPr>
      </p:sp>
      <p:pic>
        <p:nvPicPr>
          <p:cNvPr id="4" name="Picture 4"/>
          <p:cNvPicPr>
            <a:picLocks noChangeAspect="1"/>
          </p:cNvPicPr>
          <p:nvPr/>
        </p:nvPicPr>
        <p:blipFill>
          <a:blip r:embed="rId4"/>
          <a:srcRect/>
          <a:stretch>
            <a:fillRect/>
          </a:stretch>
        </p:blipFill>
        <p:spPr>
          <a:xfrm>
            <a:off x="16793178" y="0"/>
            <a:ext cx="1613011" cy="1500733"/>
          </a:xfrm>
          <a:prstGeom prst="rect">
            <a:avLst/>
          </a:prstGeom>
        </p:spPr>
      </p:pic>
      <p:sp>
        <p:nvSpPr>
          <p:cNvPr id="5" name="Freeform 5"/>
          <p:cNvSpPr/>
          <p:nvPr/>
        </p:nvSpPr>
        <p:spPr>
          <a:xfrm>
            <a:off x="455755" y="9079172"/>
            <a:ext cx="1145889" cy="1235763"/>
          </a:xfrm>
          <a:custGeom>
            <a:avLst/>
            <a:gdLst/>
            <a:ahLst/>
            <a:cxnLst/>
            <a:rect l="l" t="t" r="r" b="b"/>
            <a:pathLst>
              <a:path w="1145889" h="1235763">
                <a:moveTo>
                  <a:pt x="0" y="0"/>
                </a:moveTo>
                <a:lnTo>
                  <a:pt x="1145890" y="0"/>
                </a:lnTo>
                <a:lnTo>
                  <a:pt x="1145890" y="1235763"/>
                </a:lnTo>
                <a:lnTo>
                  <a:pt x="0" y="123576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TextBox 6"/>
          <p:cNvSpPr txBox="1"/>
          <p:nvPr/>
        </p:nvSpPr>
        <p:spPr>
          <a:xfrm>
            <a:off x="415019" y="0"/>
            <a:ext cx="8322063" cy="882626"/>
          </a:xfrm>
          <a:prstGeom prst="rect">
            <a:avLst/>
          </a:prstGeom>
        </p:spPr>
        <p:txBody>
          <a:bodyPr lIns="0" tIns="0" rIns="0" bIns="0" rtlCol="0" anchor="t">
            <a:spAutoFit/>
          </a:bodyPr>
          <a:lstStyle/>
          <a:p>
            <a:pPr algn="ctr">
              <a:lnSpc>
                <a:spcPts val="6954"/>
              </a:lnSpc>
              <a:spcBef>
                <a:spcPct val="0"/>
              </a:spcBef>
            </a:pPr>
            <a:r>
              <a:rPr lang="en-US" sz="5795" b="1">
                <a:solidFill>
                  <a:srgbClr val="000000"/>
                </a:solidFill>
                <a:latin typeface="Faustina Bold"/>
                <a:ea typeface="Faustina Bold"/>
                <a:cs typeface="Faustina Bold"/>
                <a:sym typeface="Faustina Bold"/>
              </a:rPr>
              <a:t>Phần 2: Thiết kế hệ thống. </a:t>
            </a:r>
          </a:p>
        </p:txBody>
      </p:sp>
      <p:sp>
        <p:nvSpPr>
          <p:cNvPr id="7" name="TextBox 7"/>
          <p:cNvSpPr txBox="1"/>
          <p:nvPr/>
        </p:nvSpPr>
        <p:spPr>
          <a:xfrm>
            <a:off x="920295" y="1038225"/>
            <a:ext cx="5105400" cy="714375"/>
          </a:xfrm>
          <a:prstGeom prst="rect">
            <a:avLst/>
          </a:prstGeom>
        </p:spPr>
        <p:txBody>
          <a:bodyPr lIns="0" tIns="0" rIns="0" bIns="0" rtlCol="0" anchor="t">
            <a:spAutoFit/>
          </a:bodyPr>
          <a:lstStyle/>
          <a:p>
            <a:pPr algn="ctr">
              <a:lnSpc>
                <a:spcPts val="5759"/>
              </a:lnSpc>
              <a:spcBef>
                <a:spcPct val="0"/>
              </a:spcBef>
            </a:pPr>
            <a:r>
              <a:rPr lang="en-US" sz="4800">
                <a:solidFill>
                  <a:srgbClr val="000000"/>
                </a:solidFill>
                <a:latin typeface="Faustina"/>
                <a:ea typeface="Faustina"/>
                <a:cs typeface="Faustina"/>
                <a:sym typeface="Faustina"/>
              </a:rPr>
              <a:t>2.1: Biểu đồ use-case</a:t>
            </a:r>
          </a:p>
        </p:txBody>
      </p:sp>
      <p:sp>
        <p:nvSpPr>
          <p:cNvPr id="8" name="Freeform 8"/>
          <p:cNvSpPr/>
          <p:nvPr/>
        </p:nvSpPr>
        <p:spPr>
          <a:xfrm>
            <a:off x="15301978" y="8573129"/>
            <a:ext cx="3914644" cy="2448432"/>
          </a:xfrm>
          <a:custGeom>
            <a:avLst/>
            <a:gdLst/>
            <a:ahLst/>
            <a:cxnLst/>
            <a:rect l="l" t="t" r="r" b="b"/>
            <a:pathLst>
              <a:path w="3914644" h="2448432">
                <a:moveTo>
                  <a:pt x="0" y="0"/>
                </a:moveTo>
                <a:lnTo>
                  <a:pt x="3914644" y="0"/>
                </a:lnTo>
                <a:lnTo>
                  <a:pt x="3914644" y="2448432"/>
                </a:lnTo>
                <a:lnTo>
                  <a:pt x="0" y="244843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6E9"/>
        </a:solidFill>
        <a:effectLst/>
      </p:bgPr>
    </p:bg>
    <p:spTree>
      <p:nvGrpSpPr>
        <p:cNvPr id="1" name=""/>
        <p:cNvGrpSpPr/>
        <p:nvPr/>
      </p:nvGrpSpPr>
      <p:grpSpPr>
        <a:xfrm>
          <a:off x="0" y="0"/>
          <a:ext cx="0" cy="0"/>
          <a:chOff x="0" y="0"/>
          <a:chExt cx="0" cy="0"/>
        </a:xfrm>
      </p:grpSpPr>
      <p:sp>
        <p:nvSpPr>
          <p:cNvPr id="2" name="Freeform 2"/>
          <p:cNvSpPr/>
          <p:nvPr/>
        </p:nvSpPr>
        <p:spPr>
          <a:xfrm>
            <a:off x="2711633" y="1400712"/>
            <a:ext cx="12032533" cy="8588220"/>
          </a:xfrm>
          <a:custGeom>
            <a:avLst/>
            <a:gdLst/>
            <a:ahLst/>
            <a:cxnLst/>
            <a:rect l="l" t="t" r="r" b="b"/>
            <a:pathLst>
              <a:path w="12032533" h="8588220">
                <a:moveTo>
                  <a:pt x="0" y="0"/>
                </a:moveTo>
                <a:lnTo>
                  <a:pt x="12032533" y="0"/>
                </a:lnTo>
                <a:lnTo>
                  <a:pt x="12032533" y="8588220"/>
                </a:lnTo>
                <a:lnTo>
                  <a:pt x="0" y="8588220"/>
                </a:lnTo>
                <a:lnTo>
                  <a:pt x="0" y="0"/>
                </a:lnTo>
                <a:close/>
              </a:path>
            </a:pathLst>
          </a:custGeom>
          <a:blipFill>
            <a:blip r:embed="rId2"/>
            <a:stretch>
              <a:fillRect/>
            </a:stretch>
          </a:blipFill>
        </p:spPr>
      </p:sp>
      <p:sp>
        <p:nvSpPr>
          <p:cNvPr id="3" name="Freeform 3"/>
          <p:cNvSpPr/>
          <p:nvPr/>
        </p:nvSpPr>
        <p:spPr>
          <a:xfrm>
            <a:off x="15067424" y="3777"/>
            <a:ext cx="3220576" cy="1973335"/>
          </a:xfrm>
          <a:custGeom>
            <a:avLst/>
            <a:gdLst/>
            <a:ahLst/>
            <a:cxnLst/>
            <a:rect l="l" t="t" r="r" b="b"/>
            <a:pathLst>
              <a:path w="3220576" h="1973335">
                <a:moveTo>
                  <a:pt x="0" y="0"/>
                </a:moveTo>
                <a:lnTo>
                  <a:pt x="3220576" y="0"/>
                </a:lnTo>
                <a:lnTo>
                  <a:pt x="3220576" y="1973335"/>
                </a:lnTo>
                <a:lnTo>
                  <a:pt x="0" y="197333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488736" y="352425"/>
            <a:ext cx="5680323" cy="714375"/>
          </a:xfrm>
          <a:prstGeom prst="rect">
            <a:avLst/>
          </a:prstGeom>
        </p:spPr>
        <p:txBody>
          <a:bodyPr lIns="0" tIns="0" rIns="0" bIns="0" rtlCol="0" anchor="t">
            <a:spAutoFit/>
          </a:bodyPr>
          <a:lstStyle/>
          <a:p>
            <a:pPr algn="ctr">
              <a:lnSpc>
                <a:spcPts val="5760"/>
              </a:lnSpc>
              <a:spcBef>
                <a:spcPct val="0"/>
              </a:spcBef>
            </a:pPr>
            <a:r>
              <a:rPr lang="en-US" sz="4800">
                <a:solidFill>
                  <a:srgbClr val="000000"/>
                </a:solidFill>
                <a:latin typeface="Faustina"/>
                <a:ea typeface="Faustina"/>
                <a:cs typeface="Faustina"/>
                <a:sym typeface="Faustina"/>
              </a:rPr>
              <a:t>2.2: Biểu đồ Data-base.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6E9"/>
        </a:solidFill>
        <a:effectLst/>
      </p:bgPr>
    </p:bg>
    <p:spTree>
      <p:nvGrpSpPr>
        <p:cNvPr id="1" name=""/>
        <p:cNvGrpSpPr/>
        <p:nvPr/>
      </p:nvGrpSpPr>
      <p:grpSpPr>
        <a:xfrm>
          <a:off x="0" y="0"/>
          <a:ext cx="0" cy="0"/>
          <a:chOff x="0" y="0"/>
          <a:chExt cx="0" cy="0"/>
        </a:xfrm>
      </p:grpSpPr>
      <p:sp>
        <p:nvSpPr>
          <p:cNvPr id="2" name="Freeform 2"/>
          <p:cNvSpPr/>
          <p:nvPr/>
        </p:nvSpPr>
        <p:spPr>
          <a:xfrm>
            <a:off x="1028700" y="4823195"/>
            <a:ext cx="6948445" cy="4143172"/>
          </a:xfrm>
          <a:custGeom>
            <a:avLst/>
            <a:gdLst/>
            <a:ahLst/>
            <a:cxnLst/>
            <a:rect l="l" t="t" r="r" b="b"/>
            <a:pathLst>
              <a:path w="6948445" h="4143172">
                <a:moveTo>
                  <a:pt x="0" y="0"/>
                </a:moveTo>
                <a:lnTo>
                  <a:pt x="6948445" y="0"/>
                </a:lnTo>
                <a:lnTo>
                  <a:pt x="6948445" y="4143172"/>
                </a:lnTo>
                <a:lnTo>
                  <a:pt x="0" y="4143172"/>
                </a:lnTo>
                <a:lnTo>
                  <a:pt x="0" y="0"/>
                </a:lnTo>
                <a:close/>
              </a:path>
            </a:pathLst>
          </a:custGeom>
          <a:blipFill>
            <a:blip r:embed="rId2"/>
            <a:stretch>
              <a:fillRect/>
            </a:stretch>
          </a:blipFill>
        </p:spPr>
      </p:sp>
      <p:sp>
        <p:nvSpPr>
          <p:cNvPr id="3" name="Freeform 3"/>
          <p:cNvSpPr/>
          <p:nvPr/>
        </p:nvSpPr>
        <p:spPr>
          <a:xfrm>
            <a:off x="9342654" y="4823195"/>
            <a:ext cx="6898276" cy="4143172"/>
          </a:xfrm>
          <a:custGeom>
            <a:avLst/>
            <a:gdLst/>
            <a:ahLst/>
            <a:cxnLst/>
            <a:rect l="l" t="t" r="r" b="b"/>
            <a:pathLst>
              <a:path w="6898276" h="4143172">
                <a:moveTo>
                  <a:pt x="0" y="0"/>
                </a:moveTo>
                <a:lnTo>
                  <a:pt x="6898276" y="0"/>
                </a:lnTo>
                <a:lnTo>
                  <a:pt x="6898276" y="4143172"/>
                </a:lnTo>
                <a:lnTo>
                  <a:pt x="0" y="4143172"/>
                </a:lnTo>
                <a:lnTo>
                  <a:pt x="0" y="0"/>
                </a:lnTo>
                <a:close/>
              </a:path>
            </a:pathLst>
          </a:custGeom>
          <a:blipFill>
            <a:blip r:embed="rId3"/>
            <a:stretch>
              <a:fillRect/>
            </a:stretch>
          </a:blipFill>
        </p:spPr>
      </p:sp>
      <p:grpSp>
        <p:nvGrpSpPr>
          <p:cNvPr id="4" name="Group 4"/>
          <p:cNvGrpSpPr/>
          <p:nvPr/>
        </p:nvGrpSpPr>
        <p:grpSpPr>
          <a:xfrm>
            <a:off x="8155725" y="6516429"/>
            <a:ext cx="988275" cy="988275"/>
            <a:chOff x="0" y="0"/>
            <a:chExt cx="812800" cy="812800"/>
          </a:xfrm>
        </p:grpSpPr>
        <p:sp>
          <p:nvSpPr>
            <p:cNvPr id="5" name="Freeform 5"/>
            <p:cNvSpPr/>
            <p:nvPr/>
          </p:nvSpPr>
          <p:spPr>
            <a:xfrm>
              <a:off x="0" y="0"/>
              <a:ext cx="812800" cy="812800"/>
            </a:xfrm>
            <a:custGeom>
              <a:avLst/>
              <a:gdLst/>
              <a:ahLst/>
              <a:cxnLst/>
              <a:rect l="l" t="t" r="r" b="b"/>
              <a:pathLst>
                <a:path w="812800" h="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E5645E"/>
            </a:solidFill>
          </p:spPr>
        </p:sp>
        <p:sp>
          <p:nvSpPr>
            <p:cNvPr id="6" name="TextBox 6"/>
            <p:cNvSpPr txBox="1"/>
            <p:nvPr/>
          </p:nvSpPr>
          <p:spPr>
            <a:xfrm>
              <a:off x="0" y="165100"/>
              <a:ext cx="711200" cy="444500"/>
            </a:xfrm>
            <a:prstGeom prst="rect">
              <a:avLst/>
            </a:prstGeom>
          </p:spPr>
          <p:txBody>
            <a:bodyPr lIns="50800" tIns="50800" rIns="50800" bIns="50800" rtlCol="0" anchor="ctr"/>
            <a:lstStyle/>
            <a:p>
              <a:pPr algn="ctr">
                <a:lnSpc>
                  <a:spcPts val="2659"/>
                </a:lnSpc>
                <a:spcBef>
                  <a:spcPct val="0"/>
                </a:spcBef>
              </a:pPr>
              <a:endParaRPr/>
            </a:p>
          </p:txBody>
        </p:sp>
      </p:grpSp>
      <p:sp>
        <p:nvSpPr>
          <p:cNvPr id="7" name="Freeform 7"/>
          <p:cNvSpPr/>
          <p:nvPr/>
        </p:nvSpPr>
        <p:spPr>
          <a:xfrm>
            <a:off x="16240930" y="146255"/>
            <a:ext cx="1807133" cy="2831690"/>
          </a:xfrm>
          <a:custGeom>
            <a:avLst/>
            <a:gdLst/>
            <a:ahLst/>
            <a:cxnLst/>
            <a:rect l="l" t="t" r="r" b="b"/>
            <a:pathLst>
              <a:path w="1807133" h="2831690">
                <a:moveTo>
                  <a:pt x="0" y="0"/>
                </a:moveTo>
                <a:lnTo>
                  <a:pt x="1807133" y="0"/>
                </a:lnTo>
                <a:lnTo>
                  <a:pt x="1807133" y="2831690"/>
                </a:lnTo>
                <a:lnTo>
                  <a:pt x="0" y="283169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TextBox 8"/>
          <p:cNvSpPr txBox="1"/>
          <p:nvPr/>
        </p:nvSpPr>
        <p:spPr>
          <a:xfrm>
            <a:off x="194707" y="0"/>
            <a:ext cx="9764919" cy="876300"/>
          </a:xfrm>
          <a:prstGeom prst="rect">
            <a:avLst/>
          </a:prstGeom>
        </p:spPr>
        <p:txBody>
          <a:bodyPr lIns="0" tIns="0" rIns="0" bIns="0" rtlCol="0" anchor="t">
            <a:spAutoFit/>
          </a:bodyPr>
          <a:lstStyle/>
          <a:p>
            <a:pPr algn="ctr">
              <a:lnSpc>
                <a:spcPts val="6959"/>
              </a:lnSpc>
              <a:spcBef>
                <a:spcPct val="0"/>
              </a:spcBef>
            </a:pPr>
            <a:r>
              <a:rPr lang="en-US" sz="5799" b="1">
                <a:solidFill>
                  <a:srgbClr val="000000"/>
                </a:solidFill>
                <a:latin typeface="Faustina Bold"/>
                <a:ea typeface="Faustina Bold"/>
                <a:cs typeface="Faustina Bold"/>
                <a:sym typeface="Faustina Bold"/>
              </a:rPr>
              <a:t>Phần 3: Thiết kế chương trình.</a:t>
            </a:r>
          </a:p>
        </p:txBody>
      </p:sp>
      <p:sp>
        <p:nvSpPr>
          <p:cNvPr id="9" name="TextBox 9"/>
          <p:cNvSpPr txBox="1"/>
          <p:nvPr/>
        </p:nvSpPr>
        <p:spPr>
          <a:xfrm>
            <a:off x="817767" y="1019175"/>
            <a:ext cx="8783984" cy="542925"/>
          </a:xfrm>
          <a:prstGeom prst="rect">
            <a:avLst/>
          </a:prstGeom>
        </p:spPr>
        <p:txBody>
          <a:bodyPr lIns="0" tIns="0" rIns="0" bIns="0" rtlCol="0" anchor="t">
            <a:spAutoFit/>
          </a:bodyPr>
          <a:lstStyle/>
          <a:p>
            <a:pPr algn="ctr">
              <a:lnSpc>
                <a:spcPts val="4200"/>
              </a:lnSpc>
              <a:spcBef>
                <a:spcPct val="0"/>
              </a:spcBef>
            </a:pPr>
            <a:r>
              <a:rPr lang="en-US" sz="3500">
                <a:solidFill>
                  <a:srgbClr val="000000"/>
                </a:solidFill>
                <a:latin typeface="Faustina"/>
                <a:ea typeface="Faustina"/>
                <a:cs typeface="Faustina"/>
                <a:sym typeface="Faustina"/>
              </a:rPr>
              <a:t>3.1: Tài khoản dùng để đăng nhập vào hệ thống. </a:t>
            </a:r>
          </a:p>
        </p:txBody>
      </p:sp>
      <p:sp>
        <p:nvSpPr>
          <p:cNvPr id="10" name="TextBox 10"/>
          <p:cNvSpPr txBox="1"/>
          <p:nvPr/>
        </p:nvSpPr>
        <p:spPr>
          <a:xfrm>
            <a:off x="1430210" y="1994270"/>
            <a:ext cx="9246559" cy="1247775"/>
          </a:xfrm>
          <a:prstGeom prst="rect">
            <a:avLst/>
          </a:prstGeom>
        </p:spPr>
        <p:txBody>
          <a:bodyPr lIns="0" tIns="0" rIns="0" bIns="0" rtlCol="0" anchor="t">
            <a:spAutoFit/>
          </a:bodyPr>
          <a:lstStyle/>
          <a:p>
            <a:pPr algn="l">
              <a:lnSpc>
                <a:spcPts val="3359"/>
              </a:lnSpc>
              <a:spcBef>
                <a:spcPct val="0"/>
              </a:spcBef>
            </a:pPr>
            <a:r>
              <a:rPr lang="en-US" sz="2799">
                <a:solidFill>
                  <a:srgbClr val="000000"/>
                </a:solidFill>
                <a:latin typeface="Faustina"/>
                <a:ea typeface="Faustina"/>
                <a:cs typeface="Faustina"/>
                <a:sym typeface="Faustina"/>
              </a:rPr>
              <a:t>Chủ cửa hàng :   Username: admin             Password: 123</a:t>
            </a:r>
          </a:p>
          <a:p>
            <a:pPr algn="l">
              <a:lnSpc>
                <a:spcPts val="3359"/>
              </a:lnSpc>
              <a:spcBef>
                <a:spcPct val="0"/>
              </a:spcBef>
            </a:pPr>
            <a:r>
              <a:rPr lang="en-US" sz="2799">
                <a:solidFill>
                  <a:srgbClr val="000000"/>
                </a:solidFill>
                <a:latin typeface="Faustina"/>
                <a:ea typeface="Faustina"/>
                <a:cs typeface="Faustina"/>
                <a:sym typeface="Faustina"/>
              </a:rPr>
              <a:t>Nhân viên :          Username: nv01                 Password:112233</a:t>
            </a:r>
          </a:p>
          <a:p>
            <a:pPr algn="l">
              <a:lnSpc>
                <a:spcPts val="3359"/>
              </a:lnSpc>
              <a:spcBef>
                <a:spcPct val="0"/>
              </a:spcBef>
            </a:pPr>
            <a:r>
              <a:rPr lang="en-US" sz="2799">
                <a:solidFill>
                  <a:srgbClr val="000000"/>
                </a:solidFill>
                <a:latin typeface="Faustina"/>
                <a:ea typeface="Faustina"/>
                <a:cs typeface="Faustina"/>
                <a:sym typeface="Faustina"/>
              </a:rPr>
              <a:t>Người dùng:        Username: nguyenlong   Password : long2004</a:t>
            </a:r>
          </a:p>
        </p:txBody>
      </p:sp>
      <p:sp>
        <p:nvSpPr>
          <p:cNvPr id="11" name="TextBox 11"/>
          <p:cNvSpPr txBox="1"/>
          <p:nvPr/>
        </p:nvSpPr>
        <p:spPr>
          <a:xfrm>
            <a:off x="817767" y="3518270"/>
            <a:ext cx="12160300" cy="542925"/>
          </a:xfrm>
          <a:prstGeom prst="rect">
            <a:avLst/>
          </a:prstGeom>
        </p:spPr>
        <p:txBody>
          <a:bodyPr lIns="0" tIns="0" rIns="0" bIns="0" rtlCol="0" anchor="t">
            <a:spAutoFit/>
          </a:bodyPr>
          <a:lstStyle/>
          <a:p>
            <a:pPr algn="ctr">
              <a:lnSpc>
                <a:spcPts val="4200"/>
              </a:lnSpc>
              <a:spcBef>
                <a:spcPct val="0"/>
              </a:spcBef>
            </a:pPr>
            <a:r>
              <a:rPr lang="en-US" sz="3500">
                <a:solidFill>
                  <a:srgbClr val="000000"/>
                </a:solidFill>
                <a:latin typeface="Faustina"/>
                <a:ea typeface="Faustina"/>
                <a:cs typeface="Faustina"/>
                <a:sym typeface="Faustina"/>
              </a:rPr>
              <a:t>3.2: Các chức năng ( khi người dùng chưa đăng nhập vào hệ thống )</a:t>
            </a:r>
          </a:p>
        </p:txBody>
      </p:sp>
      <p:sp>
        <p:nvSpPr>
          <p:cNvPr id="12" name="TextBox 12"/>
          <p:cNvSpPr txBox="1"/>
          <p:nvPr/>
        </p:nvSpPr>
        <p:spPr>
          <a:xfrm>
            <a:off x="1028700" y="4213595"/>
            <a:ext cx="4276427" cy="457200"/>
          </a:xfrm>
          <a:prstGeom prst="rect">
            <a:avLst/>
          </a:prstGeom>
        </p:spPr>
        <p:txBody>
          <a:bodyPr lIns="0" tIns="0" rIns="0" bIns="0" rtlCol="0" anchor="t">
            <a:spAutoFit/>
          </a:bodyPr>
          <a:lstStyle/>
          <a:p>
            <a:pPr algn="ctr">
              <a:lnSpc>
                <a:spcPts val="3600"/>
              </a:lnSpc>
              <a:spcBef>
                <a:spcPct val="0"/>
              </a:spcBef>
            </a:pPr>
            <a:r>
              <a:rPr lang="en-US" sz="3000">
                <a:solidFill>
                  <a:srgbClr val="000000"/>
                </a:solidFill>
                <a:latin typeface="Faustina"/>
                <a:ea typeface="Faustina"/>
                <a:cs typeface="Faustina"/>
                <a:sym typeface="Faustina"/>
              </a:rPr>
              <a:t>3.2.1: Chức năng đăng nhập</a:t>
            </a:r>
          </a:p>
        </p:txBody>
      </p:sp>
      <p:sp>
        <p:nvSpPr>
          <p:cNvPr id="13" name="TextBox 13"/>
          <p:cNvSpPr txBox="1"/>
          <p:nvPr/>
        </p:nvSpPr>
        <p:spPr>
          <a:xfrm>
            <a:off x="1028700" y="9267825"/>
            <a:ext cx="6208663" cy="4095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Đăng nhập: Hiển thị màn hình đăng nhập</a:t>
            </a:r>
          </a:p>
        </p:txBody>
      </p:sp>
      <p:sp>
        <p:nvSpPr>
          <p:cNvPr id="14" name="TextBox 14"/>
          <p:cNvSpPr txBox="1"/>
          <p:nvPr/>
        </p:nvSpPr>
        <p:spPr>
          <a:xfrm>
            <a:off x="9342654" y="9267825"/>
            <a:ext cx="6362551" cy="4095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Trường hợp bỏ trống tài khoản và mật khẩu</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6E9"/>
        </a:solidFill>
        <a:effectLst/>
      </p:bgPr>
    </p:bg>
    <p:spTree>
      <p:nvGrpSpPr>
        <p:cNvPr id="1" name=""/>
        <p:cNvGrpSpPr/>
        <p:nvPr/>
      </p:nvGrpSpPr>
      <p:grpSpPr>
        <a:xfrm>
          <a:off x="0" y="0"/>
          <a:ext cx="0" cy="0"/>
          <a:chOff x="0" y="0"/>
          <a:chExt cx="0" cy="0"/>
        </a:xfrm>
      </p:grpSpPr>
      <p:sp>
        <p:nvSpPr>
          <p:cNvPr id="2" name="Freeform 2"/>
          <p:cNvSpPr/>
          <p:nvPr/>
        </p:nvSpPr>
        <p:spPr>
          <a:xfrm>
            <a:off x="656615" y="451908"/>
            <a:ext cx="6918552" cy="4165785"/>
          </a:xfrm>
          <a:custGeom>
            <a:avLst/>
            <a:gdLst/>
            <a:ahLst/>
            <a:cxnLst/>
            <a:rect l="l" t="t" r="r" b="b"/>
            <a:pathLst>
              <a:path w="6918552" h="4165785">
                <a:moveTo>
                  <a:pt x="0" y="0"/>
                </a:moveTo>
                <a:lnTo>
                  <a:pt x="6918552" y="0"/>
                </a:lnTo>
                <a:lnTo>
                  <a:pt x="6918552" y="4165785"/>
                </a:lnTo>
                <a:lnTo>
                  <a:pt x="0" y="4165785"/>
                </a:lnTo>
                <a:lnTo>
                  <a:pt x="0" y="0"/>
                </a:lnTo>
                <a:close/>
              </a:path>
            </a:pathLst>
          </a:custGeom>
          <a:blipFill>
            <a:blip r:embed="rId2"/>
            <a:stretch>
              <a:fillRect/>
            </a:stretch>
          </a:blipFill>
        </p:spPr>
      </p:sp>
      <p:sp>
        <p:nvSpPr>
          <p:cNvPr id="3" name="Freeform 3"/>
          <p:cNvSpPr/>
          <p:nvPr/>
        </p:nvSpPr>
        <p:spPr>
          <a:xfrm>
            <a:off x="9354933" y="451908"/>
            <a:ext cx="6969113" cy="4165785"/>
          </a:xfrm>
          <a:custGeom>
            <a:avLst/>
            <a:gdLst/>
            <a:ahLst/>
            <a:cxnLst/>
            <a:rect l="l" t="t" r="r" b="b"/>
            <a:pathLst>
              <a:path w="6969113" h="4165785">
                <a:moveTo>
                  <a:pt x="0" y="0"/>
                </a:moveTo>
                <a:lnTo>
                  <a:pt x="6969112" y="0"/>
                </a:lnTo>
                <a:lnTo>
                  <a:pt x="6969112" y="4165785"/>
                </a:lnTo>
                <a:lnTo>
                  <a:pt x="0" y="4165785"/>
                </a:lnTo>
                <a:lnTo>
                  <a:pt x="0" y="0"/>
                </a:lnTo>
                <a:close/>
              </a:path>
            </a:pathLst>
          </a:custGeom>
          <a:blipFill>
            <a:blip r:embed="rId3"/>
            <a:stretch>
              <a:fillRect/>
            </a:stretch>
          </a:blipFill>
        </p:spPr>
      </p:sp>
      <p:sp>
        <p:nvSpPr>
          <p:cNvPr id="4" name="Freeform 4"/>
          <p:cNvSpPr/>
          <p:nvPr/>
        </p:nvSpPr>
        <p:spPr>
          <a:xfrm>
            <a:off x="9354933" y="5547534"/>
            <a:ext cx="6325069" cy="4166639"/>
          </a:xfrm>
          <a:custGeom>
            <a:avLst/>
            <a:gdLst/>
            <a:ahLst/>
            <a:cxnLst/>
            <a:rect l="l" t="t" r="r" b="b"/>
            <a:pathLst>
              <a:path w="6325069" h="4166639">
                <a:moveTo>
                  <a:pt x="0" y="0"/>
                </a:moveTo>
                <a:lnTo>
                  <a:pt x="6325069" y="0"/>
                </a:lnTo>
                <a:lnTo>
                  <a:pt x="6325069" y="4166639"/>
                </a:lnTo>
                <a:lnTo>
                  <a:pt x="0" y="4166639"/>
                </a:lnTo>
                <a:lnTo>
                  <a:pt x="0" y="0"/>
                </a:lnTo>
                <a:close/>
              </a:path>
            </a:pathLst>
          </a:custGeom>
          <a:blipFill>
            <a:blip r:embed="rId4"/>
            <a:stretch>
              <a:fillRect/>
            </a:stretch>
          </a:blipFill>
        </p:spPr>
      </p:sp>
      <p:grpSp>
        <p:nvGrpSpPr>
          <p:cNvPr id="5" name="Group 5"/>
          <p:cNvGrpSpPr/>
          <p:nvPr/>
        </p:nvGrpSpPr>
        <p:grpSpPr>
          <a:xfrm>
            <a:off x="8155725" y="6516429"/>
            <a:ext cx="988275" cy="988275"/>
            <a:chOff x="0" y="0"/>
            <a:chExt cx="812800" cy="812800"/>
          </a:xfrm>
        </p:grpSpPr>
        <p:sp>
          <p:nvSpPr>
            <p:cNvPr id="6" name="Freeform 6"/>
            <p:cNvSpPr/>
            <p:nvPr/>
          </p:nvSpPr>
          <p:spPr>
            <a:xfrm>
              <a:off x="0" y="0"/>
              <a:ext cx="812800" cy="812800"/>
            </a:xfrm>
            <a:custGeom>
              <a:avLst/>
              <a:gdLst/>
              <a:ahLst/>
              <a:cxnLst/>
              <a:rect l="l" t="t" r="r" b="b"/>
              <a:pathLst>
                <a:path w="812800" h="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E5645E"/>
            </a:solidFill>
          </p:spPr>
        </p:sp>
        <p:sp>
          <p:nvSpPr>
            <p:cNvPr id="7" name="TextBox 7"/>
            <p:cNvSpPr txBox="1"/>
            <p:nvPr/>
          </p:nvSpPr>
          <p:spPr>
            <a:xfrm>
              <a:off x="0" y="165100"/>
              <a:ext cx="711200" cy="4445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7970912" y="2326425"/>
            <a:ext cx="988275" cy="988275"/>
            <a:chOff x="0" y="0"/>
            <a:chExt cx="812800" cy="812800"/>
          </a:xfrm>
        </p:grpSpPr>
        <p:sp>
          <p:nvSpPr>
            <p:cNvPr id="9" name="Freeform 9"/>
            <p:cNvSpPr/>
            <p:nvPr/>
          </p:nvSpPr>
          <p:spPr>
            <a:xfrm>
              <a:off x="0" y="0"/>
              <a:ext cx="812800" cy="812800"/>
            </a:xfrm>
            <a:custGeom>
              <a:avLst/>
              <a:gdLst/>
              <a:ahLst/>
              <a:cxnLst/>
              <a:rect l="l" t="t" r="r" b="b"/>
              <a:pathLst>
                <a:path w="812800" h="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E5645E"/>
            </a:solidFill>
          </p:spPr>
        </p:sp>
        <p:sp>
          <p:nvSpPr>
            <p:cNvPr id="10" name="TextBox 10"/>
            <p:cNvSpPr txBox="1"/>
            <p:nvPr/>
          </p:nvSpPr>
          <p:spPr>
            <a:xfrm>
              <a:off x="0" y="165100"/>
              <a:ext cx="711200" cy="444500"/>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a:off x="-258241" y="8391686"/>
            <a:ext cx="2573883" cy="1895314"/>
          </a:xfrm>
          <a:custGeom>
            <a:avLst/>
            <a:gdLst/>
            <a:ahLst/>
            <a:cxnLst/>
            <a:rect l="l" t="t" r="r" b="b"/>
            <a:pathLst>
              <a:path w="2573883" h="1895314">
                <a:moveTo>
                  <a:pt x="0" y="0"/>
                </a:moveTo>
                <a:lnTo>
                  <a:pt x="2573882" y="0"/>
                </a:lnTo>
                <a:lnTo>
                  <a:pt x="2573882" y="1895314"/>
                </a:lnTo>
                <a:lnTo>
                  <a:pt x="0" y="189531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2" name="TextBox 12"/>
          <p:cNvSpPr txBox="1"/>
          <p:nvPr/>
        </p:nvSpPr>
        <p:spPr>
          <a:xfrm>
            <a:off x="622682" y="4705350"/>
            <a:ext cx="6468219" cy="4095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Trường hợp nhập tài khoản và mật khẩu sai.</a:t>
            </a:r>
          </a:p>
        </p:txBody>
      </p:sp>
      <p:sp>
        <p:nvSpPr>
          <p:cNvPr id="13" name="TextBox 13"/>
          <p:cNvSpPr txBox="1"/>
          <p:nvPr/>
        </p:nvSpPr>
        <p:spPr>
          <a:xfrm>
            <a:off x="8834232" y="4724400"/>
            <a:ext cx="8981777" cy="4095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Khi người dùng đăng nhập thành công màn hình sẽ hiển thị. </a:t>
            </a:r>
          </a:p>
        </p:txBody>
      </p:sp>
      <p:sp>
        <p:nvSpPr>
          <p:cNvPr id="14" name="TextBox 14"/>
          <p:cNvSpPr txBox="1"/>
          <p:nvPr/>
        </p:nvSpPr>
        <p:spPr>
          <a:xfrm>
            <a:off x="265410" y="5191125"/>
            <a:ext cx="3850481" cy="457200"/>
          </a:xfrm>
          <a:prstGeom prst="rect">
            <a:avLst/>
          </a:prstGeom>
        </p:spPr>
        <p:txBody>
          <a:bodyPr lIns="0" tIns="0" rIns="0" bIns="0" rtlCol="0" anchor="t">
            <a:spAutoFit/>
          </a:bodyPr>
          <a:lstStyle/>
          <a:p>
            <a:pPr algn="ctr">
              <a:lnSpc>
                <a:spcPts val="3600"/>
              </a:lnSpc>
              <a:spcBef>
                <a:spcPct val="0"/>
              </a:spcBef>
            </a:pPr>
            <a:r>
              <a:rPr lang="en-US" sz="3000">
                <a:solidFill>
                  <a:srgbClr val="000000"/>
                </a:solidFill>
                <a:latin typeface="Faustina"/>
                <a:ea typeface="Faustina"/>
                <a:cs typeface="Faustina"/>
                <a:sym typeface="Faustina"/>
              </a:rPr>
              <a:t>3.2.2: Chức năng đăng ký</a:t>
            </a:r>
          </a:p>
        </p:txBody>
      </p:sp>
      <p:sp>
        <p:nvSpPr>
          <p:cNvPr id="15" name="TextBox 15"/>
          <p:cNvSpPr txBox="1"/>
          <p:nvPr/>
        </p:nvSpPr>
        <p:spPr>
          <a:xfrm>
            <a:off x="265410" y="6546819"/>
            <a:ext cx="7805532" cy="12477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Khi người dùng ấn nút “ Đăng Ký ” ở trang đăng nhập sẽ chuyển tới giao diện đăng ký tài khoản dành cho người dùng.</a:t>
            </a:r>
          </a:p>
        </p:txBody>
      </p:sp>
      <p:sp>
        <p:nvSpPr>
          <p:cNvPr id="16" name="TextBox 16"/>
          <p:cNvSpPr txBox="1"/>
          <p:nvPr/>
        </p:nvSpPr>
        <p:spPr>
          <a:xfrm>
            <a:off x="10387023" y="9818948"/>
            <a:ext cx="3992761" cy="4095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Hiển thị màn hình đăng ký</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6E9"/>
        </a:solidFill>
        <a:effectLst/>
      </p:bgPr>
    </p:bg>
    <p:spTree>
      <p:nvGrpSpPr>
        <p:cNvPr id="1" name=""/>
        <p:cNvGrpSpPr/>
        <p:nvPr/>
      </p:nvGrpSpPr>
      <p:grpSpPr>
        <a:xfrm>
          <a:off x="0" y="0"/>
          <a:ext cx="0" cy="0"/>
          <a:chOff x="0" y="0"/>
          <a:chExt cx="0" cy="0"/>
        </a:xfrm>
      </p:grpSpPr>
      <p:sp>
        <p:nvSpPr>
          <p:cNvPr id="2" name="Freeform 2"/>
          <p:cNvSpPr/>
          <p:nvPr/>
        </p:nvSpPr>
        <p:spPr>
          <a:xfrm>
            <a:off x="9419532" y="341961"/>
            <a:ext cx="7025269" cy="4490185"/>
          </a:xfrm>
          <a:custGeom>
            <a:avLst/>
            <a:gdLst/>
            <a:ahLst/>
            <a:cxnLst/>
            <a:rect l="l" t="t" r="r" b="b"/>
            <a:pathLst>
              <a:path w="7025269" h="4490185">
                <a:moveTo>
                  <a:pt x="0" y="0"/>
                </a:moveTo>
                <a:lnTo>
                  <a:pt x="7025269" y="0"/>
                </a:lnTo>
                <a:lnTo>
                  <a:pt x="7025269" y="4490185"/>
                </a:lnTo>
                <a:lnTo>
                  <a:pt x="0" y="4490185"/>
                </a:lnTo>
                <a:lnTo>
                  <a:pt x="0" y="0"/>
                </a:lnTo>
                <a:close/>
              </a:path>
            </a:pathLst>
          </a:custGeom>
          <a:blipFill>
            <a:blip r:embed="rId2"/>
            <a:stretch>
              <a:fillRect/>
            </a:stretch>
          </a:blipFill>
        </p:spPr>
      </p:sp>
      <p:sp>
        <p:nvSpPr>
          <p:cNvPr id="3" name="Freeform 3"/>
          <p:cNvSpPr/>
          <p:nvPr/>
        </p:nvSpPr>
        <p:spPr>
          <a:xfrm>
            <a:off x="1028700" y="341961"/>
            <a:ext cx="7064427" cy="4490185"/>
          </a:xfrm>
          <a:custGeom>
            <a:avLst/>
            <a:gdLst/>
            <a:ahLst/>
            <a:cxnLst/>
            <a:rect l="l" t="t" r="r" b="b"/>
            <a:pathLst>
              <a:path w="7064427" h="4490185">
                <a:moveTo>
                  <a:pt x="0" y="0"/>
                </a:moveTo>
                <a:lnTo>
                  <a:pt x="7064427" y="0"/>
                </a:lnTo>
                <a:lnTo>
                  <a:pt x="7064427" y="4490185"/>
                </a:lnTo>
                <a:lnTo>
                  <a:pt x="0" y="4490185"/>
                </a:lnTo>
                <a:lnTo>
                  <a:pt x="0" y="0"/>
                </a:lnTo>
                <a:close/>
              </a:path>
            </a:pathLst>
          </a:custGeom>
          <a:blipFill>
            <a:blip r:embed="rId3"/>
            <a:stretch>
              <a:fillRect/>
            </a:stretch>
          </a:blipFill>
        </p:spPr>
      </p:sp>
      <p:sp>
        <p:nvSpPr>
          <p:cNvPr id="4" name="Freeform 4"/>
          <p:cNvSpPr/>
          <p:nvPr/>
        </p:nvSpPr>
        <p:spPr>
          <a:xfrm>
            <a:off x="8756329" y="5877282"/>
            <a:ext cx="6299759" cy="4129467"/>
          </a:xfrm>
          <a:custGeom>
            <a:avLst/>
            <a:gdLst/>
            <a:ahLst/>
            <a:cxnLst/>
            <a:rect l="l" t="t" r="r" b="b"/>
            <a:pathLst>
              <a:path w="6299759" h="4129467">
                <a:moveTo>
                  <a:pt x="0" y="0"/>
                </a:moveTo>
                <a:lnTo>
                  <a:pt x="6299759" y="0"/>
                </a:lnTo>
                <a:lnTo>
                  <a:pt x="6299759" y="4129466"/>
                </a:lnTo>
                <a:lnTo>
                  <a:pt x="0" y="4129466"/>
                </a:lnTo>
                <a:lnTo>
                  <a:pt x="0" y="0"/>
                </a:lnTo>
                <a:close/>
              </a:path>
            </a:pathLst>
          </a:custGeom>
          <a:blipFill>
            <a:blip r:embed="rId4"/>
            <a:stretch>
              <a:fillRect/>
            </a:stretch>
          </a:blipFill>
        </p:spPr>
      </p:sp>
      <p:grpSp>
        <p:nvGrpSpPr>
          <p:cNvPr id="5" name="Group 5"/>
          <p:cNvGrpSpPr/>
          <p:nvPr/>
        </p:nvGrpSpPr>
        <p:grpSpPr>
          <a:xfrm>
            <a:off x="7026182" y="7074352"/>
            <a:ext cx="1398640" cy="1398640"/>
            <a:chOff x="0" y="0"/>
            <a:chExt cx="812800" cy="812800"/>
          </a:xfrm>
        </p:grpSpPr>
        <p:sp>
          <p:nvSpPr>
            <p:cNvPr id="6" name="Freeform 6"/>
            <p:cNvSpPr/>
            <p:nvPr/>
          </p:nvSpPr>
          <p:spPr>
            <a:xfrm>
              <a:off x="0" y="0"/>
              <a:ext cx="812800" cy="812800"/>
            </a:xfrm>
            <a:custGeom>
              <a:avLst/>
              <a:gdLst/>
              <a:ahLst/>
              <a:cxnLst/>
              <a:rect l="l" t="t" r="r" b="b"/>
              <a:pathLst>
                <a:path w="812800" h="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2CB892"/>
            </a:solidFill>
          </p:spPr>
        </p:sp>
        <p:sp>
          <p:nvSpPr>
            <p:cNvPr id="7" name="TextBox 7"/>
            <p:cNvSpPr txBox="1"/>
            <p:nvPr/>
          </p:nvSpPr>
          <p:spPr>
            <a:xfrm>
              <a:off x="0" y="165100"/>
              <a:ext cx="711200" cy="444500"/>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9419532" y="4943118"/>
            <a:ext cx="7025269" cy="829388"/>
          </a:xfrm>
          <a:prstGeom prst="rect">
            <a:avLst/>
          </a:prstGeom>
        </p:spPr>
        <p:txBody>
          <a:bodyPr lIns="0" tIns="0" rIns="0" bIns="0" rtlCol="0" anchor="t">
            <a:spAutoFit/>
          </a:bodyPr>
          <a:lstStyle/>
          <a:p>
            <a:pPr algn="ctr">
              <a:lnSpc>
                <a:spcPts val="3362"/>
              </a:lnSpc>
              <a:spcBef>
                <a:spcPct val="0"/>
              </a:spcBef>
            </a:pPr>
            <a:r>
              <a:rPr lang="en-US" sz="2802">
                <a:solidFill>
                  <a:srgbClr val="000000"/>
                </a:solidFill>
                <a:latin typeface="Faustina"/>
                <a:ea typeface="Faustina"/>
                <a:cs typeface="Faustina"/>
                <a:sym typeface="Faustina"/>
              </a:rPr>
              <a:t>Khi người dùng nhập thông tin tài khoản và mật khẩu không đúng định dạng.</a:t>
            </a:r>
          </a:p>
        </p:txBody>
      </p:sp>
      <p:sp>
        <p:nvSpPr>
          <p:cNvPr id="9" name="TextBox 9"/>
          <p:cNvSpPr txBox="1"/>
          <p:nvPr/>
        </p:nvSpPr>
        <p:spPr>
          <a:xfrm>
            <a:off x="886602" y="4943832"/>
            <a:ext cx="7064427" cy="8286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Khi người dùng không nhập đầy đủ thông tin tài khoản màn hình sẽ hiển thị lên thông báo.</a:t>
            </a:r>
          </a:p>
        </p:txBody>
      </p:sp>
      <p:sp>
        <p:nvSpPr>
          <p:cNvPr id="10" name="TextBox 10"/>
          <p:cNvSpPr txBox="1"/>
          <p:nvPr/>
        </p:nvSpPr>
        <p:spPr>
          <a:xfrm>
            <a:off x="623061" y="6753225"/>
            <a:ext cx="6071614" cy="25050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Khi người dùng nhập đầy đủ các thông tin sau đó thao tác ấn nút “ Đăng Ký” màn hình hiển thị đăng ký thành công. Nếu tài khoản đã tồn tại trên hệ thống thì màn hình sẽ hiển thị “ Tài khoản đã tồn tại”.</a:t>
            </a:r>
          </a:p>
        </p:txBody>
      </p:sp>
      <p:grpSp>
        <p:nvGrpSpPr>
          <p:cNvPr id="11" name="Group 11"/>
          <p:cNvGrpSpPr/>
          <p:nvPr/>
        </p:nvGrpSpPr>
        <p:grpSpPr>
          <a:xfrm>
            <a:off x="8296337" y="2423981"/>
            <a:ext cx="919985" cy="919985"/>
            <a:chOff x="0" y="0"/>
            <a:chExt cx="812800" cy="812800"/>
          </a:xfrm>
        </p:grpSpPr>
        <p:sp>
          <p:nvSpPr>
            <p:cNvPr id="12" name="Freeform 12"/>
            <p:cNvSpPr/>
            <p:nvPr/>
          </p:nvSpPr>
          <p:spPr>
            <a:xfrm>
              <a:off x="0" y="0"/>
              <a:ext cx="812800" cy="812800"/>
            </a:xfrm>
            <a:custGeom>
              <a:avLst/>
              <a:gdLst/>
              <a:ahLst/>
              <a:cxnLst/>
              <a:rect l="l" t="t" r="r" b="b"/>
              <a:pathLst>
                <a:path w="812800" h="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2CB892"/>
            </a:solidFill>
          </p:spPr>
        </p:sp>
        <p:sp>
          <p:nvSpPr>
            <p:cNvPr id="13" name="TextBox 13"/>
            <p:cNvSpPr txBox="1"/>
            <p:nvPr/>
          </p:nvSpPr>
          <p:spPr>
            <a:xfrm>
              <a:off x="0" y="165100"/>
              <a:ext cx="711200" cy="444500"/>
            </a:xfrm>
            <a:prstGeom prst="rect">
              <a:avLst/>
            </a:prstGeom>
          </p:spPr>
          <p:txBody>
            <a:bodyPr lIns="50800" tIns="50800" rIns="50800" bIns="50800" rtlCol="0" anchor="ctr"/>
            <a:lstStyle/>
            <a:p>
              <a:pPr algn="ctr">
                <a:lnSpc>
                  <a:spcPts val="2659"/>
                </a:lnSpc>
              </a:pPr>
              <a:endParaRP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6E9"/>
        </a:solidFill>
        <a:effectLst/>
      </p:bgPr>
    </p:bg>
    <p:spTree>
      <p:nvGrpSpPr>
        <p:cNvPr id="1" name=""/>
        <p:cNvGrpSpPr/>
        <p:nvPr/>
      </p:nvGrpSpPr>
      <p:grpSpPr>
        <a:xfrm>
          <a:off x="0" y="0"/>
          <a:ext cx="0" cy="0"/>
          <a:chOff x="0" y="0"/>
          <a:chExt cx="0" cy="0"/>
        </a:xfrm>
      </p:grpSpPr>
      <p:sp>
        <p:nvSpPr>
          <p:cNvPr id="2" name="Freeform 2"/>
          <p:cNvSpPr/>
          <p:nvPr/>
        </p:nvSpPr>
        <p:spPr>
          <a:xfrm>
            <a:off x="1028700" y="1791578"/>
            <a:ext cx="7836312" cy="6052056"/>
          </a:xfrm>
          <a:custGeom>
            <a:avLst/>
            <a:gdLst/>
            <a:ahLst/>
            <a:cxnLst/>
            <a:rect l="l" t="t" r="r" b="b"/>
            <a:pathLst>
              <a:path w="7836312" h="6052056">
                <a:moveTo>
                  <a:pt x="0" y="0"/>
                </a:moveTo>
                <a:lnTo>
                  <a:pt x="7836312" y="0"/>
                </a:lnTo>
                <a:lnTo>
                  <a:pt x="7836312" y="6052056"/>
                </a:lnTo>
                <a:lnTo>
                  <a:pt x="0" y="6052056"/>
                </a:lnTo>
                <a:lnTo>
                  <a:pt x="0" y="0"/>
                </a:lnTo>
                <a:close/>
              </a:path>
            </a:pathLst>
          </a:custGeom>
          <a:blipFill>
            <a:blip r:embed="rId2"/>
            <a:stretch>
              <a:fillRect t="-6112" b="-1241"/>
            </a:stretch>
          </a:blipFill>
        </p:spPr>
      </p:sp>
      <p:sp>
        <p:nvSpPr>
          <p:cNvPr id="3" name="Freeform 3"/>
          <p:cNvSpPr/>
          <p:nvPr/>
        </p:nvSpPr>
        <p:spPr>
          <a:xfrm>
            <a:off x="9572110" y="1791578"/>
            <a:ext cx="7177405" cy="1228478"/>
          </a:xfrm>
          <a:custGeom>
            <a:avLst/>
            <a:gdLst/>
            <a:ahLst/>
            <a:cxnLst/>
            <a:rect l="l" t="t" r="r" b="b"/>
            <a:pathLst>
              <a:path w="7177405" h="1228478">
                <a:moveTo>
                  <a:pt x="0" y="0"/>
                </a:moveTo>
                <a:lnTo>
                  <a:pt x="7177406" y="0"/>
                </a:lnTo>
                <a:lnTo>
                  <a:pt x="7177406" y="1228478"/>
                </a:lnTo>
                <a:lnTo>
                  <a:pt x="0" y="1228478"/>
                </a:lnTo>
                <a:lnTo>
                  <a:pt x="0" y="0"/>
                </a:lnTo>
                <a:close/>
              </a:path>
            </a:pathLst>
          </a:custGeom>
          <a:blipFill>
            <a:blip r:embed="rId3"/>
            <a:stretch>
              <a:fillRect/>
            </a:stretch>
          </a:blipFill>
        </p:spPr>
      </p:sp>
      <p:sp>
        <p:nvSpPr>
          <p:cNvPr id="4" name="Freeform 4"/>
          <p:cNvSpPr/>
          <p:nvPr/>
        </p:nvSpPr>
        <p:spPr>
          <a:xfrm>
            <a:off x="9572110" y="4369000"/>
            <a:ext cx="7177405" cy="1177831"/>
          </a:xfrm>
          <a:custGeom>
            <a:avLst/>
            <a:gdLst/>
            <a:ahLst/>
            <a:cxnLst/>
            <a:rect l="l" t="t" r="r" b="b"/>
            <a:pathLst>
              <a:path w="7177405" h="1177831">
                <a:moveTo>
                  <a:pt x="0" y="0"/>
                </a:moveTo>
                <a:lnTo>
                  <a:pt x="7177406" y="0"/>
                </a:lnTo>
                <a:lnTo>
                  <a:pt x="7177406" y="1177830"/>
                </a:lnTo>
                <a:lnTo>
                  <a:pt x="0" y="1177830"/>
                </a:lnTo>
                <a:lnTo>
                  <a:pt x="0" y="0"/>
                </a:lnTo>
                <a:close/>
              </a:path>
            </a:pathLst>
          </a:custGeom>
          <a:blipFill>
            <a:blip r:embed="rId4"/>
            <a:stretch>
              <a:fillRect/>
            </a:stretch>
          </a:blipFill>
        </p:spPr>
      </p:sp>
      <p:sp>
        <p:nvSpPr>
          <p:cNvPr id="5" name="Freeform 5"/>
          <p:cNvSpPr/>
          <p:nvPr/>
        </p:nvSpPr>
        <p:spPr>
          <a:xfrm>
            <a:off x="10814667" y="7646313"/>
            <a:ext cx="4054013" cy="2640687"/>
          </a:xfrm>
          <a:custGeom>
            <a:avLst/>
            <a:gdLst/>
            <a:ahLst/>
            <a:cxnLst/>
            <a:rect l="l" t="t" r="r" b="b"/>
            <a:pathLst>
              <a:path w="4054013" h="2640687">
                <a:moveTo>
                  <a:pt x="0" y="0"/>
                </a:moveTo>
                <a:lnTo>
                  <a:pt x="4054013" y="0"/>
                </a:lnTo>
                <a:lnTo>
                  <a:pt x="4054013" y="2640687"/>
                </a:lnTo>
                <a:lnTo>
                  <a:pt x="0" y="2640687"/>
                </a:lnTo>
                <a:lnTo>
                  <a:pt x="0" y="0"/>
                </a:lnTo>
                <a:close/>
              </a:path>
            </a:pathLst>
          </a:custGeom>
          <a:blipFill>
            <a:blip r:embed="rId5"/>
            <a:stretch>
              <a:fillRect/>
            </a:stretch>
          </a:blipFill>
        </p:spPr>
      </p:sp>
      <p:grpSp>
        <p:nvGrpSpPr>
          <p:cNvPr id="6" name="Group 6"/>
          <p:cNvGrpSpPr/>
          <p:nvPr/>
        </p:nvGrpSpPr>
        <p:grpSpPr>
          <a:xfrm>
            <a:off x="9377122" y="8529434"/>
            <a:ext cx="860193" cy="860193"/>
            <a:chOff x="0" y="0"/>
            <a:chExt cx="812800" cy="812800"/>
          </a:xfrm>
        </p:grpSpPr>
        <p:sp>
          <p:nvSpPr>
            <p:cNvPr id="7" name="Freeform 7"/>
            <p:cNvSpPr/>
            <p:nvPr/>
          </p:nvSpPr>
          <p:spPr>
            <a:xfrm>
              <a:off x="0" y="0"/>
              <a:ext cx="812800" cy="812800"/>
            </a:xfrm>
            <a:custGeom>
              <a:avLst/>
              <a:gdLst/>
              <a:ahLst/>
              <a:cxnLst/>
              <a:rect l="l" t="t" r="r" b="b"/>
              <a:pathLst>
                <a:path w="812800" h="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0282CC"/>
            </a:solidFill>
          </p:spPr>
        </p:sp>
        <p:sp>
          <p:nvSpPr>
            <p:cNvPr id="8" name="TextBox 8"/>
            <p:cNvSpPr txBox="1"/>
            <p:nvPr/>
          </p:nvSpPr>
          <p:spPr>
            <a:xfrm>
              <a:off x="0" y="165100"/>
              <a:ext cx="711200" cy="444500"/>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146030" y="161196"/>
            <a:ext cx="5225031" cy="457200"/>
          </a:xfrm>
          <a:prstGeom prst="rect">
            <a:avLst/>
          </a:prstGeom>
        </p:spPr>
        <p:txBody>
          <a:bodyPr lIns="0" tIns="0" rIns="0" bIns="0" rtlCol="0" anchor="t">
            <a:spAutoFit/>
          </a:bodyPr>
          <a:lstStyle/>
          <a:p>
            <a:pPr algn="ctr">
              <a:lnSpc>
                <a:spcPts val="3600"/>
              </a:lnSpc>
              <a:spcBef>
                <a:spcPct val="0"/>
              </a:spcBef>
            </a:pPr>
            <a:r>
              <a:rPr lang="en-US" sz="3000">
                <a:solidFill>
                  <a:srgbClr val="000000"/>
                </a:solidFill>
                <a:latin typeface="Faustina"/>
                <a:ea typeface="Faustina"/>
                <a:cs typeface="Faustina"/>
                <a:sym typeface="Faustina"/>
              </a:rPr>
              <a:t>3.2.2: Chức năng quên mật khẩu</a:t>
            </a:r>
          </a:p>
        </p:txBody>
      </p:sp>
      <p:sp>
        <p:nvSpPr>
          <p:cNvPr id="10" name="TextBox 10"/>
          <p:cNvSpPr txBox="1"/>
          <p:nvPr/>
        </p:nvSpPr>
        <p:spPr>
          <a:xfrm>
            <a:off x="1207181" y="896640"/>
            <a:ext cx="6279782" cy="8286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Sau khi người dùng chọn vào chức năng quên mật khẩu màn hình hiển thị lên</a:t>
            </a:r>
          </a:p>
        </p:txBody>
      </p:sp>
      <p:sp>
        <p:nvSpPr>
          <p:cNvPr id="11" name="TextBox 11"/>
          <p:cNvSpPr txBox="1"/>
          <p:nvPr/>
        </p:nvSpPr>
        <p:spPr>
          <a:xfrm>
            <a:off x="9572110" y="896640"/>
            <a:ext cx="6539126" cy="8286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Khi người dùng nhập đúng tên người dùng màn hình sẽ hiển thị tên người dùng tồn tại</a:t>
            </a:r>
          </a:p>
        </p:txBody>
      </p:sp>
      <p:sp>
        <p:nvSpPr>
          <p:cNvPr id="12" name="TextBox 12"/>
          <p:cNvSpPr txBox="1"/>
          <p:nvPr/>
        </p:nvSpPr>
        <p:spPr>
          <a:xfrm>
            <a:off x="9377122" y="3540325"/>
            <a:ext cx="6602014" cy="8286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Khi người dùng nhập sai tên người dùng màn hình sẽ hiển thị tài khoản chưa tồn tại </a:t>
            </a:r>
          </a:p>
        </p:txBody>
      </p:sp>
      <p:sp>
        <p:nvSpPr>
          <p:cNvPr id="13" name="TextBox 13"/>
          <p:cNvSpPr txBox="1"/>
          <p:nvPr/>
        </p:nvSpPr>
        <p:spPr>
          <a:xfrm>
            <a:off x="2758546" y="8527962"/>
            <a:ext cx="6161218" cy="8286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Khi người dùng nhập đầy đủ các thông tin thì mật khẩu sẽ trả về cho khách hàng</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6E9"/>
        </a:solidFill>
        <a:effectLst/>
      </p:bgPr>
    </p:bg>
    <p:spTree>
      <p:nvGrpSpPr>
        <p:cNvPr id="1" name=""/>
        <p:cNvGrpSpPr/>
        <p:nvPr/>
      </p:nvGrpSpPr>
      <p:grpSpPr>
        <a:xfrm>
          <a:off x="0" y="0"/>
          <a:ext cx="0" cy="0"/>
          <a:chOff x="0" y="0"/>
          <a:chExt cx="0" cy="0"/>
        </a:xfrm>
      </p:grpSpPr>
      <p:sp>
        <p:nvSpPr>
          <p:cNvPr id="2" name="Freeform 2"/>
          <p:cNvSpPr/>
          <p:nvPr/>
        </p:nvSpPr>
        <p:spPr>
          <a:xfrm>
            <a:off x="873701" y="1646952"/>
            <a:ext cx="6787909" cy="4297255"/>
          </a:xfrm>
          <a:custGeom>
            <a:avLst/>
            <a:gdLst/>
            <a:ahLst/>
            <a:cxnLst/>
            <a:rect l="l" t="t" r="r" b="b"/>
            <a:pathLst>
              <a:path w="6787909" h="4297255">
                <a:moveTo>
                  <a:pt x="0" y="0"/>
                </a:moveTo>
                <a:lnTo>
                  <a:pt x="6787909" y="0"/>
                </a:lnTo>
                <a:lnTo>
                  <a:pt x="6787909" y="4297255"/>
                </a:lnTo>
                <a:lnTo>
                  <a:pt x="0" y="4297255"/>
                </a:lnTo>
                <a:lnTo>
                  <a:pt x="0" y="0"/>
                </a:lnTo>
                <a:close/>
              </a:path>
            </a:pathLst>
          </a:custGeom>
          <a:blipFill>
            <a:blip r:embed="rId2"/>
            <a:stretch>
              <a:fillRect/>
            </a:stretch>
          </a:blipFill>
        </p:spPr>
      </p:sp>
      <p:sp>
        <p:nvSpPr>
          <p:cNvPr id="3" name="Freeform 3"/>
          <p:cNvSpPr/>
          <p:nvPr/>
        </p:nvSpPr>
        <p:spPr>
          <a:xfrm>
            <a:off x="8595453" y="5560839"/>
            <a:ext cx="7884557" cy="4619619"/>
          </a:xfrm>
          <a:custGeom>
            <a:avLst/>
            <a:gdLst/>
            <a:ahLst/>
            <a:cxnLst/>
            <a:rect l="l" t="t" r="r" b="b"/>
            <a:pathLst>
              <a:path w="7884557" h="4619619">
                <a:moveTo>
                  <a:pt x="0" y="0"/>
                </a:moveTo>
                <a:lnTo>
                  <a:pt x="7884557" y="0"/>
                </a:lnTo>
                <a:lnTo>
                  <a:pt x="7884557" y="4619618"/>
                </a:lnTo>
                <a:lnTo>
                  <a:pt x="0" y="4619618"/>
                </a:lnTo>
                <a:lnTo>
                  <a:pt x="0" y="0"/>
                </a:lnTo>
                <a:close/>
              </a:path>
            </a:pathLst>
          </a:custGeom>
          <a:blipFill>
            <a:blip r:embed="rId3"/>
            <a:stretch>
              <a:fillRect t="-4394" b="-4394"/>
            </a:stretch>
          </a:blipFill>
        </p:spPr>
      </p:sp>
      <p:sp>
        <p:nvSpPr>
          <p:cNvPr id="4" name="TextBox 4"/>
          <p:cNvSpPr txBox="1"/>
          <p:nvPr/>
        </p:nvSpPr>
        <p:spPr>
          <a:xfrm>
            <a:off x="204600" y="219008"/>
            <a:ext cx="7963198" cy="542925"/>
          </a:xfrm>
          <a:prstGeom prst="rect">
            <a:avLst/>
          </a:prstGeom>
        </p:spPr>
        <p:txBody>
          <a:bodyPr lIns="0" tIns="0" rIns="0" bIns="0" rtlCol="0" anchor="t">
            <a:spAutoFit/>
          </a:bodyPr>
          <a:lstStyle/>
          <a:p>
            <a:pPr algn="ctr">
              <a:lnSpc>
                <a:spcPts val="4200"/>
              </a:lnSpc>
              <a:spcBef>
                <a:spcPct val="0"/>
              </a:spcBef>
            </a:pPr>
            <a:r>
              <a:rPr lang="en-US" sz="3500">
                <a:solidFill>
                  <a:srgbClr val="000000"/>
                </a:solidFill>
                <a:latin typeface="Faustina"/>
                <a:ea typeface="Faustina"/>
                <a:cs typeface="Faustina"/>
                <a:sym typeface="Faustina"/>
              </a:rPr>
              <a:t>3.3 Các chức năng cho mỗi loại người dùng. </a:t>
            </a:r>
          </a:p>
        </p:txBody>
      </p:sp>
      <p:sp>
        <p:nvSpPr>
          <p:cNvPr id="5" name="TextBox 5"/>
          <p:cNvSpPr txBox="1"/>
          <p:nvPr/>
        </p:nvSpPr>
        <p:spPr>
          <a:xfrm>
            <a:off x="583581" y="926232"/>
            <a:ext cx="5647581" cy="457200"/>
          </a:xfrm>
          <a:prstGeom prst="rect">
            <a:avLst/>
          </a:prstGeom>
        </p:spPr>
        <p:txBody>
          <a:bodyPr lIns="0" tIns="0" rIns="0" bIns="0" rtlCol="0" anchor="t">
            <a:spAutoFit/>
          </a:bodyPr>
          <a:lstStyle/>
          <a:p>
            <a:pPr algn="ctr">
              <a:lnSpc>
                <a:spcPts val="3600"/>
              </a:lnSpc>
              <a:spcBef>
                <a:spcPct val="0"/>
              </a:spcBef>
            </a:pPr>
            <a:r>
              <a:rPr lang="en-US" sz="3000">
                <a:solidFill>
                  <a:srgbClr val="000000"/>
                </a:solidFill>
                <a:latin typeface="Faustina"/>
                <a:ea typeface="Faustina"/>
                <a:cs typeface="Faustina"/>
                <a:sym typeface="Faustina"/>
              </a:rPr>
              <a:t>3.3.1: Các chức năng của khách hàng</a:t>
            </a:r>
          </a:p>
        </p:txBody>
      </p:sp>
      <p:sp>
        <p:nvSpPr>
          <p:cNvPr id="6" name="TextBox 6"/>
          <p:cNvSpPr txBox="1"/>
          <p:nvPr/>
        </p:nvSpPr>
        <p:spPr>
          <a:xfrm>
            <a:off x="8335844" y="2069705"/>
            <a:ext cx="6659070" cy="862185"/>
          </a:xfrm>
          <a:prstGeom prst="rect">
            <a:avLst/>
          </a:prstGeom>
        </p:spPr>
        <p:txBody>
          <a:bodyPr lIns="0" tIns="0" rIns="0" bIns="0" rtlCol="0" anchor="t">
            <a:spAutoFit/>
          </a:bodyPr>
          <a:lstStyle/>
          <a:p>
            <a:pPr algn="ctr">
              <a:lnSpc>
                <a:spcPts val="3494"/>
              </a:lnSpc>
              <a:spcBef>
                <a:spcPct val="0"/>
              </a:spcBef>
            </a:pPr>
            <a:r>
              <a:rPr lang="en-US" sz="2911">
                <a:solidFill>
                  <a:srgbClr val="000000"/>
                </a:solidFill>
                <a:latin typeface="Faustina"/>
                <a:ea typeface="Faustina"/>
                <a:cs typeface="Faustina"/>
                <a:sym typeface="Faustina"/>
              </a:rPr>
              <a:t>Sau khi khách hàng đăng nhập thành công màn hình hiển thị giao diện trang chủ.</a:t>
            </a:r>
          </a:p>
        </p:txBody>
      </p:sp>
      <p:sp>
        <p:nvSpPr>
          <p:cNvPr id="7" name="TextBox 7"/>
          <p:cNvSpPr txBox="1"/>
          <p:nvPr/>
        </p:nvSpPr>
        <p:spPr>
          <a:xfrm>
            <a:off x="873701" y="6117296"/>
            <a:ext cx="5535513" cy="4095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Chức năng 1: Xem thông tinh cá nhân</a:t>
            </a:r>
          </a:p>
        </p:txBody>
      </p:sp>
      <p:sp>
        <p:nvSpPr>
          <p:cNvPr id="8" name="TextBox 8"/>
          <p:cNvSpPr txBox="1"/>
          <p:nvPr/>
        </p:nvSpPr>
        <p:spPr>
          <a:xfrm>
            <a:off x="902584" y="6698321"/>
            <a:ext cx="6567229" cy="16668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Màn hình hiển thị Thông Tin Cá Nhân khi khách hang chọn vào “Thông Tin Cá Nhân”.</a:t>
            </a:r>
          </a:p>
          <a:p>
            <a:pPr algn="ctr">
              <a:lnSpc>
                <a:spcPts val="3359"/>
              </a:lnSpc>
              <a:spcBef>
                <a:spcPct val="0"/>
              </a:spcBef>
            </a:pPr>
            <a:r>
              <a:rPr lang="en-US" sz="2799">
                <a:solidFill>
                  <a:srgbClr val="000000"/>
                </a:solidFill>
                <a:latin typeface="Faustina"/>
                <a:ea typeface="Faustina"/>
                <a:cs typeface="Faustina"/>
                <a:sym typeface="Faustina"/>
              </a:rPr>
              <a:t>Trên màn hình người dùng có thể chỉnh sửa thông tin người dùng.</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6E9"/>
        </a:solidFill>
        <a:effectLst/>
      </p:bgPr>
    </p:bg>
    <p:spTree>
      <p:nvGrpSpPr>
        <p:cNvPr id="1" name=""/>
        <p:cNvGrpSpPr/>
        <p:nvPr/>
      </p:nvGrpSpPr>
      <p:grpSpPr>
        <a:xfrm>
          <a:off x="0" y="0"/>
          <a:ext cx="0" cy="0"/>
          <a:chOff x="0" y="0"/>
          <a:chExt cx="0" cy="0"/>
        </a:xfrm>
      </p:grpSpPr>
      <p:sp>
        <p:nvSpPr>
          <p:cNvPr id="2" name="Freeform 2"/>
          <p:cNvSpPr/>
          <p:nvPr/>
        </p:nvSpPr>
        <p:spPr>
          <a:xfrm>
            <a:off x="8017258" y="364066"/>
            <a:ext cx="9287238" cy="5053617"/>
          </a:xfrm>
          <a:custGeom>
            <a:avLst/>
            <a:gdLst/>
            <a:ahLst/>
            <a:cxnLst/>
            <a:rect l="l" t="t" r="r" b="b"/>
            <a:pathLst>
              <a:path w="9287238" h="5053617">
                <a:moveTo>
                  <a:pt x="0" y="0"/>
                </a:moveTo>
                <a:lnTo>
                  <a:pt x="9287238" y="0"/>
                </a:lnTo>
                <a:lnTo>
                  <a:pt x="9287238" y="5053617"/>
                </a:lnTo>
                <a:lnTo>
                  <a:pt x="0" y="5053617"/>
                </a:lnTo>
                <a:lnTo>
                  <a:pt x="0" y="0"/>
                </a:lnTo>
                <a:close/>
              </a:path>
            </a:pathLst>
          </a:custGeom>
          <a:blipFill>
            <a:blip r:embed="rId2"/>
            <a:stretch>
              <a:fillRect t="-8368" b="-8368"/>
            </a:stretch>
          </a:blipFill>
        </p:spPr>
      </p:sp>
      <p:sp>
        <p:nvSpPr>
          <p:cNvPr id="3" name="Freeform 3"/>
          <p:cNvSpPr/>
          <p:nvPr/>
        </p:nvSpPr>
        <p:spPr>
          <a:xfrm>
            <a:off x="9431523" y="5937171"/>
            <a:ext cx="6744781" cy="4274309"/>
          </a:xfrm>
          <a:custGeom>
            <a:avLst/>
            <a:gdLst/>
            <a:ahLst/>
            <a:cxnLst/>
            <a:rect l="l" t="t" r="r" b="b"/>
            <a:pathLst>
              <a:path w="6744781" h="4274309">
                <a:moveTo>
                  <a:pt x="0" y="0"/>
                </a:moveTo>
                <a:lnTo>
                  <a:pt x="6744781" y="0"/>
                </a:lnTo>
                <a:lnTo>
                  <a:pt x="6744781" y="4274309"/>
                </a:lnTo>
                <a:lnTo>
                  <a:pt x="0" y="4274309"/>
                </a:lnTo>
                <a:lnTo>
                  <a:pt x="0" y="0"/>
                </a:lnTo>
                <a:close/>
              </a:path>
            </a:pathLst>
          </a:custGeom>
          <a:blipFill>
            <a:blip r:embed="rId3"/>
            <a:stretch>
              <a:fillRect/>
            </a:stretch>
          </a:blipFill>
        </p:spPr>
      </p:sp>
      <p:grpSp>
        <p:nvGrpSpPr>
          <p:cNvPr id="4" name="Group 4"/>
          <p:cNvGrpSpPr/>
          <p:nvPr/>
        </p:nvGrpSpPr>
        <p:grpSpPr>
          <a:xfrm>
            <a:off x="6841457" y="2212201"/>
            <a:ext cx="973527" cy="973527"/>
            <a:chOff x="0" y="0"/>
            <a:chExt cx="812800" cy="812800"/>
          </a:xfrm>
        </p:grpSpPr>
        <p:sp>
          <p:nvSpPr>
            <p:cNvPr id="5" name="Freeform 5"/>
            <p:cNvSpPr/>
            <p:nvPr/>
          </p:nvSpPr>
          <p:spPr>
            <a:xfrm>
              <a:off x="0" y="0"/>
              <a:ext cx="812800" cy="812800"/>
            </a:xfrm>
            <a:custGeom>
              <a:avLst/>
              <a:gdLst/>
              <a:ahLst/>
              <a:cxnLst/>
              <a:rect l="l" t="t" r="r" b="b"/>
              <a:pathLst>
                <a:path w="812800" h="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2E2E2E"/>
            </a:solidFill>
          </p:spPr>
        </p:sp>
        <p:sp>
          <p:nvSpPr>
            <p:cNvPr id="6" name="TextBox 6"/>
            <p:cNvSpPr txBox="1"/>
            <p:nvPr/>
          </p:nvSpPr>
          <p:spPr>
            <a:xfrm>
              <a:off x="0" y="165100"/>
              <a:ext cx="711200" cy="444500"/>
            </a:xfrm>
            <a:prstGeom prst="rect">
              <a:avLst/>
            </a:prstGeom>
          </p:spPr>
          <p:txBody>
            <a:bodyPr lIns="50800" tIns="50800" rIns="50800" bIns="50800" rtlCol="0" anchor="ctr"/>
            <a:lstStyle/>
            <a:p>
              <a:pPr algn="ctr">
                <a:lnSpc>
                  <a:spcPts val="2659"/>
                </a:lnSpc>
              </a:pPr>
              <a:endParaRPr/>
            </a:p>
          </p:txBody>
        </p:sp>
      </p:grpSp>
      <p:sp>
        <p:nvSpPr>
          <p:cNvPr id="7" name="TextBox 7"/>
          <p:cNvSpPr txBox="1"/>
          <p:nvPr/>
        </p:nvSpPr>
        <p:spPr>
          <a:xfrm>
            <a:off x="278213" y="1173976"/>
            <a:ext cx="6768328" cy="20859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Sau khi người dùng chỉnh sửa thông tin màn hình hệ thống sẽ hiển thị lên thông báo</a:t>
            </a:r>
          </a:p>
          <a:p>
            <a:pPr algn="ctr">
              <a:lnSpc>
                <a:spcPts val="3359"/>
              </a:lnSpc>
              <a:spcBef>
                <a:spcPct val="0"/>
              </a:spcBef>
            </a:pPr>
            <a:r>
              <a:rPr lang="en-US" sz="2799">
                <a:solidFill>
                  <a:srgbClr val="000000"/>
                </a:solidFill>
                <a:latin typeface="Faustina"/>
                <a:ea typeface="Faustina"/>
                <a:cs typeface="Faustina"/>
                <a:sym typeface="Faustina"/>
              </a:rPr>
              <a:t> “Chỉnh sửa thành công” người dùng cần thoát ra vào lại để cập nhật thông tin tài khoản.</a:t>
            </a:r>
          </a:p>
        </p:txBody>
      </p:sp>
      <p:sp>
        <p:nvSpPr>
          <p:cNvPr id="8" name="TextBox 8"/>
          <p:cNvSpPr txBox="1"/>
          <p:nvPr/>
        </p:nvSpPr>
        <p:spPr>
          <a:xfrm>
            <a:off x="509770" y="5527596"/>
            <a:ext cx="5146179" cy="4095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Chức năng 2: Xem địa chỉ cửa hàng</a:t>
            </a:r>
          </a:p>
        </p:txBody>
      </p:sp>
      <p:sp>
        <p:nvSpPr>
          <p:cNvPr id="9" name="TextBox 9"/>
          <p:cNvSpPr txBox="1"/>
          <p:nvPr/>
        </p:nvSpPr>
        <p:spPr>
          <a:xfrm>
            <a:off x="509770" y="7225755"/>
            <a:ext cx="7192667" cy="8286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Khi khách hàng chọn chức năng “Địa Chỉ” màn hình hệ thống hiển thị thông tin cửa hàng.</a:t>
            </a:r>
          </a:p>
        </p:txBody>
      </p:sp>
      <p:grpSp>
        <p:nvGrpSpPr>
          <p:cNvPr id="10" name="Group 10"/>
          <p:cNvGrpSpPr/>
          <p:nvPr/>
        </p:nvGrpSpPr>
        <p:grpSpPr>
          <a:xfrm>
            <a:off x="8170473" y="7216230"/>
            <a:ext cx="973527" cy="973527"/>
            <a:chOff x="0" y="0"/>
            <a:chExt cx="812800" cy="812800"/>
          </a:xfrm>
        </p:grpSpPr>
        <p:sp>
          <p:nvSpPr>
            <p:cNvPr id="11" name="Freeform 11"/>
            <p:cNvSpPr/>
            <p:nvPr/>
          </p:nvSpPr>
          <p:spPr>
            <a:xfrm>
              <a:off x="0" y="0"/>
              <a:ext cx="812800" cy="812800"/>
            </a:xfrm>
            <a:custGeom>
              <a:avLst/>
              <a:gdLst/>
              <a:ahLst/>
              <a:cxnLst/>
              <a:rect l="l" t="t" r="r" b="b"/>
              <a:pathLst>
                <a:path w="812800" h="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2E2E2E"/>
            </a:solidFill>
          </p:spPr>
        </p:sp>
        <p:sp>
          <p:nvSpPr>
            <p:cNvPr id="12" name="TextBox 12"/>
            <p:cNvSpPr txBox="1"/>
            <p:nvPr/>
          </p:nvSpPr>
          <p:spPr>
            <a:xfrm>
              <a:off x="0" y="165100"/>
              <a:ext cx="711200" cy="444500"/>
            </a:xfrm>
            <a:prstGeom prst="rect">
              <a:avLst/>
            </a:prstGeom>
          </p:spPr>
          <p:txBody>
            <a:bodyPr lIns="50800" tIns="50800" rIns="50800" bIns="50800" rtlCol="0" anchor="ctr"/>
            <a:lstStyle/>
            <a:p>
              <a:pPr algn="ctr">
                <a:lnSpc>
                  <a:spcPts val="2659"/>
                </a:lnSpc>
              </a:pPr>
              <a:endParaRP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6E9"/>
        </a:solidFill>
        <a:effectLst/>
      </p:bgPr>
    </p:bg>
    <p:spTree>
      <p:nvGrpSpPr>
        <p:cNvPr id="1" name=""/>
        <p:cNvGrpSpPr/>
        <p:nvPr/>
      </p:nvGrpSpPr>
      <p:grpSpPr>
        <a:xfrm>
          <a:off x="0" y="0"/>
          <a:ext cx="0" cy="0"/>
          <a:chOff x="0" y="0"/>
          <a:chExt cx="0" cy="0"/>
        </a:xfrm>
      </p:grpSpPr>
      <p:sp>
        <p:nvSpPr>
          <p:cNvPr id="2" name="Freeform 2"/>
          <p:cNvSpPr/>
          <p:nvPr/>
        </p:nvSpPr>
        <p:spPr>
          <a:xfrm>
            <a:off x="10493677" y="696309"/>
            <a:ext cx="6106607" cy="2291274"/>
          </a:xfrm>
          <a:custGeom>
            <a:avLst/>
            <a:gdLst/>
            <a:ahLst/>
            <a:cxnLst/>
            <a:rect l="l" t="t" r="r" b="b"/>
            <a:pathLst>
              <a:path w="6106607" h="2291274">
                <a:moveTo>
                  <a:pt x="0" y="0"/>
                </a:moveTo>
                <a:lnTo>
                  <a:pt x="6106607" y="0"/>
                </a:lnTo>
                <a:lnTo>
                  <a:pt x="6106607" y="2291274"/>
                </a:lnTo>
                <a:lnTo>
                  <a:pt x="0" y="2291274"/>
                </a:lnTo>
                <a:lnTo>
                  <a:pt x="0" y="0"/>
                </a:lnTo>
                <a:close/>
              </a:path>
            </a:pathLst>
          </a:custGeom>
          <a:blipFill>
            <a:blip r:embed="rId2"/>
            <a:stretch>
              <a:fillRect/>
            </a:stretch>
          </a:blipFill>
        </p:spPr>
      </p:sp>
      <p:grpSp>
        <p:nvGrpSpPr>
          <p:cNvPr id="3" name="Group 3"/>
          <p:cNvGrpSpPr/>
          <p:nvPr/>
        </p:nvGrpSpPr>
        <p:grpSpPr>
          <a:xfrm>
            <a:off x="8734166" y="1040540"/>
            <a:ext cx="1333738" cy="1333738"/>
            <a:chOff x="0" y="0"/>
            <a:chExt cx="812800" cy="812800"/>
          </a:xfrm>
        </p:grpSpPr>
        <p:sp>
          <p:nvSpPr>
            <p:cNvPr id="4" name="Freeform 4"/>
            <p:cNvSpPr/>
            <p:nvPr/>
          </p:nvSpPr>
          <p:spPr>
            <a:xfrm>
              <a:off x="0" y="0"/>
              <a:ext cx="812800" cy="812800"/>
            </a:xfrm>
            <a:custGeom>
              <a:avLst/>
              <a:gdLst/>
              <a:ahLst/>
              <a:cxnLst/>
              <a:rect l="l" t="t" r="r" b="b"/>
              <a:pathLst>
                <a:path w="812800" h="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C65CA8"/>
            </a:solidFill>
          </p:spPr>
        </p:sp>
        <p:sp>
          <p:nvSpPr>
            <p:cNvPr id="5" name="TextBox 5"/>
            <p:cNvSpPr txBox="1"/>
            <p:nvPr/>
          </p:nvSpPr>
          <p:spPr>
            <a:xfrm>
              <a:off x="0" y="165100"/>
              <a:ext cx="711200" cy="444500"/>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7895366" y="4065681"/>
            <a:ext cx="8915850" cy="5881660"/>
          </a:xfrm>
          <a:custGeom>
            <a:avLst/>
            <a:gdLst/>
            <a:ahLst/>
            <a:cxnLst/>
            <a:rect l="l" t="t" r="r" b="b"/>
            <a:pathLst>
              <a:path w="8915850" h="5881660">
                <a:moveTo>
                  <a:pt x="0" y="0"/>
                </a:moveTo>
                <a:lnTo>
                  <a:pt x="8915851" y="0"/>
                </a:lnTo>
                <a:lnTo>
                  <a:pt x="8915851" y="5881660"/>
                </a:lnTo>
                <a:lnTo>
                  <a:pt x="0" y="5881660"/>
                </a:lnTo>
                <a:lnTo>
                  <a:pt x="0" y="0"/>
                </a:lnTo>
                <a:close/>
              </a:path>
            </a:pathLst>
          </a:custGeom>
          <a:blipFill>
            <a:blip r:embed="rId3"/>
            <a:stretch>
              <a:fillRect/>
            </a:stretch>
          </a:blipFill>
        </p:spPr>
      </p:sp>
      <p:sp>
        <p:nvSpPr>
          <p:cNvPr id="7" name="TextBox 7"/>
          <p:cNvSpPr txBox="1"/>
          <p:nvPr/>
        </p:nvSpPr>
        <p:spPr>
          <a:xfrm>
            <a:off x="335539" y="277209"/>
            <a:ext cx="5948958" cy="457200"/>
          </a:xfrm>
          <a:prstGeom prst="rect">
            <a:avLst/>
          </a:prstGeom>
        </p:spPr>
        <p:txBody>
          <a:bodyPr lIns="0" tIns="0" rIns="0" bIns="0" rtlCol="0" anchor="t">
            <a:spAutoFit/>
          </a:bodyPr>
          <a:lstStyle/>
          <a:p>
            <a:pPr algn="ctr">
              <a:lnSpc>
                <a:spcPts val="3600"/>
              </a:lnSpc>
              <a:spcBef>
                <a:spcPct val="0"/>
              </a:spcBef>
            </a:pPr>
            <a:r>
              <a:rPr lang="en-US" sz="3000">
                <a:solidFill>
                  <a:srgbClr val="000000"/>
                </a:solidFill>
                <a:latin typeface="Faustina"/>
                <a:ea typeface="Faustina"/>
                <a:cs typeface="Faustina"/>
                <a:sym typeface="Faustina"/>
              </a:rPr>
              <a:t>3.3.2: Các chức năng của chủ cửa hàng</a:t>
            </a:r>
          </a:p>
        </p:txBody>
      </p:sp>
      <p:sp>
        <p:nvSpPr>
          <p:cNvPr id="8" name="TextBox 8"/>
          <p:cNvSpPr txBox="1"/>
          <p:nvPr/>
        </p:nvSpPr>
        <p:spPr>
          <a:xfrm>
            <a:off x="485870" y="1307359"/>
            <a:ext cx="7822524" cy="8286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Sau khi đăng nhập thành công vào tài khoản admin của người quản trị hệ thống màn hình hiển thị.</a:t>
            </a:r>
          </a:p>
        </p:txBody>
      </p:sp>
      <p:sp>
        <p:nvSpPr>
          <p:cNvPr id="9" name="TextBox 9"/>
          <p:cNvSpPr txBox="1"/>
          <p:nvPr/>
        </p:nvSpPr>
        <p:spPr>
          <a:xfrm>
            <a:off x="161358" y="4075206"/>
            <a:ext cx="7367924" cy="8286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Sau đó màn hình sẽ chuyển tới trang quản trị của hệ thống dành cho Quản Trị Viên của hệ thống.</a:t>
            </a:r>
          </a:p>
        </p:txBody>
      </p:sp>
      <p:sp>
        <p:nvSpPr>
          <p:cNvPr id="10" name="TextBox 10"/>
          <p:cNvSpPr txBox="1"/>
          <p:nvPr/>
        </p:nvSpPr>
        <p:spPr>
          <a:xfrm>
            <a:off x="729835" y="6712063"/>
            <a:ext cx="5160366" cy="8286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Màn hình hiển thị tất cả các chức năng dành cho Quản Trị Viên</a:t>
            </a:r>
          </a:p>
        </p:txBody>
      </p:sp>
      <p:grpSp>
        <p:nvGrpSpPr>
          <p:cNvPr id="11" name="Group 11"/>
          <p:cNvGrpSpPr/>
          <p:nvPr/>
        </p:nvGrpSpPr>
        <p:grpSpPr>
          <a:xfrm>
            <a:off x="6195545" y="6454769"/>
            <a:ext cx="1333738" cy="1333738"/>
            <a:chOff x="0" y="0"/>
            <a:chExt cx="812800" cy="812800"/>
          </a:xfrm>
        </p:grpSpPr>
        <p:sp>
          <p:nvSpPr>
            <p:cNvPr id="12" name="Freeform 12"/>
            <p:cNvSpPr/>
            <p:nvPr/>
          </p:nvSpPr>
          <p:spPr>
            <a:xfrm>
              <a:off x="0" y="0"/>
              <a:ext cx="812800" cy="812800"/>
            </a:xfrm>
            <a:custGeom>
              <a:avLst/>
              <a:gdLst/>
              <a:ahLst/>
              <a:cxnLst/>
              <a:rect l="l" t="t" r="r" b="b"/>
              <a:pathLst>
                <a:path w="812800" h="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C65CA8"/>
            </a:solidFill>
          </p:spPr>
        </p:sp>
        <p:sp>
          <p:nvSpPr>
            <p:cNvPr id="13" name="TextBox 13"/>
            <p:cNvSpPr txBox="1"/>
            <p:nvPr/>
          </p:nvSpPr>
          <p:spPr>
            <a:xfrm>
              <a:off x="0" y="165100"/>
              <a:ext cx="711200" cy="444500"/>
            </a:xfrm>
            <a:prstGeom prst="rect">
              <a:avLst/>
            </a:prstGeom>
          </p:spPr>
          <p:txBody>
            <a:bodyPr lIns="50800" tIns="50800" rIns="50800" bIns="50800" rtlCol="0" anchor="ctr"/>
            <a:lstStyle/>
            <a:p>
              <a:pPr algn="ctr">
                <a:lnSpc>
                  <a:spcPts val="2659"/>
                </a:lnSpc>
              </a:pPr>
              <a:endParaRP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6E9"/>
        </a:solidFill>
        <a:effectLst/>
      </p:bgPr>
    </p:bg>
    <p:spTree>
      <p:nvGrpSpPr>
        <p:cNvPr id="1" name=""/>
        <p:cNvGrpSpPr/>
        <p:nvPr/>
      </p:nvGrpSpPr>
      <p:grpSpPr>
        <a:xfrm>
          <a:off x="0" y="0"/>
          <a:ext cx="0" cy="0"/>
          <a:chOff x="0" y="0"/>
          <a:chExt cx="0" cy="0"/>
        </a:xfrm>
      </p:grpSpPr>
      <p:sp>
        <p:nvSpPr>
          <p:cNvPr id="2" name="Freeform 2"/>
          <p:cNvSpPr/>
          <p:nvPr/>
        </p:nvSpPr>
        <p:spPr>
          <a:xfrm>
            <a:off x="9711895" y="672309"/>
            <a:ext cx="7202817" cy="3709451"/>
          </a:xfrm>
          <a:custGeom>
            <a:avLst/>
            <a:gdLst/>
            <a:ahLst/>
            <a:cxnLst/>
            <a:rect l="l" t="t" r="r" b="b"/>
            <a:pathLst>
              <a:path w="7202817" h="3709451">
                <a:moveTo>
                  <a:pt x="0" y="0"/>
                </a:moveTo>
                <a:lnTo>
                  <a:pt x="7202817" y="0"/>
                </a:lnTo>
                <a:lnTo>
                  <a:pt x="7202817" y="3709451"/>
                </a:lnTo>
                <a:lnTo>
                  <a:pt x="0" y="3709451"/>
                </a:lnTo>
                <a:lnTo>
                  <a:pt x="0" y="0"/>
                </a:lnTo>
                <a:close/>
              </a:path>
            </a:pathLst>
          </a:custGeom>
          <a:blipFill>
            <a:blip r:embed="rId2"/>
            <a:stretch>
              <a:fillRect/>
            </a:stretch>
          </a:blipFill>
        </p:spPr>
      </p:sp>
      <p:sp>
        <p:nvSpPr>
          <p:cNvPr id="3" name="Freeform 3"/>
          <p:cNvSpPr/>
          <p:nvPr/>
        </p:nvSpPr>
        <p:spPr>
          <a:xfrm>
            <a:off x="310678" y="5143500"/>
            <a:ext cx="7894414" cy="4065623"/>
          </a:xfrm>
          <a:custGeom>
            <a:avLst/>
            <a:gdLst/>
            <a:ahLst/>
            <a:cxnLst/>
            <a:rect l="l" t="t" r="r" b="b"/>
            <a:pathLst>
              <a:path w="7894414" h="4065623">
                <a:moveTo>
                  <a:pt x="0" y="0"/>
                </a:moveTo>
                <a:lnTo>
                  <a:pt x="7894414" y="0"/>
                </a:lnTo>
                <a:lnTo>
                  <a:pt x="7894414" y="4065623"/>
                </a:lnTo>
                <a:lnTo>
                  <a:pt x="0" y="4065623"/>
                </a:lnTo>
                <a:lnTo>
                  <a:pt x="0" y="0"/>
                </a:lnTo>
                <a:close/>
              </a:path>
            </a:pathLst>
          </a:custGeom>
          <a:blipFill>
            <a:blip r:embed="rId3"/>
            <a:stretch>
              <a:fillRect/>
            </a:stretch>
          </a:blipFill>
        </p:spPr>
      </p:sp>
      <p:grpSp>
        <p:nvGrpSpPr>
          <p:cNvPr id="4" name="Group 4"/>
          <p:cNvGrpSpPr/>
          <p:nvPr/>
        </p:nvGrpSpPr>
        <p:grpSpPr>
          <a:xfrm>
            <a:off x="8205092" y="1558701"/>
            <a:ext cx="1098467" cy="1098467"/>
            <a:chOff x="0" y="0"/>
            <a:chExt cx="812800" cy="812800"/>
          </a:xfrm>
        </p:grpSpPr>
        <p:sp>
          <p:nvSpPr>
            <p:cNvPr id="5" name="Freeform 5"/>
            <p:cNvSpPr/>
            <p:nvPr/>
          </p:nvSpPr>
          <p:spPr>
            <a:xfrm>
              <a:off x="0" y="0"/>
              <a:ext cx="812800" cy="812800"/>
            </a:xfrm>
            <a:custGeom>
              <a:avLst/>
              <a:gdLst/>
              <a:ahLst/>
              <a:cxnLst/>
              <a:rect l="l" t="t" r="r" b="b"/>
              <a:pathLst>
                <a:path w="812800" h="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EFA593"/>
            </a:solidFill>
          </p:spPr>
        </p:sp>
        <p:sp>
          <p:nvSpPr>
            <p:cNvPr id="6" name="TextBox 6"/>
            <p:cNvSpPr txBox="1"/>
            <p:nvPr/>
          </p:nvSpPr>
          <p:spPr>
            <a:xfrm>
              <a:off x="0" y="165100"/>
              <a:ext cx="711200" cy="444500"/>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9346842" y="5143500"/>
            <a:ext cx="7932923" cy="4065623"/>
          </a:xfrm>
          <a:custGeom>
            <a:avLst/>
            <a:gdLst/>
            <a:ahLst/>
            <a:cxnLst/>
            <a:rect l="l" t="t" r="r" b="b"/>
            <a:pathLst>
              <a:path w="7932923" h="4065623">
                <a:moveTo>
                  <a:pt x="0" y="0"/>
                </a:moveTo>
                <a:lnTo>
                  <a:pt x="7932923" y="0"/>
                </a:lnTo>
                <a:lnTo>
                  <a:pt x="7932923" y="4065623"/>
                </a:lnTo>
                <a:lnTo>
                  <a:pt x="0" y="4065623"/>
                </a:lnTo>
                <a:lnTo>
                  <a:pt x="0" y="0"/>
                </a:lnTo>
                <a:close/>
              </a:path>
            </a:pathLst>
          </a:custGeom>
          <a:blipFill>
            <a:blip r:embed="rId4"/>
            <a:stretch>
              <a:fillRect/>
            </a:stretch>
          </a:blipFill>
        </p:spPr>
      </p:sp>
      <p:sp>
        <p:nvSpPr>
          <p:cNvPr id="8" name="TextBox 8"/>
          <p:cNvSpPr txBox="1"/>
          <p:nvPr/>
        </p:nvSpPr>
        <p:spPr>
          <a:xfrm>
            <a:off x="229163" y="238058"/>
            <a:ext cx="5058370" cy="4095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Chức năng 1: Quản Lý Người Dùng</a:t>
            </a:r>
          </a:p>
        </p:txBody>
      </p:sp>
      <p:sp>
        <p:nvSpPr>
          <p:cNvPr id="9" name="TextBox 9"/>
          <p:cNvSpPr txBox="1"/>
          <p:nvPr/>
        </p:nvSpPr>
        <p:spPr>
          <a:xfrm>
            <a:off x="229163" y="1698360"/>
            <a:ext cx="7827756" cy="8286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Màn hình hiển thị thông tin tất cả người dùng sau khi chọn vào chức năng “Quản Lý Người Dùng”.</a:t>
            </a:r>
          </a:p>
        </p:txBody>
      </p:sp>
      <p:sp>
        <p:nvSpPr>
          <p:cNvPr id="10" name="TextBox 10"/>
          <p:cNvSpPr txBox="1"/>
          <p:nvPr/>
        </p:nvSpPr>
        <p:spPr>
          <a:xfrm>
            <a:off x="229163" y="9478257"/>
            <a:ext cx="7652296" cy="4095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Chức năng 1.1: tìm kiếm bằng Username người dùng</a:t>
            </a:r>
          </a:p>
        </p:txBody>
      </p:sp>
      <p:sp>
        <p:nvSpPr>
          <p:cNvPr id="11" name="TextBox 11"/>
          <p:cNvSpPr txBox="1"/>
          <p:nvPr/>
        </p:nvSpPr>
        <p:spPr>
          <a:xfrm>
            <a:off x="9346842" y="9478257"/>
            <a:ext cx="7631609" cy="4095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Chức năng 1.2: tìm kiếm bằng Họ và Tên người dùng</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6E9"/>
        </a:solidFill>
        <a:effectLst/>
      </p:bgPr>
    </p:bg>
    <p:spTree>
      <p:nvGrpSpPr>
        <p:cNvPr id="1" name=""/>
        <p:cNvGrpSpPr/>
        <p:nvPr/>
      </p:nvGrpSpPr>
      <p:grpSpPr>
        <a:xfrm>
          <a:off x="0" y="0"/>
          <a:ext cx="0" cy="0"/>
          <a:chOff x="0" y="0"/>
          <a:chExt cx="0" cy="0"/>
        </a:xfrm>
      </p:grpSpPr>
      <p:sp>
        <p:nvSpPr>
          <p:cNvPr id="2" name="Freeform 2"/>
          <p:cNvSpPr/>
          <p:nvPr/>
        </p:nvSpPr>
        <p:spPr>
          <a:xfrm>
            <a:off x="330130" y="805508"/>
            <a:ext cx="8427203" cy="4318942"/>
          </a:xfrm>
          <a:custGeom>
            <a:avLst/>
            <a:gdLst/>
            <a:ahLst/>
            <a:cxnLst/>
            <a:rect l="l" t="t" r="r" b="b"/>
            <a:pathLst>
              <a:path w="8427203" h="4318942">
                <a:moveTo>
                  <a:pt x="0" y="0"/>
                </a:moveTo>
                <a:lnTo>
                  <a:pt x="8427203" y="0"/>
                </a:lnTo>
                <a:lnTo>
                  <a:pt x="8427203" y="4318942"/>
                </a:lnTo>
                <a:lnTo>
                  <a:pt x="0" y="4318942"/>
                </a:lnTo>
                <a:lnTo>
                  <a:pt x="0" y="0"/>
                </a:lnTo>
                <a:close/>
              </a:path>
            </a:pathLst>
          </a:custGeom>
          <a:blipFill>
            <a:blip r:embed="rId2"/>
            <a:stretch>
              <a:fillRect/>
            </a:stretch>
          </a:blipFill>
        </p:spPr>
      </p:sp>
      <p:sp>
        <p:nvSpPr>
          <p:cNvPr id="3" name="Freeform 3"/>
          <p:cNvSpPr/>
          <p:nvPr/>
        </p:nvSpPr>
        <p:spPr>
          <a:xfrm>
            <a:off x="9726932" y="905686"/>
            <a:ext cx="7906575" cy="3172513"/>
          </a:xfrm>
          <a:custGeom>
            <a:avLst/>
            <a:gdLst/>
            <a:ahLst/>
            <a:cxnLst/>
            <a:rect l="l" t="t" r="r" b="b"/>
            <a:pathLst>
              <a:path w="7906575" h="3172513">
                <a:moveTo>
                  <a:pt x="0" y="0"/>
                </a:moveTo>
                <a:lnTo>
                  <a:pt x="7906575" y="0"/>
                </a:lnTo>
                <a:lnTo>
                  <a:pt x="7906575" y="3172514"/>
                </a:lnTo>
                <a:lnTo>
                  <a:pt x="0" y="3172514"/>
                </a:lnTo>
                <a:lnTo>
                  <a:pt x="0" y="0"/>
                </a:lnTo>
                <a:close/>
              </a:path>
            </a:pathLst>
          </a:custGeom>
          <a:blipFill>
            <a:blip r:embed="rId3"/>
            <a:stretch>
              <a:fillRect/>
            </a:stretch>
          </a:blipFill>
        </p:spPr>
      </p:sp>
      <p:sp>
        <p:nvSpPr>
          <p:cNvPr id="4" name="Freeform 4"/>
          <p:cNvSpPr/>
          <p:nvPr/>
        </p:nvSpPr>
        <p:spPr>
          <a:xfrm>
            <a:off x="330130" y="5956146"/>
            <a:ext cx="7612731" cy="3911040"/>
          </a:xfrm>
          <a:custGeom>
            <a:avLst/>
            <a:gdLst/>
            <a:ahLst/>
            <a:cxnLst/>
            <a:rect l="l" t="t" r="r" b="b"/>
            <a:pathLst>
              <a:path w="7612731" h="3911040">
                <a:moveTo>
                  <a:pt x="0" y="0"/>
                </a:moveTo>
                <a:lnTo>
                  <a:pt x="7612731" y="0"/>
                </a:lnTo>
                <a:lnTo>
                  <a:pt x="7612731" y="3911041"/>
                </a:lnTo>
                <a:lnTo>
                  <a:pt x="0" y="3911041"/>
                </a:lnTo>
                <a:lnTo>
                  <a:pt x="0" y="0"/>
                </a:lnTo>
                <a:close/>
              </a:path>
            </a:pathLst>
          </a:custGeom>
          <a:blipFill>
            <a:blip r:embed="rId4"/>
            <a:stretch>
              <a:fillRect/>
            </a:stretch>
          </a:blipFill>
        </p:spPr>
      </p:sp>
      <p:sp>
        <p:nvSpPr>
          <p:cNvPr id="5" name="Freeform 5"/>
          <p:cNvSpPr/>
          <p:nvPr/>
        </p:nvSpPr>
        <p:spPr>
          <a:xfrm>
            <a:off x="9499774" y="5956146"/>
            <a:ext cx="7906575" cy="3221929"/>
          </a:xfrm>
          <a:custGeom>
            <a:avLst/>
            <a:gdLst/>
            <a:ahLst/>
            <a:cxnLst/>
            <a:rect l="l" t="t" r="r" b="b"/>
            <a:pathLst>
              <a:path w="7906575" h="3221929">
                <a:moveTo>
                  <a:pt x="0" y="0"/>
                </a:moveTo>
                <a:lnTo>
                  <a:pt x="7906575" y="0"/>
                </a:lnTo>
                <a:lnTo>
                  <a:pt x="7906575" y="3221930"/>
                </a:lnTo>
                <a:lnTo>
                  <a:pt x="0" y="3221930"/>
                </a:lnTo>
                <a:lnTo>
                  <a:pt x="0" y="0"/>
                </a:lnTo>
                <a:close/>
              </a:path>
            </a:pathLst>
          </a:custGeom>
          <a:blipFill>
            <a:blip r:embed="rId5"/>
            <a:stretch>
              <a:fillRect/>
            </a:stretch>
          </a:blipFill>
        </p:spPr>
      </p:sp>
      <p:grpSp>
        <p:nvGrpSpPr>
          <p:cNvPr id="6" name="Group 6"/>
          <p:cNvGrpSpPr/>
          <p:nvPr/>
        </p:nvGrpSpPr>
        <p:grpSpPr>
          <a:xfrm>
            <a:off x="8830817" y="2371848"/>
            <a:ext cx="822632" cy="822632"/>
            <a:chOff x="0" y="0"/>
            <a:chExt cx="812800" cy="812800"/>
          </a:xfrm>
        </p:grpSpPr>
        <p:sp>
          <p:nvSpPr>
            <p:cNvPr id="7" name="Freeform 7"/>
            <p:cNvSpPr/>
            <p:nvPr/>
          </p:nvSpPr>
          <p:spPr>
            <a:xfrm>
              <a:off x="0" y="0"/>
              <a:ext cx="812800" cy="812800"/>
            </a:xfrm>
            <a:custGeom>
              <a:avLst/>
              <a:gdLst/>
              <a:ahLst/>
              <a:cxnLst/>
              <a:rect l="l" t="t" r="r" b="b"/>
              <a:pathLst>
                <a:path w="812800" h="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EFA593"/>
            </a:solidFill>
          </p:spPr>
        </p:sp>
        <p:sp>
          <p:nvSpPr>
            <p:cNvPr id="8" name="TextBox 8"/>
            <p:cNvSpPr txBox="1"/>
            <p:nvPr/>
          </p:nvSpPr>
          <p:spPr>
            <a:xfrm>
              <a:off x="0" y="165100"/>
              <a:ext cx="711200" cy="444500"/>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330130" y="386408"/>
            <a:ext cx="6186934" cy="4095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Chức năng 1.3:Thêm tài khoản người dùng</a:t>
            </a:r>
          </a:p>
        </p:txBody>
      </p:sp>
      <p:sp>
        <p:nvSpPr>
          <p:cNvPr id="10" name="TextBox 10"/>
          <p:cNvSpPr txBox="1"/>
          <p:nvPr/>
        </p:nvSpPr>
        <p:spPr>
          <a:xfrm>
            <a:off x="9380346" y="4375580"/>
            <a:ext cx="8026003" cy="4095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Thêm thành công hệ thống tự động cập nhật thông tin</a:t>
            </a:r>
          </a:p>
        </p:txBody>
      </p:sp>
      <p:sp>
        <p:nvSpPr>
          <p:cNvPr id="11" name="TextBox 11"/>
          <p:cNvSpPr txBox="1"/>
          <p:nvPr/>
        </p:nvSpPr>
        <p:spPr>
          <a:xfrm>
            <a:off x="330130" y="5546571"/>
            <a:ext cx="6915150" cy="4095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Chức năng 1.4: Chỉnh sửa thông tin người dùng</a:t>
            </a:r>
          </a:p>
        </p:txBody>
      </p:sp>
      <p:sp>
        <p:nvSpPr>
          <p:cNvPr id="12" name="TextBox 12"/>
          <p:cNvSpPr txBox="1"/>
          <p:nvPr/>
        </p:nvSpPr>
        <p:spPr>
          <a:xfrm>
            <a:off x="9499774" y="9267825"/>
            <a:ext cx="7906575" cy="8286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Sau khi chỉnh sửa thành công hệ thống hiển thị thông tin đã chỉnh sửa</a:t>
            </a:r>
          </a:p>
        </p:txBody>
      </p:sp>
      <p:grpSp>
        <p:nvGrpSpPr>
          <p:cNvPr id="13" name="Group 13"/>
          <p:cNvGrpSpPr/>
          <p:nvPr/>
        </p:nvGrpSpPr>
        <p:grpSpPr>
          <a:xfrm>
            <a:off x="8310001" y="7155795"/>
            <a:ext cx="822632" cy="822632"/>
            <a:chOff x="0" y="0"/>
            <a:chExt cx="812800" cy="812800"/>
          </a:xfrm>
        </p:grpSpPr>
        <p:sp>
          <p:nvSpPr>
            <p:cNvPr id="14" name="Freeform 14"/>
            <p:cNvSpPr/>
            <p:nvPr/>
          </p:nvSpPr>
          <p:spPr>
            <a:xfrm>
              <a:off x="0" y="0"/>
              <a:ext cx="812800" cy="812800"/>
            </a:xfrm>
            <a:custGeom>
              <a:avLst/>
              <a:gdLst/>
              <a:ahLst/>
              <a:cxnLst/>
              <a:rect l="l" t="t" r="r" b="b"/>
              <a:pathLst>
                <a:path w="812800" h="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EFA593"/>
            </a:solidFill>
          </p:spPr>
        </p:sp>
        <p:sp>
          <p:nvSpPr>
            <p:cNvPr id="15" name="TextBox 15"/>
            <p:cNvSpPr txBox="1"/>
            <p:nvPr/>
          </p:nvSpPr>
          <p:spPr>
            <a:xfrm>
              <a:off x="0" y="165100"/>
              <a:ext cx="711200" cy="444500"/>
            </a:xfrm>
            <a:prstGeom prst="rect">
              <a:avLst/>
            </a:prstGeom>
          </p:spPr>
          <p:txBody>
            <a:bodyPr lIns="50800" tIns="50800" rIns="50800" bIns="50800" rtlCol="0" anchor="ctr"/>
            <a:lstStyle/>
            <a:p>
              <a:pPr algn="ctr">
                <a:lnSpc>
                  <a:spcPts val="2659"/>
                </a:lnSpc>
              </a:pPr>
              <a:endParaRP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6E9"/>
        </a:solidFill>
        <a:effectLst/>
      </p:bgPr>
    </p:bg>
    <p:spTree>
      <p:nvGrpSpPr>
        <p:cNvPr id="1" name=""/>
        <p:cNvGrpSpPr/>
        <p:nvPr/>
      </p:nvGrpSpPr>
      <p:grpSpPr>
        <a:xfrm>
          <a:off x="0" y="0"/>
          <a:ext cx="0" cy="0"/>
          <a:chOff x="0" y="0"/>
          <a:chExt cx="0" cy="0"/>
        </a:xfrm>
      </p:grpSpPr>
      <p:sp>
        <p:nvSpPr>
          <p:cNvPr id="2" name="Freeform 2"/>
          <p:cNvSpPr/>
          <p:nvPr/>
        </p:nvSpPr>
        <p:spPr>
          <a:xfrm>
            <a:off x="848601" y="819150"/>
            <a:ext cx="7924256" cy="4031465"/>
          </a:xfrm>
          <a:custGeom>
            <a:avLst/>
            <a:gdLst/>
            <a:ahLst/>
            <a:cxnLst/>
            <a:rect l="l" t="t" r="r" b="b"/>
            <a:pathLst>
              <a:path w="7924256" h="4031465">
                <a:moveTo>
                  <a:pt x="0" y="0"/>
                </a:moveTo>
                <a:lnTo>
                  <a:pt x="7924257" y="0"/>
                </a:lnTo>
                <a:lnTo>
                  <a:pt x="7924257" y="4031465"/>
                </a:lnTo>
                <a:lnTo>
                  <a:pt x="0" y="4031465"/>
                </a:lnTo>
                <a:lnTo>
                  <a:pt x="0" y="0"/>
                </a:lnTo>
                <a:close/>
              </a:path>
            </a:pathLst>
          </a:custGeom>
          <a:blipFill>
            <a:blip r:embed="rId2"/>
            <a:stretch>
              <a:fillRect/>
            </a:stretch>
          </a:blipFill>
        </p:spPr>
      </p:sp>
      <p:sp>
        <p:nvSpPr>
          <p:cNvPr id="3" name="Freeform 3"/>
          <p:cNvSpPr/>
          <p:nvPr/>
        </p:nvSpPr>
        <p:spPr>
          <a:xfrm>
            <a:off x="10032854" y="1587268"/>
            <a:ext cx="7718761" cy="3079608"/>
          </a:xfrm>
          <a:custGeom>
            <a:avLst/>
            <a:gdLst/>
            <a:ahLst/>
            <a:cxnLst/>
            <a:rect l="l" t="t" r="r" b="b"/>
            <a:pathLst>
              <a:path w="7718761" h="3079608">
                <a:moveTo>
                  <a:pt x="0" y="0"/>
                </a:moveTo>
                <a:lnTo>
                  <a:pt x="7718760" y="0"/>
                </a:lnTo>
                <a:lnTo>
                  <a:pt x="7718760" y="3079608"/>
                </a:lnTo>
                <a:lnTo>
                  <a:pt x="0" y="3079608"/>
                </a:lnTo>
                <a:lnTo>
                  <a:pt x="0" y="0"/>
                </a:lnTo>
                <a:close/>
              </a:path>
            </a:pathLst>
          </a:custGeom>
          <a:blipFill>
            <a:blip r:embed="rId3"/>
            <a:stretch>
              <a:fillRect/>
            </a:stretch>
          </a:blipFill>
        </p:spPr>
      </p:sp>
      <p:sp>
        <p:nvSpPr>
          <p:cNvPr id="4" name="Freeform 4"/>
          <p:cNvSpPr/>
          <p:nvPr/>
        </p:nvSpPr>
        <p:spPr>
          <a:xfrm>
            <a:off x="8448401" y="5562600"/>
            <a:ext cx="7470559" cy="4501012"/>
          </a:xfrm>
          <a:custGeom>
            <a:avLst/>
            <a:gdLst/>
            <a:ahLst/>
            <a:cxnLst/>
            <a:rect l="l" t="t" r="r" b="b"/>
            <a:pathLst>
              <a:path w="7470559" h="4501012">
                <a:moveTo>
                  <a:pt x="0" y="0"/>
                </a:moveTo>
                <a:lnTo>
                  <a:pt x="7470559" y="0"/>
                </a:lnTo>
                <a:lnTo>
                  <a:pt x="7470559" y="4501012"/>
                </a:lnTo>
                <a:lnTo>
                  <a:pt x="0" y="4501012"/>
                </a:lnTo>
                <a:lnTo>
                  <a:pt x="0" y="0"/>
                </a:lnTo>
                <a:close/>
              </a:path>
            </a:pathLst>
          </a:custGeom>
          <a:blipFill>
            <a:blip r:embed="rId4"/>
            <a:stretch>
              <a:fillRect/>
            </a:stretch>
          </a:blipFill>
        </p:spPr>
      </p:sp>
      <p:grpSp>
        <p:nvGrpSpPr>
          <p:cNvPr id="5" name="Group 5"/>
          <p:cNvGrpSpPr/>
          <p:nvPr/>
        </p:nvGrpSpPr>
        <p:grpSpPr>
          <a:xfrm>
            <a:off x="6657316" y="6815981"/>
            <a:ext cx="1155256" cy="1155256"/>
            <a:chOff x="0" y="0"/>
            <a:chExt cx="812800" cy="812800"/>
          </a:xfrm>
        </p:grpSpPr>
        <p:sp>
          <p:nvSpPr>
            <p:cNvPr id="6" name="Freeform 6"/>
            <p:cNvSpPr/>
            <p:nvPr/>
          </p:nvSpPr>
          <p:spPr>
            <a:xfrm>
              <a:off x="0" y="0"/>
              <a:ext cx="812800" cy="812800"/>
            </a:xfrm>
            <a:custGeom>
              <a:avLst/>
              <a:gdLst/>
              <a:ahLst/>
              <a:cxnLst/>
              <a:rect l="l" t="t" r="r" b="b"/>
              <a:pathLst>
                <a:path w="812800" h="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EFA593"/>
            </a:solidFill>
          </p:spPr>
        </p:sp>
        <p:sp>
          <p:nvSpPr>
            <p:cNvPr id="7" name="TextBox 7"/>
            <p:cNvSpPr txBox="1"/>
            <p:nvPr/>
          </p:nvSpPr>
          <p:spPr>
            <a:xfrm>
              <a:off x="0" y="165100"/>
              <a:ext cx="711200" cy="444500"/>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588992" y="409575"/>
            <a:ext cx="5944791" cy="4095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Chức năng 1.5: Xóa thông tin người dùng</a:t>
            </a:r>
          </a:p>
        </p:txBody>
      </p:sp>
      <p:sp>
        <p:nvSpPr>
          <p:cNvPr id="9" name="TextBox 9"/>
          <p:cNvSpPr txBox="1"/>
          <p:nvPr/>
        </p:nvSpPr>
        <p:spPr>
          <a:xfrm>
            <a:off x="9831459" y="828675"/>
            <a:ext cx="8121551" cy="4095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Màn hình hiển thị lại thông tin người dùng sau khi xóa</a:t>
            </a:r>
          </a:p>
        </p:txBody>
      </p:sp>
      <p:sp>
        <p:nvSpPr>
          <p:cNvPr id="10" name="TextBox 10"/>
          <p:cNvSpPr txBox="1"/>
          <p:nvPr/>
        </p:nvSpPr>
        <p:spPr>
          <a:xfrm>
            <a:off x="138817" y="5153025"/>
            <a:ext cx="5610225" cy="4095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Chức năng 2: Quản Lý Thông Tin Sách</a:t>
            </a:r>
          </a:p>
        </p:txBody>
      </p:sp>
      <p:sp>
        <p:nvSpPr>
          <p:cNvPr id="11" name="TextBox 11"/>
          <p:cNvSpPr txBox="1"/>
          <p:nvPr/>
        </p:nvSpPr>
        <p:spPr>
          <a:xfrm>
            <a:off x="848601" y="6723462"/>
            <a:ext cx="5172886" cy="12477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 Màn hình hiển thị tất cả thông tin sách sau khi người dùng chọn chưc năng “Quản Lý Sách”.</a:t>
            </a:r>
          </a:p>
        </p:txBody>
      </p:sp>
      <p:grpSp>
        <p:nvGrpSpPr>
          <p:cNvPr id="12" name="Group 12"/>
          <p:cNvGrpSpPr/>
          <p:nvPr/>
        </p:nvGrpSpPr>
        <p:grpSpPr>
          <a:xfrm>
            <a:off x="9040216" y="2603701"/>
            <a:ext cx="725279" cy="725279"/>
            <a:chOff x="0" y="0"/>
            <a:chExt cx="812800" cy="812800"/>
          </a:xfrm>
        </p:grpSpPr>
        <p:sp>
          <p:nvSpPr>
            <p:cNvPr id="13" name="Freeform 13"/>
            <p:cNvSpPr/>
            <p:nvPr/>
          </p:nvSpPr>
          <p:spPr>
            <a:xfrm>
              <a:off x="0" y="0"/>
              <a:ext cx="812800" cy="812800"/>
            </a:xfrm>
            <a:custGeom>
              <a:avLst/>
              <a:gdLst/>
              <a:ahLst/>
              <a:cxnLst/>
              <a:rect l="l" t="t" r="r" b="b"/>
              <a:pathLst>
                <a:path w="812800" h="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EFA593"/>
            </a:solidFill>
          </p:spPr>
        </p:sp>
        <p:sp>
          <p:nvSpPr>
            <p:cNvPr id="14" name="TextBox 14"/>
            <p:cNvSpPr txBox="1"/>
            <p:nvPr/>
          </p:nvSpPr>
          <p:spPr>
            <a:xfrm>
              <a:off x="0" y="165100"/>
              <a:ext cx="711200" cy="444500"/>
            </a:xfrm>
            <a:prstGeom prst="rect">
              <a:avLst/>
            </a:prstGeom>
          </p:spPr>
          <p:txBody>
            <a:bodyPr lIns="50800" tIns="50800" rIns="50800" bIns="50800" rtlCol="0" anchor="ctr"/>
            <a:lstStyle/>
            <a:p>
              <a:pPr algn="ctr">
                <a:lnSpc>
                  <a:spcPts val="2659"/>
                </a:lnSpc>
              </a:pPr>
              <a:endParaRP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6F6E9"/>
        </a:solidFill>
        <a:effectLst/>
      </p:bgPr>
    </p:bg>
    <p:spTree>
      <p:nvGrpSpPr>
        <p:cNvPr id="1" name=""/>
        <p:cNvGrpSpPr/>
        <p:nvPr/>
      </p:nvGrpSpPr>
      <p:grpSpPr>
        <a:xfrm>
          <a:off x="0" y="0"/>
          <a:ext cx="0" cy="0"/>
          <a:chOff x="0" y="0"/>
          <a:chExt cx="0" cy="0"/>
        </a:xfrm>
      </p:grpSpPr>
      <p:sp>
        <p:nvSpPr>
          <p:cNvPr id="2" name="Freeform 2"/>
          <p:cNvSpPr/>
          <p:nvPr/>
        </p:nvSpPr>
        <p:spPr>
          <a:xfrm>
            <a:off x="477030" y="777437"/>
            <a:ext cx="8229918" cy="4597036"/>
          </a:xfrm>
          <a:custGeom>
            <a:avLst/>
            <a:gdLst/>
            <a:ahLst/>
            <a:cxnLst/>
            <a:rect l="l" t="t" r="r" b="b"/>
            <a:pathLst>
              <a:path w="8229918" h="4597036">
                <a:moveTo>
                  <a:pt x="0" y="0"/>
                </a:moveTo>
                <a:lnTo>
                  <a:pt x="8229919" y="0"/>
                </a:lnTo>
                <a:lnTo>
                  <a:pt x="8229919" y="4597036"/>
                </a:lnTo>
                <a:lnTo>
                  <a:pt x="0" y="4597036"/>
                </a:lnTo>
                <a:lnTo>
                  <a:pt x="0" y="0"/>
                </a:lnTo>
                <a:close/>
              </a:path>
            </a:pathLst>
          </a:custGeom>
          <a:blipFill>
            <a:blip r:embed="rId2"/>
            <a:stretch>
              <a:fillRect t="-3819" b="-3819"/>
            </a:stretch>
          </a:blipFill>
        </p:spPr>
      </p:sp>
      <p:sp>
        <p:nvSpPr>
          <p:cNvPr id="3" name="Freeform 3"/>
          <p:cNvSpPr/>
          <p:nvPr/>
        </p:nvSpPr>
        <p:spPr>
          <a:xfrm>
            <a:off x="10196966" y="1028700"/>
            <a:ext cx="7153582" cy="5076406"/>
          </a:xfrm>
          <a:custGeom>
            <a:avLst/>
            <a:gdLst/>
            <a:ahLst/>
            <a:cxnLst/>
            <a:rect l="l" t="t" r="r" b="b"/>
            <a:pathLst>
              <a:path w="7153582" h="5076406">
                <a:moveTo>
                  <a:pt x="0" y="0"/>
                </a:moveTo>
                <a:lnTo>
                  <a:pt x="7153583" y="0"/>
                </a:lnTo>
                <a:lnTo>
                  <a:pt x="7153583" y="5076406"/>
                </a:lnTo>
                <a:lnTo>
                  <a:pt x="0" y="5076406"/>
                </a:lnTo>
                <a:lnTo>
                  <a:pt x="0" y="0"/>
                </a:lnTo>
                <a:close/>
              </a:path>
            </a:pathLst>
          </a:custGeom>
          <a:blipFill>
            <a:blip r:embed="rId3"/>
            <a:stretch>
              <a:fillRect t="-5966" b="-5966"/>
            </a:stretch>
          </a:blipFill>
        </p:spPr>
      </p:sp>
      <p:sp>
        <p:nvSpPr>
          <p:cNvPr id="4" name="TextBox 4"/>
          <p:cNvSpPr txBox="1"/>
          <p:nvPr/>
        </p:nvSpPr>
        <p:spPr>
          <a:xfrm>
            <a:off x="477030" y="263087"/>
            <a:ext cx="5258991" cy="4095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Chức năng 2.1: Thêm thông tin sách</a:t>
            </a:r>
          </a:p>
        </p:txBody>
      </p:sp>
      <p:sp>
        <p:nvSpPr>
          <p:cNvPr id="5" name="TextBox 5"/>
          <p:cNvSpPr txBox="1"/>
          <p:nvPr/>
        </p:nvSpPr>
        <p:spPr>
          <a:xfrm>
            <a:off x="347226" y="5698293"/>
            <a:ext cx="8229918" cy="8286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(Lưu ý: Link ảnh được lấy đến đường dẫn ảnh trong folder của solution.)</a:t>
            </a:r>
          </a:p>
        </p:txBody>
      </p:sp>
      <p:sp>
        <p:nvSpPr>
          <p:cNvPr id="6" name="TextBox 6"/>
          <p:cNvSpPr txBox="1"/>
          <p:nvPr/>
        </p:nvSpPr>
        <p:spPr>
          <a:xfrm>
            <a:off x="9629192" y="367862"/>
            <a:ext cx="8289131" cy="4095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Chức năng 2.2: Tìm kiếm thông tin sách bằng “Tên Sách”</a:t>
            </a:r>
          </a:p>
        </p:txBody>
      </p:sp>
      <p:sp>
        <p:nvSpPr>
          <p:cNvPr id="7" name="TextBox 7"/>
          <p:cNvSpPr txBox="1"/>
          <p:nvPr/>
        </p:nvSpPr>
        <p:spPr>
          <a:xfrm>
            <a:off x="855218" y="6850789"/>
            <a:ext cx="6874669" cy="4095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Màn hình hiển thị thông tin thêm thành công.</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6F6E9"/>
        </a:solidFill>
        <a:effectLst/>
      </p:bgPr>
    </p:bg>
    <p:spTree>
      <p:nvGrpSpPr>
        <p:cNvPr id="1" name=""/>
        <p:cNvGrpSpPr/>
        <p:nvPr/>
      </p:nvGrpSpPr>
      <p:grpSpPr>
        <a:xfrm>
          <a:off x="0" y="0"/>
          <a:ext cx="0" cy="0"/>
          <a:chOff x="0" y="0"/>
          <a:chExt cx="0" cy="0"/>
        </a:xfrm>
      </p:grpSpPr>
      <p:sp>
        <p:nvSpPr>
          <p:cNvPr id="2" name="Freeform 2"/>
          <p:cNvSpPr/>
          <p:nvPr/>
        </p:nvSpPr>
        <p:spPr>
          <a:xfrm>
            <a:off x="298549" y="1284606"/>
            <a:ext cx="7076013" cy="4921714"/>
          </a:xfrm>
          <a:custGeom>
            <a:avLst/>
            <a:gdLst/>
            <a:ahLst/>
            <a:cxnLst/>
            <a:rect l="l" t="t" r="r" b="b"/>
            <a:pathLst>
              <a:path w="7076013" h="4921714">
                <a:moveTo>
                  <a:pt x="0" y="0"/>
                </a:moveTo>
                <a:lnTo>
                  <a:pt x="7076013" y="0"/>
                </a:lnTo>
                <a:lnTo>
                  <a:pt x="7076013" y="4921714"/>
                </a:lnTo>
                <a:lnTo>
                  <a:pt x="0" y="4921714"/>
                </a:lnTo>
                <a:lnTo>
                  <a:pt x="0" y="0"/>
                </a:lnTo>
                <a:close/>
              </a:path>
            </a:pathLst>
          </a:custGeom>
          <a:blipFill>
            <a:blip r:embed="rId2"/>
            <a:stretch>
              <a:fillRect t="-12682" b="-12682"/>
            </a:stretch>
          </a:blipFill>
        </p:spPr>
      </p:sp>
      <p:sp>
        <p:nvSpPr>
          <p:cNvPr id="3" name="Freeform 3"/>
          <p:cNvSpPr/>
          <p:nvPr/>
        </p:nvSpPr>
        <p:spPr>
          <a:xfrm>
            <a:off x="9033244" y="1437802"/>
            <a:ext cx="7555472" cy="5506234"/>
          </a:xfrm>
          <a:custGeom>
            <a:avLst/>
            <a:gdLst/>
            <a:ahLst/>
            <a:cxnLst/>
            <a:rect l="l" t="t" r="r" b="b"/>
            <a:pathLst>
              <a:path w="7555472" h="5506234">
                <a:moveTo>
                  <a:pt x="0" y="0"/>
                </a:moveTo>
                <a:lnTo>
                  <a:pt x="7555473" y="0"/>
                </a:lnTo>
                <a:lnTo>
                  <a:pt x="7555473" y="5506233"/>
                </a:lnTo>
                <a:lnTo>
                  <a:pt x="0" y="5506233"/>
                </a:lnTo>
                <a:lnTo>
                  <a:pt x="0" y="0"/>
                </a:lnTo>
                <a:close/>
              </a:path>
            </a:pathLst>
          </a:custGeom>
          <a:blipFill>
            <a:blip r:embed="rId3"/>
            <a:stretch>
              <a:fillRect t="-9098" b="-9098"/>
            </a:stretch>
          </a:blipFill>
        </p:spPr>
      </p:sp>
      <p:sp>
        <p:nvSpPr>
          <p:cNvPr id="4" name="TextBox 4"/>
          <p:cNvSpPr txBox="1"/>
          <p:nvPr/>
        </p:nvSpPr>
        <p:spPr>
          <a:xfrm>
            <a:off x="298549" y="317066"/>
            <a:ext cx="6548411" cy="8286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Chức năng 2.3: Tìm kiếm thông tin sách bằng “Loại Sách”</a:t>
            </a:r>
          </a:p>
        </p:txBody>
      </p:sp>
      <p:sp>
        <p:nvSpPr>
          <p:cNvPr id="5" name="TextBox 5"/>
          <p:cNvSpPr txBox="1"/>
          <p:nvPr/>
        </p:nvSpPr>
        <p:spPr>
          <a:xfrm>
            <a:off x="8873360" y="317066"/>
            <a:ext cx="7875240" cy="4095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Chức năng 2.4: Tìm kiếm thông tin sách bằng giá tiền.</a:t>
            </a:r>
          </a:p>
        </p:txBody>
      </p:sp>
      <p:sp>
        <p:nvSpPr>
          <p:cNvPr id="6" name="TextBox 6"/>
          <p:cNvSpPr txBox="1"/>
          <p:nvPr/>
        </p:nvSpPr>
        <p:spPr>
          <a:xfrm>
            <a:off x="9604228" y="7080600"/>
            <a:ext cx="6413505" cy="8286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(Lưu ý: Tìm kiếm chỉ áp dụng cho những sản phẩm có giá thấp hơn giá tiền nhập).</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6F6E9"/>
        </a:solidFill>
        <a:effectLst/>
      </p:bgPr>
    </p:bg>
    <p:spTree>
      <p:nvGrpSpPr>
        <p:cNvPr id="1" name=""/>
        <p:cNvGrpSpPr/>
        <p:nvPr/>
      </p:nvGrpSpPr>
      <p:grpSpPr>
        <a:xfrm>
          <a:off x="0" y="0"/>
          <a:ext cx="0" cy="0"/>
          <a:chOff x="0" y="0"/>
          <a:chExt cx="0" cy="0"/>
        </a:xfrm>
      </p:grpSpPr>
      <p:sp>
        <p:nvSpPr>
          <p:cNvPr id="2" name="Freeform 2"/>
          <p:cNvSpPr/>
          <p:nvPr/>
        </p:nvSpPr>
        <p:spPr>
          <a:xfrm>
            <a:off x="580111" y="691175"/>
            <a:ext cx="8397722" cy="4250931"/>
          </a:xfrm>
          <a:custGeom>
            <a:avLst/>
            <a:gdLst/>
            <a:ahLst/>
            <a:cxnLst/>
            <a:rect l="l" t="t" r="r" b="b"/>
            <a:pathLst>
              <a:path w="8397722" h="4250931">
                <a:moveTo>
                  <a:pt x="0" y="0"/>
                </a:moveTo>
                <a:lnTo>
                  <a:pt x="8397723" y="0"/>
                </a:lnTo>
                <a:lnTo>
                  <a:pt x="8397723" y="4250931"/>
                </a:lnTo>
                <a:lnTo>
                  <a:pt x="0" y="4250931"/>
                </a:lnTo>
                <a:lnTo>
                  <a:pt x="0" y="0"/>
                </a:lnTo>
                <a:close/>
              </a:path>
            </a:pathLst>
          </a:custGeom>
          <a:blipFill>
            <a:blip r:embed="rId2"/>
            <a:stretch>
              <a:fillRect t="-9141" b="-9141"/>
            </a:stretch>
          </a:blipFill>
        </p:spPr>
      </p:sp>
      <p:sp>
        <p:nvSpPr>
          <p:cNvPr id="3" name="Freeform 3"/>
          <p:cNvSpPr/>
          <p:nvPr/>
        </p:nvSpPr>
        <p:spPr>
          <a:xfrm>
            <a:off x="9397438" y="931347"/>
            <a:ext cx="8304196" cy="2742696"/>
          </a:xfrm>
          <a:custGeom>
            <a:avLst/>
            <a:gdLst/>
            <a:ahLst/>
            <a:cxnLst/>
            <a:rect l="l" t="t" r="r" b="b"/>
            <a:pathLst>
              <a:path w="8304196" h="2742696">
                <a:moveTo>
                  <a:pt x="0" y="0"/>
                </a:moveTo>
                <a:lnTo>
                  <a:pt x="8304196" y="0"/>
                </a:lnTo>
                <a:lnTo>
                  <a:pt x="8304196" y="2742696"/>
                </a:lnTo>
                <a:lnTo>
                  <a:pt x="0" y="2742696"/>
                </a:lnTo>
                <a:lnTo>
                  <a:pt x="0" y="0"/>
                </a:lnTo>
                <a:close/>
              </a:path>
            </a:pathLst>
          </a:custGeom>
          <a:blipFill>
            <a:blip r:embed="rId3"/>
            <a:stretch>
              <a:fillRect b="-26030"/>
            </a:stretch>
          </a:blipFill>
        </p:spPr>
      </p:sp>
      <p:sp>
        <p:nvSpPr>
          <p:cNvPr id="4" name="Freeform 4"/>
          <p:cNvSpPr/>
          <p:nvPr/>
        </p:nvSpPr>
        <p:spPr>
          <a:xfrm>
            <a:off x="490145" y="5955015"/>
            <a:ext cx="8525789" cy="4331985"/>
          </a:xfrm>
          <a:custGeom>
            <a:avLst/>
            <a:gdLst/>
            <a:ahLst/>
            <a:cxnLst/>
            <a:rect l="l" t="t" r="r" b="b"/>
            <a:pathLst>
              <a:path w="8525789" h="4331985">
                <a:moveTo>
                  <a:pt x="0" y="0"/>
                </a:moveTo>
                <a:lnTo>
                  <a:pt x="8525789" y="0"/>
                </a:lnTo>
                <a:lnTo>
                  <a:pt x="8525789" y="4331985"/>
                </a:lnTo>
                <a:lnTo>
                  <a:pt x="0" y="4331985"/>
                </a:lnTo>
                <a:lnTo>
                  <a:pt x="0" y="0"/>
                </a:lnTo>
                <a:close/>
              </a:path>
            </a:pathLst>
          </a:custGeom>
          <a:blipFill>
            <a:blip r:embed="rId4"/>
            <a:stretch>
              <a:fillRect t="-9904" b="-9904"/>
            </a:stretch>
          </a:blipFill>
        </p:spPr>
      </p:sp>
      <p:sp>
        <p:nvSpPr>
          <p:cNvPr id="5" name="Freeform 5"/>
          <p:cNvSpPr/>
          <p:nvPr/>
        </p:nvSpPr>
        <p:spPr>
          <a:xfrm>
            <a:off x="9570661" y="5955015"/>
            <a:ext cx="8228326" cy="2687422"/>
          </a:xfrm>
          <a:custGeom>
            <a:avLst/>
            <a:gdLst/>
            <a:ahLst/>
            <a:cxnLst/>
            <a:rect l="l" t="t" r="r" b="b"/>
            <a:pathLst>
              <a:path w="8228326" h="2687422">
                <a:moveTo>
                  <a:pt x="0" y="0"/>
                </a:moveTo>
                <a:lnTo>
                  <a:pt x="8228326" y="0"/>
                </a:lnTo>
                <a:lnTo>
                  <a:pt x="8228326" y="2687421"/>
                </a:lnTo>
                <a:lnTo>
                  <a:pt x="0" y="2687421"/>
                </a:lnTo>
                <a:lnTo>
                  <a:pt x="0" y="0"/>
                </a:lnTo>
                <a:close/>
              </a:path>
            </a:pathLst>
          </a:custGeom>
          <a:blipFill>
            <a:blip r:embed="rId5"/>
            <a:stretch>
              <a:fillRect t="-7301" b="-47149"/>
            </a:stretch>
          </a:blipFill>
        </p:spPr>
      </p:sp>
      <p:sp>
        <p:nvSpPr>
          <p:cNvPr id="6" name="TextBox 6"/>
          <p:cNvSpPr txBox="1"/>
          <p:nvPr/>
        </p:nvSpPr>
        <p:spPr>
          <a:xfrm>
            <a:off x="618211" y="260446"/>
            <a:ext cx="5933777" cy="4095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Chức năng 2.5: Chỉnh sửa thông tin sách</a:t>
            </a:r>
          </a:p>
        </p:txBody>
      </p:sp>
      <p:sp>
        <p:nvSpPr>
          <p:cNvPr id="7" name="TextBox 7"/>
          <p:cNvSpPr txBox="1"/>
          <p:nvPr/>
        </p:nvSpPr>
        <p:spPr>
          <a:xfrm>
            <a:off x="9144000" y="4133579"/>
            <a:ext cx="8811071" cy="4095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Sau khi chỉnh sửa hệ thống sẽ hiển thị lại thông tin vừa sửa.</a:t>
            </a:r>
          </a:p>
        </p:txBody>
      </p:sp>
      <p:sp>
        <p:nvSpPr>
          <p:cNvPr id="8" name="TextBox 8"/>
          <p:cNvSpPr txBox="1"/>
          <p:nvPr/>
        </p:nvSpPr>
        <p:spPr>
          <a:xfrm>
            <a:off x="490145" y="5430242"/>
            <a:ext cx="5003304" cy="4095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Chức năng 2.6: Xóa thông tin sách</a:t>
            </a:r>
          </a:p>
        </p:txBody>
      </p:sp>
      <p:sp>
        <p:nvSpPr>
          <p:cNvPr id="9" name="TextBox 9"/>
          <p:cNvSpPr txBox="1"/>
          <p:nvPr/>
        </p:nvSpPr>
        <p:spPr>
          <a:xfrm>
            <a:off x="9399318" y="9099636"/>
            <a:ext cx="8571012" cy="4095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Màn hình hệ thống hiển thị lại thông tin sách sau khi xóa.</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6F6E9"/>
        </a:solidFill>
        <a:effectLst/>
      </p:bgPr>
    </p:bg>
    <p:spTree>
      <p:nvGrpSpPr>
        <p:cNvPr id="1" name=""/>
        <p:cNvGrpSpPr/>
        <p:nvPr/>
      </p:nvGrpSpPr>
      <p:grpSpPr>
        <a:xfrm>
          <a:off x="0" y="0"/>
          <a:ext cx="0" cy="0"/>
          <a:chOff x="0" y="0"/>
          <a:chExt cx="0" cy="0"/>
        </a:xfrm>
      </p:grpSpPr>
      <p:sp>
        <p:nvSpPr>
          <p:cNvPr id="2" name="Freeform 2"/>
          <p:cNvSpPr/>
          <p:nvPr/>
        </p:nvSpPr>
        <p:spPr>
          <a:xfrm>
            <a:off x="7926778" y="709837"/>
            <a:ext cx="9746513" cy="4678032"/>
          </a:xfrm>
          <a:custGeom>
            <a:avLst/>
            <a:gdLst/>
            <a:ahLst/>
            <a:cxnLst/>
            <a:rect l="l" t="t" r="r" b="b"/>
            <a:pathLst>
              <a:path w="9746513" h="4678032">
                <a:moveTo>
                  <a:pt x="0" y="0"/>
                </a:moveTo>
                <a:lnTo>
                  <a:pt x="9746513" y="0"/>
                </a:lnTo>
                <a:lnTo>
                  <a:pt x="9746513" y="4678033"/>
                </a:lnTo>
                <a:lnTo>
                  <a:pt x="0" y="4678033"/>
                </a:lnTo>
                <a:lnTo>
                  <a:pt x="0" y="0"/>
                </a:lnTo>
                <a:close/>
              </a:path>
            </a:pathLst>
          </a:custGeom>
          <a:blipFill>
            <a:blip r:embed="rId2"/>
            <a:stretch>
              <a:fillRect t="-4821" b="-4821"/>
            </a:stretch>
          </a:blipFill>
        </p:spPr>
      </p:sp>
      <p:sp>
        <p:nvSpPr>
          <p:cNvPr id="3" name="Freeform 3"/>
          <p:cNvSpPr/>
          <p:nvPr/>
        </p:nvSpPr>
        <p:spPr>
          <a:xfrm>
            <a:off x="101008" y="5910488"/>
            <a:ext cx="7478560" cy="4173537"/>
          </a:xfrm>
          <a:custGeom>
            <a:avLst/>
            <a:gdLst/>
            <a:ahLst/>
            <a:cxnLst/>
            <a:rect l="l" t="t" r="r" b="b"/>
            <a:pathLst>
              <a:path w="7478560" h="4173537">
                <a:moveTo>
                  <a:pt x="0" y="0"/>
                </a:moveTo>
                <a:lnTo>
                  <a:pt x="7478560" y="0"/>
                </a:lnTo>
                <a:lnTo>
                  <a:pt x="7478560" y="4173537"/>
                </a:lnTo>
                <a:lnTo>
                  <a:pt x="0" y="4173537"/>
                </a:lnTo>
                <a:lnTo>
                  <a:pt x="0" y="0"/>
                </a:lnTo>
                <a:close/>
              </a:path>
            </a:pathLst>
          </a:custGeom>
          <a:blipFill>
            <a:blip r:embed="rId3"/>
            <a:stretch>
              <a:fillRect t="-6220" b="-6220"/>
            </a:stretch>
          </a:blipFill>
        </p:spPr>
      </p:sp>
      <p:grpSp>
        <p:nvGrpSpPr>
          <p:cNvPr id="4" name="Group 4"/>
          <p:cNvGrpSpPr/>
          <p:nvPr/>
        </p:nvGrpSpPr>
        <p:grpSpPr>
          <a:xfrm>
            <a:off x="6408065" y="2074618"/>
            <a:ext cx="1203933" cy="1203933"/>
            <a:chOff x="0" y="0"/>
            <a:chExt cx="812800" cy="812800"/>
          </a:xfrm>
        </p:grpSpPr>
        <p:sp>
          <p:nvSpPr>
            <p:cNvPr id="5" name="Freeform 5"/>
            <p:cNvSpPr/>
            <p:nvPr/>
          </p:nvSpPr>
          <p:spPr>
            <a:xfrm>
              <a:off x="0" y="0"/>
              <a:ext cx="812800" cy="812800"/>
            </a:xfrm>
            <a:custGeom>
              <a:avLst/>
              <a:gdLst/>
              <a:ahLst/>
              <a:cxnLst/>
              <a:rect l="l" t="t" r="r" b="b"/>
              <a:pathLst>
                <a:path w="812800" h="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EFA593"/>
            </a:solidFill>
          </p:spPr>
        </p:sp>
        <p:sp>
          <p:nvSpPr>
            <p:cNvPr id="6" name="TextBox 6"/>
            <p:cNvSpPr txBox="1"/>
            <p:nvPr/>
          </p:nvSpPr>
          <p:spPr>
            <a:xfrm>
              <a:off x="0" y="165100"/>
              <a:ext cx="711200" cy="444500"/>
            </a:xfrm>
            <a:prstGeom prst="rect">
              <a:avLst/>
            </a:prstGeom>
          </p:spPr>
          <p:txBody>
            <a:bodyPr lIns="50800" tIns="50800" rIns="50800" bIns="50800" rtlCol="0" anchor="ctr"/>
            <a:lstStyle/>
            <a:p>
              <a:pPr algn="ctr">
                <a:lnSpc>
                  <a:spcPts val="2659"/>
                </a:lnSpc>
                <a:spcBef>
                  <a:spcPct val="0"/>
                </a:spcBef>
              </a:pPr>
              <a:endParaRPr/>
            </a:p>
          </p:txBody>
        </p:sp>
      </p:grpSp>
      <p:sp>
        <p:nvSpPr>
          <p:cNvPr id="7" name="TextBox 7"/>
          <p:cNvSpPr txBox="1"/>
          <p:nvPr/>
        </p:nvSpPr>
        <p:spPr>
          <a:xfrm>
            <a:off x="101008" y="252637"/>
            <a:ext cx="5235327" cy="457200"/>
          </a:xfrm>
          <a:prstGeom prst="rect">
            <a:avLst/>
          </a:prstGeom>
        </p:spPr>
        <p:txBody>
          <a:bodyPr lIns="0" tIns="0" rIns="0" bIns="0" rtlCol="0" anchor="t">
            <a:spAutoFit/>
          </a:bodyPr>
          <a:lstStyle/>
          <a:p>
            <a:pPr algn="ctr">
              <a:lnSpc>
                <a:spcPts val="3600"/>
              </a:lnSpc>
              <a:spcBef>
                <a:spcPct val="0"/>
              </a:spcBef>
            </a:pPr>
            <a:r>
              <a:rPr lang="en-US" sz="3000">
                <a:solidFill>
                  <a:srgbClr val="000000"/>
                </a:solidFill>
                <a:latin typeface="Faustina"/>
                <a:ea typeface="Faustina"/>
                <a:cs typeface="Faustina"/>
                <a:sym typeface="Faustina"/>
              </a:rPr>
              <a:t>Chức năng 3: Quản Lý Nhân Viên</a:t>
            </a:r>
          </a:p>
        </p:txBody>
      </p:sp>
      <p:sp>
        <p:nvSpPr>
          <p:cNvPr id="8" name="TextBox 8"/>
          <p:cNvSpPr txBox="1"/>
          <p:nvPr/>
        </p:nvSpPr>
        <p:spPr>
          <a:xfrm>
            <a:off x="268916" y="2084143"/>
            <a:ext cx="5824370" cy="12477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Màn hình hệ thống hiển thị thông tin nhân viên sau khi Quản Trị Viên chọn chức năng “Quản Lý Nhân Viên”.</a:t>
            </a:r>
          </a:p>
        </p:txBody>
      </p:sp>
      <p:sp>
        <p:nvSpPr>
          <p:cNvPr id="9" name="TextBox 9"/>
          <p:cNvSpPr txBox="1"/>
          <p:nvPr/>
        </p:nvSpPr>
        <p:spPr>
          <a:xfrm>
            <a:off x="0" y="5500913"/>
            <a:ext cx="8039255" cy="4095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Chức năng 3.1:Tìm kiếm nhân viên bằng tên nhân viên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6F6E9"/>
        </a:solidFill>
        <a:effectLst/>
      </p:bgPr>
    </p:bg>
    <p:spTree>
      <p:nvGrpSpPr>
        <p:cNvPr id="1" name=""/>
        <p:cNvGrpSpPr/>
        <p:nvPr/>
      </p:nvGrpSpPr>
      <p:grpSpPr>
        <a:xfrm>
          <a:off x="0" y="0"/>
          <a:ext cx="0" cy="0"/>
          <a:chOff x="0" y="0"/>
          <a:chExt cx="0" cy="0"/>
        </a:xfrm>
      </p:grpSpPr>
      <p:sp>
        <p:nvSpPr>
          <p:cNvPr id="2" name="Freeform 2"/>
          <p:cNvSpPr/>
          <p:nvPr/>
        </p:nvSpPr>
        <p:spPr>
          <a:xfrm>
            <a:off x="537219" y="833296"/>
            <a:ext cx="7907522" cy="3891104"/>
          </a:xfrm>
          <a:custGeom>
            <a:avLst/>
            <a:gdLst/>
            <a:ahLst/>
            <a:cxnLst/>
            <a:rect l="l" t="t" r="r" b="b"/>
            <a:pathLst>
              <a:path w="7907522" h="3891104">
                <a:moveTo>
                  <a:pt x="0" y="0"/>
                </a:moveTo>
                <a:lnTo>
                  <a:pt x="7907522" y="0"/>
                </a:lnTo>
                <a:lnTo>
                  <a:pt x="7907522" y="3891104"/>
                </a:lnTo>
                <a:lnTo>
                  <a:pt x="0" y="3891104"/>
                </a:lnTo>
                <a:lnTo>
                  <a:pt x="0" y="0"/>
                </a:lnTo>
                <a:close/>
              </a:path>
            </a:pathLst>
          </a:custGeom>
          <a:blipFill>
            <a:blip r:embed="rId2"/>
            <a:stretch>
              <a:fillRect t="-7695" b="-7695"/>
            </a:stretch>
          </a:blipFill>
        </p:spPr>
      </p:sp>
      <p:sp>
        <p:nvSpPr>
          <p:cNvPr id="3" name="Freeform 3"/>
          <p:cNvSpPr/>
          <p:nvPr/>
        </p:nvSpPr>
        <p:spPr>
          <a:xfrm>
            <a:off x="284925" y="5520218"/>
            <a:ext cx="9048806" cy="4766782"/>
          </a:xfrm>
          <a:custGeom>
            <a:avLst/>
            <a:gdLst/>
            <a:ahLst/>
            <a:cxnLst/>
            <a:rect l="l" t="t" r="r" b="b"/>
            <a:pathLst>
              <a:path w="9048806" h="4766782">
                <a:moveTo>
                  <a:pt x="0" y="0"/>
                </a:moveTo>
                <a:lnTo>
                  <a:pt x="9048806" y="0"/>
                </a:lnTo>
                <a:lnTo>
                  <a:pt x="9048806" y="4766782"/>
                </a:lnTo>
                <a:lnTo>
                  <a:pt x="0" y="4766782"/>
                </a:lnTo>
                <a:lnTo>
                  <a:pt x="0" y="0"/>
                </a:lnTo>
                <a:close/>
              </a:path>
            </a:pathLst>
          </a:custGeom>
          <a:blipFill>
            <a:blip r:embed="rId3"/>
            <a:stretch>
              <a:fillRect/>
            </a:stretch>
          </a:blipFill>
        </p:spPr>
      </p:sp>
      <p:grpSp>
        <p:nvGrpSpPr>
          <p:cNvPr id="4" name="Group 4"/>
          <p:cNvGrpSpPr/>
          <p:nvPr/>
        </p:nvGrpSpPr>
        <p:grpSpPr>
          <a:xfrm rot="-10800000">
            <a:off x="8636263" y="1583972"/>
            <a:ext cx="1015475" cy="1015475"/>
            <a:chOff x="0" y="0"/>
            <a:chExt cx="812800" cy="812800"/>
          </a:xfrm>
        </p:grpSpPr>
        <p:sp>
          <p:nvSpPr>
            <p:cNvPr id="5" name="Freeform 5"/>
            <p:cNvSpPr/>
            <p:nvPr/>
          </p:nvSpPr>
          <p:spPr>
            <a:xfrm>
              <a:off x="0" y="0"/>
              <a:ext cx="812800" cy="812800"/>
            </a:xfrm>
            <a:custGeom>
              <a:avLst/>
              <a:gdLst/>
              <a:ahLst/>
              <a:cxnLst/>
              <a:rect l="l" t="t" r="r" b="b"/>
              <a:pathLst>
                <a:path w="812800" h="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295C4E"/>
            </a:solidFill>
          </p:spPr>
        </p:sp>
        <p:sp>
          <p:nvSpPr>
            <p:cNvPr id="6" name="TextBox 6"/>
            <p:cNvSpPr txBox="1"/>
            <p:nvPr/>
          </p:nvSpPr>
          <p:spPr>
            <a:xfrm>
              <a:off x="0" y="165100"/>
              <a:ext cx="711200" cy="444500"/>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9651737" y="7082318"/>
            <a:ext cx="8599100" cy="2402690"/>
          </a:xfrm>
          <a:custGeom>
            <a:avLst/>
            <a:gdLst/>
            <a:ahLst/>
            <a:cxnLst/>
            <a:rect l="l" t="t" r="r" b="b"/>
            <a:pathLst>
              <a:path w="8599100" h="2402690">
                <a:moveTo>
                  <a:pt x="0" y="0"/>
                </a:moveTo>
                <a:lnTo>
                  <a:pt x="8599100" y="0"/>
                </a:lnTo>
                <a:lnTo>
                  <a:pt x="8599100" y="2402690"/>
                </a:lnTo>
                <a:lnTo>
                  <a:pt x="0" y="2402690"/>
                </a:lnTo>
                <a:lnTo>
                  <a:pt x="0" y="0"/>
                </a:lnTo>
                <a:close/>
              </a:path>
            </a:pathLst>
          </a:custGeom>
          <a:blipFill>
            <a:blip r:embed="rId4"/>
            <a:stretch>
              <a:fillRect/>
            </a:stretch>
          </a:blipFill>
        </p:spPr>
      </p:sp>
      <p:sp>
        <p:nvSpPr>
          <p:cNvPr id="8" name="TextBox 8"/>
          <p:cNvSpPr txBox="1"/>
          <p:nvPr/>
        </p:nvSpPr>
        <p:spPr>
          <a:xfrm>
            <a:off x="180256" y="326368"/>
            <a:ext cx="9700191" cy="4095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Chức năng 3.2:Tìm kiếm nhân viên bằng trạng thái của nhân viên</a:t>
            </a:r>
          </a:p>
        </p:txBody>
      </p:sp>
      <p:sp>
        <p:nvSpPr>
          <p:cNvPr id="9" name="TextBox 9"/>
          <p:cNvSpPr txBox="1"/>
          <p:nvPr/>
        </p:nvSpPr>
        <p:spPr>
          <a:xfrm>
            <a:off x="849463" y="5110643"/>
            <a:ext cx="4624536" cy="4095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Chức năng 3.3: Thêm nhân viên</a:t>
            </a:r>
          </a:p>
        </p:txBody>
      </p:sp>
      <p:sp>
        <p:nvSpPr>
          <p:cNvPr id="10" name="TextBox 10"/>
          <p:cNvSpPr txBox="1"/>
          <p:nvPr/>
        </p:nvSpPr>
        <p:spPr>
          <a:xfrm>
            <a:off x="10376132" y="5320193"/>
            <a:ext cx="7150310" cy="8286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Sau khi thêm thành công nhân viên màn hình hệ thống hiển thị thông tin sinh viên đã thêm</a:t>
            </a:r>
          </a:p>
        </p:txBody>
      </p:sp>
      <p:sp>
        <p:nvSpPr>
          <p:cNvPr id="11" name="TextBox 11"/>
          <p:cNvSpPr txBox="1"/>
          <p:nvPr/>
        </p:nvSpPr>
        <p:spPr>
          <a:xfrm>
            <a:off x="9707914" y="1682134"/>
            <a:ext cx="5274987" cy="8286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Chọn trạng thái của nhân viên cần tìm kiếm màn hình hiển thị</a:t>
            </a:r>
          </a:p>
        </p:txBody>
      </p:sp>
      <p:grpSp>
        <p:nvGrpSpPr>
          <p:cNvPr id="12" name="Group 12"/>
          <p:cNvGrpSpPr/>
          <p:nvPr/>
        </p:nvGrpSpPr>
        <p:grpSpPr>
          <a:xfrm rot="5400000">
            <a:off x="12991087" y="6229548"/>
            <a:ext cx="772091" cy="772091"/>
            <a:chOff x="0" y="0"/>
            <a:chExt cx="812800" cy="812800"/>
          </a:xfrm>
        </p:grpSpPr>
        <p:sp>
          <p:nvSpPr>
            <p:cNvPr id="13" name="Freeform 13"/>
            <p:cNvSpPr/>
            <p:nvPr/>
          </p:nvSpPr>
          <p:spPr>
            <a:xfrm>
              <a:off x="0" y="0"/>
              <a:ext cx="812800" cy="812800"/>
            </a:xfrm>
            <a:custGeom>
              <a:avLst/>
              <a:gdLst/>
              <a:ahLst/>
              <a:cxnLst/>
              <a:rect l="l" t="t" r="r" b="b"/>
              <a:pathLst>
                <a:path w="812800" h="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295C4E"/>
            </a:solidFill>
          </p:spPr>
        </p:sp>
        <p:sp>
          <p:nvSpPr>
            <p:cNvPr id="14" name="TextBox 14"/>
            <p:cNvSpPr txBox="1"/>
            <p:nvPr/>
          </p:nvSpPr>
          <p:spPr>
            <a:xfrm>
              <a:off x="0" y="165100"/>
              <a:ext cx="711200" cy="444500"/>
            </a:xfrm>
            <a:prstGeom prst="rect">
              <a:avLst/>
            </a:prstGeom>
          </p:spPr>
          <p:txBody>
            <a:bodyPr lIns="50800" tIns="50800" rIns="50800" bIns="50800" rtlCol="0" anchor="ctr"/>
            <a:lstStyle/>
            <a:p>
              <a:pPr algn="ctr">
                <a:lnSpc>
                  <a:spcPts val="2659"/>
                </a:lnSpc>
              </a:pPr>
              <a:endParaRP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6F6E9"/>
        </a:solidFill>
        <a:effectLst/>
      </p:bgPr>
    </p:bg>
    <p:spTree>
      <p:nvGrpSpPr>
        <p:cNvPr id="1" name=""/>
        <p:cNvGrpSpPr/>
        <p:nvPr/>
      </p:nvGrpSpPr>
      <p:grpSpPr>
        <a:xfrm>
          <a:off x="0" y="0"/>
          <a:ext cx="0" cy="0"/>
          <a:chOff x="0" y="0"/>
          <a:chExt cx="0" cy="0"/>
        </a:xfrm>
      </p:grpSpPr>
      <p:sp>
        <p:nvSpPr>
          <p:cNvPr id="2" name="Freeform 2"/>
          <p:cNvSpPr/>
          <p:nvPr/>
        </p:nvSpPr>
        <p:spPr>
          <a:xfrm>
            <a:off x="348077" y="711891"/>
            <a:ext cx="9194761" cy="4002398"/>
          </a:xfrm>
          <a:custGeom>
            <a:avLst/>
            <a:gdLst/>
            <a:ahLst/>
            <a:cxnLst/>
            <a:rect l="l" t="t" r="r" b="b"/>
            <a:pathLst>
              <a:path w="9194761" h="4002398">
                <a:moveTo>
                  <a:pt x="0" y="0"/>
                </a:moveTo>
                <a:lnTo>
                  <a:pt x="9194761" y="0"/>
                </a:lnTo>
                <a:lnTo>
                  <a:pt x="9194761" y="4002398"/>
                </a:lnTo>
                <a:lnTo>
                  <a:pt x="0" y="4002398"/>
                </a:lnTo>
                <a:lnTo>
                  <a:pt x="0" y="0"/>
                </a:lnTo>
                <a:close/>
              </a:path>
            </a:pathLst>
          </a:custGeom>
          <a:blipFill>
            <a:blip r:embed="rId2"/>
            <a:stretch>
              <a:fillRect t="-10385" b="-10385"/>
            </a:stretch>
          </a:blipFill>
        </p:spPr>
      </p:sp>
      <p:sp>
        <p:nvSpPr>
          <p:cNvPr id="3" name="Freeform 3"/>
          <p:cNvSpPr/>
          <p:nvPr/>
        </p:nvSpPr>
        <p:spPr>
          <a:xfrm>
            <a:off x="9909167" y="1028700"/>
            <a:ext cx="8020313" cy="2639468"/>
          </a:xfrm>
          <a:custGeom>
            <a:avLst/>
            <a:gdLst/>
            <a:ahLst/>
            <a:cxnLst/>
            <a:rect l="l" t="t" r="r" b="b"/>
            <a:pathLst>
              <a:path w="8020313" h="2639468">
                <a:moveTo>
                  <a:pt x="0" y="0"/>
                </a:moveTo>
                <a:lnTo>
                  <a:pt x="8020313" y="0"/>
                </a:lnTo>
                <a:lnTo>
                  <a:pt x="8020313" y="2639468"/>
                </a:lnTo>
                <a:lnTo>
                  <a:pt x="0" y="2639468"/>
                </a:lnTo>
                <a:lnTo>
                  <a:pt x="0" y="0"/>
                </a:lnTo>
                <a:close/>
              </a:path>
            </a:pathLst>
          </a:custGeom>
          <a:blipFill>
            <a:blip r:embed="rId3"/>
            <a:stretch>
              <a:fillRect/>
            </a:stretch>
          </a:blipFill>
        </p:spPr>
      </p:sp>
      <p:sp>
        <p:nvSpPr>
          <p:cNvPr id="4" name="Freeform 4"/>
          <p:cNvSpPr/>
          <p:nvPr/>
        </p:nvSpPr>
        <p:spPr>
          <a:xfrm>
            <a:off x="156108" y="5745993"/>
            <a:ext cx="9386730" cy="4306599"/>
          </a:xfrm>
          <a:custGeom>
            <a:avLst/>
            <a:gdLst/>
            <a:ahLst/>
            <a:cxnLst/>
            <a:rect l="l" t="t" r="r" b="b"/>
            <a:pathLst>
              <a:path w="9386730" h="4306599">
                <a:moveTo>
                  <a:pt x="0" y="0"/>
                </a:moveTo>
                <a:lnTo>
                  <a:pt x="9386730" y="0"/>
                </a:lnTo>
                <a:lnTo>
                  <a:pt x="9386730" y="4306599"/>
                </a:lnTo>
                <a:lnTo>
                  <a:pt x="0" y="4306599"/>
                </a:lnTo>
                <a:lnTo>
                  <a:pt x="0" y="0"/>
                </a:lnTo>
                <a:close/>
              </a:path>
            </a:pathLst>
          </a:custGeom>
          <a:blipFill>
            <a:blip r:embed="rId4"/>
            <a:stretch>
              <a:fillRect t="-4421" b="-4421"/>
            </a:stretch>
          </a:blipFill>
        </p:spPr>
      </p:sp>
      <p:sp>
        <p:nvSpPr>
          <p:cNvPr id="5" name="Freeform 5"/>
          <p:cNvSpPr/>
          <p:nvPr/>
        </p:nvSpPr>
        <p:spPr>
          <a:xfrm>
            <a:off x="9985933" y="5953074"/>
            <a:ext cx="7943547" cy="2273955"/>
          </a:xfrm>
          <a:custGeom>
            <a:avLst/>
            <a:gdLst/>
            <a:ahLst/>
            <a:cxnLst/>
            <a:rect l="l" t="t" r="r" b="b"/>
            <a:pathLst>
              <a:path w="7943547" h="2273955">
                <a:moveTo>
                  <a:pt x="0" y="0"/>
                </a:moveTo>
                <a:lnTo>
                  <a:pt x="7943547" y="0"/>
                </a:lnTo>
                <a:lnTo>
                  <a:pt x="7943547" y="2273956"/>
                </a:lnTo>
                <a:lnTo>
                  <a:pt x="0" y="2273956"/>
                </a:lnTo>
                <a:lnTo>
                  <a:pt x="0" y="0"/>
                </a:lnTo>
                <a:close/>
              </a:path>
            </a:pathLst>
          </a:custGeom>
          <a:blipFill>
            <a:blip r:embed="rId5"/>
            <a:stretch>
              <a:fillRect/>
            </a:stretch>
          </a:blipFill>
        </p:spPr>
      </p:sp>
      <p:sp>
        <p:nvSpPr>
          <p:cNvPr id="6" name="TextBox 6"/>
          <p:cNvSpPr txBox="1"/>
          <p:nvPr/>
        </p:nvSpPr>
        <p:spPr>
          <a:xfrm>
            <a:off x="348077" y="311841"/>
            <a:ext cx="5707261" cy="4095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Chức năng 3.4:Sửa thông tin nhân viên</a:t>
            </a:r>
          </a:p>
        </p:txBody>
      </p:sp>
      <p:sp>
        <p:nvSpPr>
          <p:cNvPr id="7" name="TextBox 7"/>
          <p:cNvSpPr txBox="1"/>
          <p:nvPr/>
        </p:nvSpPr>
        <p:spPr>
          <a:xfrm>
            <a:off x="9985933" y="3961814"/>
            <a:ext cx="7866782" cy="8286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Màn hình hệ thống hiển thị thông tin nhân viên đã chỉnh sau khi Quản trị viên chỉnh sửa thành công.</a:t>
            </a:r>
          </a:p>
        </p:txBody>
      </p:sp>
      <p:sp>
        <p:nvSpPr>
          <p:cNvPr id="8" name="TextBox 8"/>
          <p:cNvSpPr txBox="1"/>
          <p:nvPr/>
        </p:nvSpPr>
        <p:spPr>
          <a:xfrm>
            <a:off x="449162" y="5336418"/>
            <a:ext cx="4253805" cy="4095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Chức năng 3.5:Xóa nhân viên</a:t>
            </a:r>
          </a:p>
        </p:txBody>
      </p:sp>
      <p:sp>
        <p:nvSpPr>
          <p:cNvPr id="9" name="TextBox 9"/>
          <p:cNvSpPr txBox="1"/>
          <p:nvPr/>
        </p:nvSpPr>
        <p:spPr>
          <a:xfrm>
            <a:off x="9985933" y="8659132"/>
            <a:ext cx="7348043" cy="8286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Màn hình hệ thống hiển thị lại dữ liệu của nhân viên sau khi Quản trị viên xóa thành công.</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6F6E9"/>
        </a:solidFill>
        <a:effectLst/>
      </p:bgPr>
    </p:bg>
    <p:spTree>
      <p:nvGrpSpPr>
        <p:cNvPr id="1" name=""/>
        <p:cNvGrpSpPr/>
        <p:nvPr/>
      </p:nvGrpSpPr>
      <p:grpSpPr>
        <a:xfrm>
          <a:off x="0" y="0"/>
          <a:ext cx="0" cy="0"/>
          <a:chOff x="0" y="0"/>
          <a:chExt cx="0" cy="0"/>
        </a:xfrm>
      </p:grpSpPr>
      <p:sp>
        <p:nvSpPr>
          <p:cNvPr id="2" name="Freeform 2"/>
          <p:cNvSpPr/>
          <p:nvPr/>
        </p:nvSpPr>
        <p:spPr>
          <a:xfrm>
            <a:off x="233647" y="848838"/>
            <a:ext cx="9473033" cy="4218586"/>
          </a:xfrm>
          <a:custGeom>
            <a:avLst/>
            <a:gdLst/>
            <a:ahLst/>
            <a:cxnLst/>
            <a:rect l="l" t="t" r="r" b="b"/>
            <a:pathLst>
              <a:path w="9473033" h="4218586">
                <a:moveTo>
                  <a:pt x="0" y="0"/>
                </a:moveTo>
                <a:lnTo>
                  <a:pt x="9473032" y="0"/>
                </a:lnTo>
                <a:lnTo>
                  <a:pt x="9473032" y="4218586"/>
                </a:lnTo>
                <a:lnTo>
                  <a:pt x="0" y="4218586"/>
                </a:lnTo>
                <a:lnTo>
                  <a:pt x="0" y="0"/>
                </a:lnTo>
                <a:close/>
              </a:path>
            </a:pathLst>
          </a:custGeom>
          <a:blipFill>
            <a:blip r:embed="rId2"/>
            <a:stretch>
              <a:fillRect t="-9902" b="-9902"/>
            </a:stretch>
          </a:blipFill>
        </p:spPr>
      </p:sp>
      <p:sp>
        <p:nvSpPr>
          <p:cNvPr id="3" name="Freeform 3"/>
          <p:cNvSpPr/>
          <p:nvPr/>
        </p:nvSpPr>
        <p:spPr>
          <a:xfrm>
            <a:off x="10177415" y="848838"/>
            <a:ext cx="7850055" cy="2976225"/>
          </a:xfrm>
          <a:custGeom>
            <a:avLst/>
            <a:gdLst/>
            <a:ahLst/>
            <a:cxnLst/>
            <a:rect l="l" t="t" r="r" b="b"/>
            <a:pathLst>
              <a:path w="7850055" h="2976225">
                <a:moveTo>
                  <a:pt x="0" y="0"/>
                </a:moveTo>
                <a:lnTo>
                  <a:pt x="7850055" y="0"/>
                </a:lnTo>
                <a:lnTo>
                  <a:pt x="7850055" y="2976225"/>
                </a:lnTo>
                <a:lnTo>
                  <a:pt x="0" y="2976225"/>
                </a:lnTo>
                <a:lnTo>
                  <a:pt x="0" y="0"/>
                </a:lnTo>
                <a:close/>
              </a:path>
            </a:pathLst>
          </a:custGeom>
          <a:blipFill>
            <a:blip r:embed="rId3"/>
            <a:stretch>
              <a:fillRect t="-3779" b="-3779"/>
            </a:stretch>
          </a:blipFill>
        </p:spPr>
      </p:sp>
      <p:sp>
        <p:nvSpPr>
          <p:cNvPr id="4" name="Freeform 4"/>
          <p:cNvSpPr/>
          <p:nvPr/>
        </p:nvSpPr>
        <p:spPr>
          <a:xfrm>
            <a:off x="8993841" y="5639596"/>
            <a:ext cx="9134946" cy="4647404"/>
          </a:xfrm>
          <a:custGeom>
            <a:avLst/>
            <a:gdLst/>
            <a:ahLst/>
            <a:cxnLst/>
            <a:rect l="l" t="t" r="r" b="b"/>
            <a:pathLst>
              <a:path w="9134946" h="4647404">
                <a:moveTo>
                  <a:pt x="0" y="0"/>
                </a:moveTo>
                <a:lnTo>
                  <a:pt x="9134946" y="0"/>
                </a:lnTo>
                <a:lnTo>
                  <a:pt x="9134946" y="4647404"/>
                </a:lnTo>
                <a:lnTo>
                  <a:pt x="0" y="4647404"/>
                </a:lnTo>
                <a:lnTo>
                  <a:pt x="0" y="0"/>
                </a:lnTo>
                <a:close/>
              </a:path>
            </a:pathLst>
          </a:custGeom>
          <a:blipFill>
            <a:blip r:embed="rId4"/>
            <a:stretch>
              <a:fillRect/>
            </a:stretch>
          </a:blipFill>
        </p:spPr>
      </p:sp>
      <p:grpSp>
        <p:nvGrpSpPr>
          <p:cNvPr id="5" name="Group 5"/>
          <p:cNvGrpSpPr/>
          <p:nvPr/>
        </p:nvGrpSpPr>
        <p:grpSpPr>
          <a:xfrm>
            <a:off x="7656931" y="6963530"/>
            <a:ext cx="1122805" cy="1122805"/>
            <a:chOff x="0" y="0"/>
            <a:chExt cx="812800" cy="812800"/>
          </a:xfrm>
        </p:grpSpPr>
        <p:sp>
          <p:nvSpPr>
            <p:cNvPr id="6" name="Freeform 6"/>
            <p:cNvSpPr/>
            <p:nvPr/>
          </p:nvSpPr>
          <p:spPr>
            <a:xfrm>
              <a:off x="0" y="0"/>
              <a:ext cx="812800" cy="812800"/>
            </a:xfrm>
            <a:custGeom>
              <a:avLst/>
              <a:gdLst/>
              <a:ahLst/>
              <a:cxnLst/>
              <a:rect l="l" t="t" r="r" b="b"/>
              <a:pathLst>
                <a:path w="812800" h="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C65CA8"/>
            </a:solidFill>
          </p:spPr>
        </p:sp>
        <p:sp>
          <p:nvSpPr>
            <p:cNvPr id="7" name="TextBox 7"/>
            <p:cNvSpPr txBox="1"/>
            <p:nvPr/>
          </p:nvSpPr>
          <p:spPr>
            <a:xfrm>
              <a:off x="0" y="165100"/>
              <a:ext cx="711200" cy="444500"/>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426996" y="335411"/>
            <a:ext cx="5526732" cy="4095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Chức năng 3.6: Tạm ngưng nhân viên </a:t>
            </a:r>
          </a:p>
        </p:txBody>
      </p:sp>
      <p:sp>
        <p:nvSpPr>
          <p:cNvPr id="9" name="TextBox 9"/>
          <p:cNvSpPr txBox="1"/>
          <p:nvPr/>
        </p:nvSpPr>
        <p:spPr>
          <a:xfrm>
            <a:off x="10772247" y="4238749"/>
            <a:ext cx="6487053" cy="8286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Màn hình hệ thống hiển thị thông tin vừa chọn và trạng thái thành “Tạm Ngưng”</a:t>
            </a:r>
          </a:p>
        </p:txBody>
      </p:sp>
      <p:sp>
        <p:nvSpPr>
          <p:cNvPr id="10" name="TextBox 10"/>
          <p:cNvSpPr txBox="1"/>
          <p:nvPr/>
        </p:nvSpPr>
        <p:spPr>
          <a:xfrm>
            <a:off x="0" y="5323364"/>
            <a:ext cx="5406479" cy="457200"/>
          </a:xfrm>
          <a:prstGeom prst="rect">
            <a:avLst/>
          </a:prstGeom>
        </p:spPr>
        <p:txBody>
          <a:bodyPr lIns="0" tIns="0" rIns="0" bIns="0" rtlCol="0" anchor="t">
            <a:spAutoFit/>
          </a:bodyPr>
          <a:lstStyle/>
          <a:p>
            <a:pPr algn="ctr">
              <a:lnSpc>
                <a:spcPts val="3600"/>
              </a:lnSpc>
              <a:spcBef>
                <a:spcPct val="0"/>
              </a:spcBef>
            </a:pPr>
            <a:r>
              <a:rPr lang="en-US" sz="3000">
                <a:solidFill>
                  <a:srgbClr val="000000"/>
                </a:solidFill>
                <a:latin typeface="Faustina"/>
                <a:ea typeface="Faustina"/>
                <a:cs typeface="Faustina"/>
                <a:sym typeface="Faustina"/>
              </a:rPr>
              <a:t>Chức năng 4: Báo Cáo và Thống Kê</a:t>
            </a:r>
          </a:p>
        </p:txBody>
      </p:sp>
      <p:sp>
        <p:nvSpPr>
          <p:cNvPr id="11" name="TextBox 11"/>
          <p:cNvSpPr txBox="1"/>
          <p:nvPr/>
        </p:nvSpPr>
        <p:spPr>
          <a:xfrm>
            <a:off x="233647" y="6973055"/>
            <a:ext cx="7209179" cy="12477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Sau khi Quản Trị Viên chọn chức năng “Báo Cáo và Thống Kê” trên màn hình hệ thống hiển thị ra các chức năng cho quản trị viên lựa chọn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6F6E9"/>
        </a:solidFill>
        <a:effectLst/>
      </p:bgPr>
    </p:bg>
    <p:spTree>
      <p:nvGrpSpPr>
        <p:cNvPr id="1" name=""/>
        <p:cNvGrpSpPr/>
        <p:nvPr/>
      </p:nvGrpSpPr>
      <p:grpSpPr>
        <a:xfrm>
          <a:off x="0" y="0"/>
          <a:ext cx="0" cy="0"/>
          <a:chOff x="0" y="0"/>
          <a:chExt cx="0" cy="0"/>
        </a:xfrm>
      </p:grpSpPr>
      <p:sp>
        <p:nvSpPr>
          <p:cNvPr id="2" name="Freeform 2"/>
          <p:cNvSpPr/>
          <p:nvPr/>
        </p:nvSpPr>
        <p:spPr>
          <a:xfrm>
            <a:off x="267304" y="731542"/>
            <a:ext cx="7611101" cy="4278428"/>
          </a:xfrm>
          <a:custGeom>
            <a:avLst/>
            <a:gdLst/>
            <a:ahLst/>
            <a:cxnLst/>
            <a:rect l="l" t="t" r="r" b="b"/>
            <a:pathLst>
              <a:path w="7611101" h="4278428">
                <a:moveTo>
                  <a:pt x="0" y="0"/>
                </a:moveTo>
                <a:lnTo>
                  <a:pt x="7611101" y="0"/>
                </a:lnTo>
                <a:lnTo>
                  <a:pt x="7611101" y="4278428"/>
                </a:lnTo>
                <a:lnTo>
                  <a:pt x="0" y="4278428"/>
                </a:lnTo>
                <a:lnTo>
                  <a:pt x="0" y="0"/>
                </a:lnTo>
                <a:close/>
              </a:path>
            </a:pathLst>
          </a:custGeom>
          <a:blipFill>
            <a:blip r:embed="rId2"/>
            <a:stretch>
              <a:fillRect t="-17099" r="-18333" b="-17099"/>
            </a:stretch>
          </a:blipFill>
        </p:spPr>
      </p:sp>
      <p:sp>
        <p:nvSpPr>
          <p:cNvPr id="3" name="Freeform 3"/>
          <p:cNvSpPr/>
          <p:nvPr/>
        </p:nvSpPr>
        <p:spPr>
          <a:xfrm>
            <a:off x="8853788" y="731542"/>
            <a:ext cx="8542911" cy="4278428"/>
          </a:xfrm>
          <a:custGeom>
            <a:avLst/>
            <a:gdLst/>
            <a:ahLst/>
            <a:cxnLst/>
            <a:rect l="l" t="t" r="r" b="b"/>
            <a:pathLst>
              <a:path w="8542911" h="4278428">
                <a:moveTo>
                  <a:pt x="0" y="0"/>
                </a:moveTo>
                <a:lnTo>
                  <a:pt x="8542911" y="0"/>
                </a:lnTo>
                <a:lnTo>
                  <a:pt x="8542911" y="4278428"/>
                </a:lnTo>
                <a:lnTo>
                  <a:pt x="0" y="4278428"/>
                </a:lnTo>
                <a:lnTo>
                  <a:pt x="0" y="0"/>
                </a:lnTo>
                <a:close/>
              </a:path>
            </a:pathLst>
          </a:custGeom>
          <a:blipFill>
            <a:blip r:embed="rId3"/>
            <a:stretch>
              <a:fillRect l="-1322" r="-13812" b="-28454"/>
            </a:stretch>
          </a:blipFill>
        </p:spPr>
      </p:sp>
      <p:sp>
        <p:nvSpPr>
          <p:cNvPr id="4" name="Freeform 4"/>
          <p:cNvSpPr/>
          <p:nvPr/>
        </p:nvSpPr>
        <p:spPr>
          <a:xfrm>
            <a:off x="267304" y="6006722"/>
            <a:ext cx="7523037" cy="4100055"/>
          </a:xfrm>
          <a:custGeom>
            <a:avLst/>
            <a:gdLst/>
            <a:ahLst/>
            <a:cxnLst/>
            <a:rect l="l" t="t" r="r" b="b"/>
            <a:pathLst>
              <a:path w="7523037" h="4100055">
                <a:moveTo>
                  <a:pt x="0" y="0"/>
                </a:moveTo>
                <a:lnTo>
                  <a:pt x="7523037" y="0"/>
                </a:lnTo>
                <a:lnTo>
                  <a:pt x="7523037" y="4100055"/>
                </a:lnTo>
                <a:lnTo>
                  <a:pt x="0" y="4100055"/>
                </a:lnTo>
                <a:lnTo>
                  <a:pt x="0" y="0"/>
                </a:lnTo>
                <a:close/>
              </a:path>
            </a:pathLst>
          </a:custGeom>
          <a:blipFill>
            <a:blip r:embed="rId4"/>
            <a:stretch>
              <a:fillRect/>
            </a:stretch>
          </a:blipFill>
        </p:spPr>
      </p:sp>
      <p:sp>
        <p:nvSpPr>
          <p:cNvPr id="5" name="Freeform 5"/>
          <p:cNvSpPr/>
          <p:nvPr/>
        </p:nvSpPr>
        <p:spPr>
          <a:xfrm>
            <a:off x="8913713" y="6006722"/>
            <a:ext cx="8423060" cy="4100055"/>
          </a:xfrm>
          <a:custGeom>
            <a:avLst/>
            <a:gdLst/>
            <a:ahLst/>
            <a:cxnLst/>
            <a:rect l="l" t="t" r="r" b="b"/>
            <a:pathLst>
              <a:path w="8423060" h="4100055">
                <a:moveTo>
                  <a:pt x="0" y="0"/>
                </a:moveTo>
                <a:lnTo>
                  <a:pt x="8423060" y="0"/>
                </a:lnTo>
                <a:lnTo>
                  <a:pt x="8423060" y="4100055"/>
                </a:lnTo>
                <a:lnTo>
                  <a:pt x="0" y="4100055"/>
                </a:lnTo>
                <a:lnTo>
                  <a:pt x="0" y="0"/>
                </a:lnTo>
                <a:close/>
              </a:path>
            </a:pathLst>
          </a:custGeom>
          <a:blipFill>
            <a:blip r:embed="rId5"/>
            <a:stretch>
              <a:fillRect b="-23262"/>
            </a:stretch>
          </a:blipFill>
        </p:spPr>
      </p:sp>
      <p:sp>
        <p:nvSpPr>
          <p:cNvPr id="6" name="TextBox 6"/>
          <p:cNvSpPr txBox="1"/>
          <p:nvPr/>
        </p:nvSpPr>
        <p:spPr>
          <a:xfrm>
            <a:off x="267304" y="321967"/>
            <a:ext cx="4823371" cy="4095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Chức năng 4.1: Thống kê hóa đơn</a:t>
            </a:r>
          </a:p>
        </p:txBody>
      </p:sp>
      <p:sp>
        <p:nvSpPr>
          <p:cNvPr id="7" name="TextBox 7"/>
          <p:cNvSpPr txBox="1"/>
          <p:nvPr/>
        </p:nvSpPr>
        <p:spPr>
          <a:xfrm>
            <a:off x="8716389" y="321967"/>
            <a:ext cx="5780931" cy="4095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Chức năng 4.2: Thống kê thông tin sách</a:t>
            </a:r>
          </a:p>
        </p:txBody>
      </p:sp>
      <p:sp>
        <p:nvSpPr>
          <p:cNvPr id="8" name="TextBox 8"/>
          <p:cNvSpPr txBox="1"/>
          <p:nvPr/>
        </p:nvSpPr>
        <p:spPr>
          <a:xfrm>
            <a:off x="267304" y="5597147"/>
            <a:ext cx="6596509" cy="4095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Chức năng 4.3: Thống kê tài khoản nhân viên</a:t>
            </a:r>
          </a:p>
        </p:txBody>
      </p:sp>
      <p:sp>
        <p:nvSpPr>
          <p:cNvPr id="9" name="TextBox 9"/>
          <p:cNvSpPr txBox="1"/>
          <p:nvPr/>
        </p:nvSpPr>
        <p:spPr>
          <a:xfrm>
            <a:off x="8529276" y="5597147"/>
            <a:ext cx="6794599" cy="4095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Chức năng 4.4: Thống kê tài khoản người dùng</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6F6E9"/>
        </a:solidFill>
        <a:effectLst/>
      </p:bgPr>
    </p:bg>
    <p:spTree>
      <p:nvGrpSpPr>
        <p:cNvPr id="1" name=""/>
        <p:cNvGrpSpPr/>
        <p:nvPr/>
      </p:nvGrpSpPr>
      <p:grpSpPr>
        <a:xfrm>
          <a:off x="0" y="0"/>
          <a:ext cx="0" cy="0"/>
          <a:chOff x="0" y="0"/>
          <a:chExt cx="0" cy="0"/>
        </a:xfrm>
      </p:grpSpPr>
      <p:sp>
        <p:nvSpPr>
          <p:cNvPr id="2" name="Freeform 2"/>
          <p:cNvSpPr/>
          <p:nvPr/>
        </p:nvSpPr>
        <p:spPr>
          <a:xfrm>
            <a:off x="508202" y="932931"/>
            <a:ext cx="8221811" cy="3285711"/>
          </a:xfrm>
          <a:custGeom>
            <a:avLst/>
            <a:gdLst/>
            <a:ahLst/>
            <a:cxnLst/>
            <a:rect l="l" t="t" r="r" b="b"/>
            <a:pathLst>
              <a:path w="8221811" h="3285711">
                <a:moveTo>
                  <a:pt x="0" y="0"/>
                </a:moveTo>
                <a:lnTo>
                  <a:pt x="8221811" y="0"/>
                </a:lnTo>
                <a:lnTo>
                  <a:pt x="8221811" y="3285711"/>
                </a:lnTo>
                <a:lnTo>
                  <a:pt x="0" y="3285711"/>
                </a:lnTo>
                <a:lnTo>
                  <a:pt x="0" y="0"/>
                </a:lnTo>
                <a:close/>
              </a:path>
            </a:pathLst>
          </a:custGeom>
          <a:blipFill>
            <a:blip r:embed="rId2"/>
            <a:stretch>
              <a:fillRect b="-79505"/>
            </a:stretch>
          </a:blipFill>
        </p:spPr>
      </p:sp>
      <p:sp>
        <p:nvSpPr>
          <p:cNvPr id="3" name="Freeform 3"/>
          <p:cNvSpPr/>
          <p:nvPr/>
        </p:nvSpPr>
        <p:spPr>
          <a:xfrm>
            <a:off x="9864225" y="4033051"/>
            <a:ext cx="7395075" cy="6091693"/>
          </a:xfrm>
          <a:custGeom>
            <a:avLst/>
            <a:gdLst/>
            <a:ahLst/>
            <a:cxnLst/>
            <a:rect l="l" t="t" r="r" b="b"/>
            <a:pathLst>
              <a:path w="7395075" h="6091693">
                <a:moveTo>
                  <a:pt x="0" y="0"/>
                </a:moveTo>
                <a:lnTo>
                  <a:pt x="7395075" y="0"/>
                </a:lnTo>
                <a:lnTo>
                  <a:pt x="7395075" y="6091693"/>
                </a:lnTo>
                <a:lnTo>
                  <a:pt x="0" y="6091693"/>
                </a:lnTo>
                <a:lnTo>
                  <a:pt x="0" y="0"/>
                </a:lnTo>
                <a:close/>
              </a:path>
            </a:pathLst>
          </a:custGeom>
          <a:blipFill>
            <a:blip r:embed="rId3"/>
            <a:stretch>
              <a:fillRect/>
            </a:stretch>
          </a:blipFill>
        </p:spPr>
      </p:sp>
      <p:grpSp>
        <p:nvGrpSpPr>
          <p:cNvPr id="4" name="Group 4"/>
          <p:cNvGrpSpPr/>
          <p:nvPr/>
        </p:nvGrpSpPr>
        <p:grpSpPr>
          <a:xfrm>
            <a:off x="8272374" y="6235122"/>
            <a:ext cx="1156461" cy="1156461"/>
            <a:chOff x="0" y="0"/>
            <a:chExt cx="812800" cy="812800"/>
          </a:xfrm>
        </p:grpSpPr>
        <p:sp>
          <p:nvSpPr>
            <p:cNvPr id="5" name="Freeform 5"/>
            <p:cNvSpPr/>
            <p:nvPr/>
          </p:nvSpPr>
          <p:spPr>
            <a:xfrm>
              <a:off x="0" y="0"/>
              <a:ext cx="812800" cy="812800"/>
            </a:xfrm>
            <a:custGeom>
              <a:avLst/>
              <a:gdLst/>
              <a:ahLst/>
              <a:cxnLst/>
              <a:rect l="l" t="t" r="r" b="b"/>
              <a:pathLst>
                <a:path w="812800" h="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2E2E2E"/>
            </a:solidFill>
          </p:spPr>
        </p:sp>
        <p:sp>
          <p:nvSpPr>
            <p:cNvPr id="6" name="TextBox 6"/>
            <p:cNvSpPr txBox="1"/>
            <p:nvPr/>
          </p:nvSpPr>
          <p:spPr>
            <a:xfrm>
              <a:off x="0" y="165100"/>
              <a:ext cx="711200" cy="444500"/>
            </a:xfrm>
            <a:prstGeom prst="rect">
              <a:avLst/>
            </a:prstGeom>
          </p:spPr>
          <p:txBody>
            <a:bodyPr lIns="50800" tIns="50800" rIns="50800" bIns="50800" rtlCol="0" anchor="ctr"/>
            <a:lstStyle/>
            <a:p>
              <a:pPr algn="ctr">
                <a:lnSpc>
                  <a:spcPts val="2659"/>
                </a:lnSpc>
              </a:pPr>
              <a:endParaRPr/>
            </a:p>
          </p:txBody>
        </p:sp>
      </p:grpSp>
      <p:sp>
        <p:nvSpPr>
          <p:cNvPr id="7" name="TextBox 7"/>
          <p:cNvSpPr txBox="1"/>
          <p:nvPr/>
        </p:nvSpPr>
        <p:spPr>
          <a:xfrm>
            <a:off x="508202" y="465216"/>
            <a:ext cx="5881241" cy="4095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Chức năng 4.4: Thống kê đơn nhập hàng</a:t>
            </a:r>
          </a:p>
        </p:txBody>
      </p:sp>
      <p:sp>
        <p:nvSpPr>
          <p:cNvPr id="8" name="TextBox 8"/>
          <p:cNvSpPr txBox="1"/>
          <p:nvPr/>
        </p:nvSpPr>
        <p:spPr>
          <a:xfrm>
            <a:off x="254101" y="4528311"/>
            <a:ext cx="8730013" cy="457200"/>
          </a:xfrm>
          <a:prstGeom prst="rect">
            <a:avLst/>
          </a:prstGeom>
        </p:spPr>
        <p:txBody>
          <a:bodyPr lIns="0" tIns="0" rIns="0" bIns="0" rtlCol="0" anchor="t">
            <a:spAutoFit/>
          </a:bodyPr>
          <a:lstStyle/>
          <a:p>
            <a:pPr algn="ctr">
              <a:lnSpc>
                <a:spcPts val="3600"/>
              </a:lnSpc>
              <a:spcBef>
                <a:spcPct val="0"/>
              </a:spcBef>
            </a:pPr>
            <a:r>
              <a:rPr lang="en-US" sz="3000">
                <a:solidFill>
                  <a:srgbClr val="000000"/>
                </a:solidFill>
                <a:latin typeface="Faustina"/>
                <a:ea typeface="Faustina"/>
                <a:cs typeface="Faustina"/>
                <a:sym typeface="Faustina"/>
              </a:rPr>
              <a:t>Chức năng 5: Hiển thị các thông tin của người quản trị </a:t>
            </a:r>
          </a:p>
        </p:txBody>
      </p:sp>
      <p:sp>
        <p:nvSpPr>
          <p:cNvPr id="9" name="TextBox 9"/>
          <p:cNvSpPr txBox="1"/>
          <p:nvPr/>
        </p:nvSpPr>
        <p:spPr>
          <a:xfrm>
            <a:off x="673781" y="6244647"/>
            <a:ext cx="7501240" cy="12477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Sau khi người quản trị chọn chức năng thông tin tài khoản màn hình hệ thống hiển thị lên tất cả các thông tin của người quản trị.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6F6E9"/>
        </a:solidFill>
        <a:effectLst/>
      </p:bgPr>
    </p:bg>
    <p:spTree>
      <p:nvGrpSpPr>
        <p:cNvPr id="1" name=""/>
        <p:cNvGrpSpPr/>
        <p:nvPr/>
      </p:nvGrpSpPr>
      <p:grpSpPr>
        <a:xfrm>
          <a:off x="0" y="0"/>
          <a:ext cx="0" cy="0"/>
          <a:chOff x="0" y="0"/>
          <a:chExt cx="0" cy="0"/>
        </a:xfrm>
      </p:grpSpPr>
      <p:sp>
        <p:nvSpPr>
          <p:cNvPr id="2" name="Freeform 2"/>
          <p:cNvSpPr/>
          <p:nvPr/>
        </p:nvSpPr>
        <p:spPr>
          <a:xfrm>
            <a:off x="9484914" y="722012"/>
            <a:ext cx="8215996" cy="4984699"/>
          </a:xfrm>
          <a:custGeom>
            <a:avLst/>
            <a:gdLst/>
            <a:ahLst/>
            <a:cxnLst/>
            <a:rect l="l" t="t" r="r" b="b"/>
            <a:pathLst>
              <a:path w="8215996" h="4984699">
                <a:moveTo>
                  <a:pt x="0" y="0"/>
                </a:moveTo>
                <a:lnTo>
                  <a:pt x="8215996" y="0"/>
                </a:lnTo>
                <a:lnTo>
                  <a:pt x="8215996" y="4984699"/>
                </a:lnTo>
                <a:lnTo>
                  <a:pt x="0" y="4984699"/>
                </a:lnTo>
                <a:lnTo>
                  <a:pt x="0" y="0"/>
                </a:lnTo>
                <a:close/>
              </a:path>
            </a:pathLst>
          </a:custGeom>
          <a:blipFill>
            <a:blip r:embed="rId2"/>
            <a:stretch>
              <a:fillRect t="-904" b="-904"/>
            </a:stretch>
          </a:blipFill>
        </p:spPr>
      </p:sp>
      <p:grpSp>
        <p:nvGrpSpPr>
          <p:cNvPr id="3" name="Group 3"/>
          <p:cNvGrpSpPr/>
          <p:nvPr/>
        </p:nvGrpSpPr>
        <p:grpSpPr>
          <a:xfrm>
            <a:off x="8124901" y="2156374"/>
            <a:ext cx="1163369" cy="1163369"/>
            <a:chOff x="0" y="0"/>
            <a:chExt cx="812800" cy="812800"/>
          </a:xfrm>
        </p:grpSpPr>
        <p:sp>
          <p:nvSpPr>
            <p:cNvPr id="4" name="Freeform 4"/>
            <p:cNvSpPr/>
            <p:nvPr/>
          </p:nvSpPr>
          <p:spPr>
            <a:xfrm>
              <a:off x="0" y="0"/>
              <a:ext cx="812800" cy="812800"/>
            </a:xfrm>
            <a:custGeom>
              <a:avLst/>
              <a:gdLst/>
              <a:ahLst/>
              <a:cxnLst/>
              <a:rect l="l" t="t" r="r" b="b"/>
              <a:pathLst>
                <a:path w="812800" h="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C65CA8"/>
            </a:solidFill>
          </p:spPr>
        </p:sp>
        <p:sp>
          <p:nvSpPr>
            <p:cNvPr id="5" name="TextBox 5"/>
            <p:cNvSpPr txBox="1"/>
            <p:nvPr/>
          </p:nvSpPr>
          <p:spPr>
            <a:xfrm>
              <a:off x="0" y="165100"/>
              <a:ext cx="711200" cy="444500"/>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868704" y="5047555"/>
            <a:ext cx="6650165" cy="3103813"/>
          </a:xfrm>
          <a:custGeom>
            <a:avLst/>
            <a:gdLst/>
            <a:ahLst/>
            <a:cxnLst/>
            <a:rect l="l" t="t" r="r" b="b"/>
            <a:pathLst>
              <a:path w="6650165" h="3103813">
                <a:moveTo>
                  <a:pt x="0" y="0"/>
                </a:moveTo>
                <a:lnTo>
                  <a:pt x="6650165" y="0"/>
                </a:lnTo>
                <a:lnTo>
                  <a:pt x="6650165" y="3103813"/>
                </a:lnTo>
                <a:lnTo>
                  <a:pt x="0" y="3103813"/>
                </a:lnTo>
                <a:lnTo>
                  <a:pt x="0" y="0"/>
                </a:lnTo>
                <a:close/>
              </a:path>
            </a:pathLst>
          </a:custGeom>
          <a:blipFill>
            <a:blip r:embed="rId3"/>
            <a:stretch>
              <a:fillRect l="-14583" t="-125977" b="-13213"/>
            </a:stretch>
          </a:blipFill>
        </p:spPr>
      </p:sp>
      <p:sp>
        <p:nvSpPr>
          <p:cNvPr id="7" name="TextBox 7"/>
          <p:cNvSpPr txBox="1"/>
          <p:nvPr/>
        </p:nvSpPr>
        <p:spPr>
          <a:xfrm>
            <a:off x="134958" y="312437"/>
            <a:ext cx="9710589" cy="4095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Chức năng 5.1:Chỉnh sửa thông tin tài khoản của người đăng nhập</a:t>
            </a:r>
          </a:p>
        </p:txBody>
      </p:sp>
      <p:sp>
        <p:nvSpPr>
          <p:cNvPr id="8" name="TextBox 8"/>
          <p:cNvSpPr txBox="1"/>
          <p:nvPr/>
        </p:nvSpPr>
        <p:spPr>
          <a:xfrm>
            <a:off x="134958" y="1847155"/>
            <a:ext cx="7793300" cy="20859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Người quản trị có thể sửa thông tin của chính mình sau đó ấn sửa thông tin, nếu hiển thị thành công màn hình sẽ hiển thị thông báo người dùng thoát ra để cập nhật lại thông tin</a:t>
            </a:r>
          </a:p>
          <a:p>
            <a:pPr algn="ctr">
              <a:lnSpc>
                <a:spcPts val="3359"/>
              </a:lnSpc>
              <a:spcBef>
                <a:spcPct val="0"/>
              </a:spcBef>
            </a:pPr>
            <a:r>
              <a:rPr lang="en-US" sz="2799">
                <a:solidFill>
                  <a:srgbClr val="000000"/>
                </a:solidFill>
                <a:latin typeface="Faustina"/>
                <a:ea typeface="Faustina"/>
                <a:cs typeface="Faustina"/>
                <a:sym typeface="Faustina"/>
              </a:rPr>
              <a:t>(Lưu ý: Người quản trị không nên thay đổi mã quyền)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6F6E9"/>
        </a:solidFill>
        <a:effectLst/>
      </p:bgPr>
    </p:bg>
    <p:spTree>
      <p:nvGrpSpPr>
        <p:cNvPr id="1" name=""/>
        <p:cNvGrpSpPr/>
        <p:nvPr/>
      </p:nvGrpSpPr>
      <p:grpSpPr>
        <a:xfrm>
          <a:off x="0" y="0"/>
          <a:ext cx="0" cy="0"/>
          <a:chOff x="0" y="0"/>
          <a:chExt cx="0" cy="0"/>
        </a:xfrm>
      </p:grpSpPr>
      <p:sp>
        <p:nvSpPr>
          <p:cNvPr id="2" name="Freeform 2"/>
          <p:cNvSpPr/>
          <p:nvPr/>
        </p:nvSpPr>
        <p:spPr>
          <a:xfrm>
            <a:off x="9887127" y="333893"/>
            <a:ext cx="7740777" cy="5202617"/>
          </a:xfrm>
          <a:custGeom>
            <a:avLst/>
            <a:gdLst/>
            <a:ahLst/>
            <a:cxnLst/>
            <a:rect l="l" t="t" r="r" b="b"/>
            <a:pathLst>
              <a:path w="7740777" h="5202617">
                <a:moveTo>
                  <a:pt x="0" y="0"/>
                </a:moveTo>
                <a:lnTo>
                  <a:pt x="7740778" y="0"/>
                </a:lnTo>
                <a:lnTo>
                  <a:pt x="7740778" y="5202617"/>
                </a:lnTo>
                <a:lnTo>
                  <a:pt x="0" y="5202617"/>
                </a:lnTo>
                <a:lnTo>
                  <a:pt x="0" y="0"/>
                </a:lnTo>
                <a:close/>
              </a:path>
            </a:pathLst>
          </a:custGeom>
          <a:blipFill>
            <a:blip r:embed="rId2"/>
            <a:stretch>
              <a:fillRect b="-4054"/>
            </a:stretch>
          </a:blipFill>
        </p:spPr>
      </p:sp>
      <p:grpSp>
        <p:nvGrpSpPr>
          <p:cNvPr id="3" name="Group 3"/>
          <p:cNvGrpSpPr/>
          <p:nvPr/>
        </p:nvGrpSpPr>
        <p:grpSpPr>
          <a:xfrm>
            <a:off x="8327614" y="2306551"/>
            <a:ext cx="1349963" cy="1349963"/>
            <a:chOff x="0" y="0"/>
            <a:chExt cx="812800" cy="812800"/>
          </a:xfrm>
        </p:grpSpPr>
        <p:sp>
          <p:nvSpPr>
            <p:cNvPr id="4" name="Freeform 4"/>
            <p:cNvSpPr/>
            <p:nvPr/>
          </p:nvSpPr>
          <p:spPr>
            <a:xfrm>
              <a:off x="0" y="0"/>
              <a:ext cx="812800" cy="812800"/>
            </a:xfrm>
            <a:custGeom>
              <a:avLst/>
              <a:gdLst/>
              <a:ahLst/>
              <a:cxnLst/>
              <a:rect l="l" t="t" r="r" b="b"/>
              <a:pathLst>
                <a:path w="812800" h="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295C4E"/>
            </a:solidFill>
          </p:spPr>
        </p:sp>
        <p:sp>
          <p:nvSpPr>
            <p:cNvPr id="5" name="TextBox 5"/>
            <p:cNvSpPr txBox="1"/>
            <p:nvPr/>
          </p:nvSpPr>
          <p:spPr>
            <a:xfrm>
              <a:off x="0" y="165100"/>
              <a:ext cx="711200" cy="444500"/>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270764" y="6680341"/>
            <a:ext cx="7211708" cy="3335177"/>
          </a:xfrm>
          <a:custGeom>
            <a:avLst/>
            <a:gdLst/>
            <a:ahLst/>
            <a:cxnLst/>
            <a:rect l="l" t="t" r="r" b="b"/>
            <a:pathLst>
              <a:path w="7211708" h="3335177">
                <a:moveTo>
                  <a:pt x="0" y="0"/>
                </a:moveTo>
                <a:lnTo>
                  <a:pt x="7211707" y="0"/>
                </a:lnTo>
                <a:lnTo>
                  <a:pt x="7211707" y="3335177"/>
                </a:lnTo>
                <a:lnTo>
                  <a:pt x="0" y="3335177"/>
                </a:lnTo>
                <a:lnTo>
                  <a:pt x="0" y="0"/>
                </a:lnTo>
                <a:close/>
              </a:path>
            </a:pathLst>
          </a:custGeom>
          <a:blipFill>
            <a:blip r:embed="rId3"/>
            <a:stretch>
              <a:fillRect t="-112" b="-80565"/>
            </a:stretch>
          </a:blipFill>
        </p:spPr>
      </p:sp>
      <p:sp>
        <p:nvSpPr>
          <p:cNvPr id="7" name="Freeform 7"/>
          <p:cNvSpPr/>
          <p:nvPr/>
        </p:nvSpPr>
        <p:spPr>
          <a:xfrm>
            <a:off x="9627971" y="6543810"/>
            <a:ext cx="7631329" cy="3471708"/>
          </a:xfrm>
          <a:custGeom>
            <a:avLst/>
            <a:gdLst/>
            <a:ahLst/>
            <a:cxnLst/>
            <a:rect l="l" t="t" r="r" b="b"/>
            <a:pathLst>
              <a:path w="7631329" h="3471708">
                <a:moveTo>
                  <a:pt x="0" y="0"/>
                </a:moveTo>
                <a:lnTo>
                  <a:pt x="7631329" y="0"/>
                </a:lnTo>
                <a:lnTo>
                  <a:pt x="7631329" y="3471708"/>
                </a:lnTo>
                <a:lnTo>
                  <a:pt x="0" y="3471708"/>
                </a:lnTo>
                <a:lnTo>
                  <a:pt x="0" y="0"/>
                </a:lnTo>
                <a:close/>
              </a:path>
            </a:pathLst>
          </a:custGeom>
          <a:blipFill>
            <a:blip r:embed="rId4"/>
            <a:stretch>
              <a:fillRect t="-1280" b="-73661"/>
            </a:stretch>
          </a:blipFill>
        </p:spPr>
      </p:sp>
      <p:sp>
        <p:nvSpPr>
          <p:cNvPr id="8" name="TextBox 8"/>
          <p:cNvSpPr txBox="1"/>
          <p:nvPr/>
        </p:nvSpPr>
        <p:spPr>
          <a:xfrm>
            <a:off x="114887" y="285088"/>
            <a:ext cx="4850606" cy="457200"/>
          </a:xfrm>
          <a:prstGeom prst="rect">
            <a:avLst/>
          </a:prstGeom>
        </p:spPr>
        <p:txBody>
          <a:bodyPr lIns="0" tIns="0" rIns="0" bIns="0" rtlCol="0" anchor="t">
            <a:spAutoFit/>
          </a:bodyPr>
          <a:lstStyle/>
          <a:p>
            <a:pPr algn="ctr">
              <a:lnSpc>
                <a:spcPts val="3600"/>
              </a:lnSpc>
              <a:spcBef>
                <a:spcPct val="0"/>
              </a:spcBef>
            </a:pPr>
            <a:r>
              <a:rPr lang="en-US" sz="3000">
                <a:solidFill>
                  <a:srgbClr val="000000"/>
                </a:solidFill>
                <a:latin typeface="Faustina"/>
                <a:ea typeface="Faustina"/>
                <a:cs typeface="Faustina"/>
                <a:sym typeface="Faustina"/>
              </a:rPr>
              <a:t>Chức năng 6: Quản lý loại sách</a:t>
            </a:r>
          </a:p>
        </p:txBody>
      </p:sp>
      <p:sp>
        <p:nvSpPr>
          <p:cNvPr id="9" name="TextBox 9"/>
          <p:cNvSpPr txBox="1"/>
          <p:nvPr/>
        </p:nvSpPr>
        <p:spPr>
          <a:xfrm>
            <a:off x="114887" y="2316076"/>
            <a:ext cx="8004232" cy="12477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Sau khi người quản trị chọn chức năng “Quản Lý Loại Sách” màn hình hệ thống hiển thị lên giao diện các thông tin loại sách hiện tại của hệ thống</a:t>
            </a:r>
          </a:p>
        </p:txBody>
      </p:sp>
      <p:sp>
        <p:nvSpPr>
          <p:cNvPr id="10" name="TextBox 10"/>
          <p:cNvSpPr txBox="1"/>
          <p:nvPr/>
        </p:nvSpPr>
        <p:spPr>
          <a:xfrm>
            <a:off x="270764" y="6134235"/>
            <a:ext cx="7692479" cy="4095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Chức năng 6.1: Tìm kiếm loại sách bằng mã loại sách</a:t>
            </a:r>
          </a:p>
        </p:txBody>
      </p:sp>
      <p:sp>
        <p:nvSpPr>
          <p:cNvPr id="11" name="TextBox 11"/>
          <p:cNvSpPr txBox="1"/>
          <p:nvPr/>
        </p:nvSpPr>
        <p:spPr>
          <a:xfrm>
            <a:off x="9437340" y="6134235"/>
            <a:ext cx="7821960" cy="4095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Chức năng 6.2: Tìm kiếm loại sách bằng tên loại sách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6F6E9"/>
        </a:solidFill>
        <a:effectLst/>
      </p:bgPr>
    </p:bg>
    <p:spTree>
      <p:nvGrpSpPr>
        <p:cNvPr id="1" name=""/>
        <p:cNvGrpSpPr/>
        <p:nvPr/>
      </p:nvGrpSpPr>
      <p:grpSpPr>
        <a:xfrm>
          <a:off x="0" y="0"/>
          <a:ext cx="0" cy="0"/>
          <a:chOff x="0" y="0"/>
          <a:chExt cx="0" cy="0"/>
        </a:xfrm>
      </p:grpSpPr>
      <p:sp>
        <p:nvSpPr>
          <p:cNvPr id="2" name="Freeform 2"/>
          <p:cNvSpPr/>
          <p:nvPr/>
        </p:nvSpPr>
        <p:spPr>
          <a:xfrm>
            <a:off x="349546" y="798726"/>
            <a:ext cx="7538716" cy="4849475"/>
          </a:xfrm>
          <a:custGeom>
            <a:avLst/>
            <a:gdLst/>
            <a:ahLst/>
            <a:cxnLst/>
            <a:rect l="l" t="t" r="r" b="b"/>
            <a:pathLst>
              <a:path w="7538716" h="4849475">
                <a:moveTo>
                  <a:pt x="0" y="0"/>
                </a:moveTo>
                <a:lnTo>
                  <a:pt x="7538716" y="0"/>
                </a:lnTo>
                <a:lnTo>
                  <a:pt x="7538716" y="4849475"/>
                </a:lnTo>
                <a:lnTo>
                  <a:pt x="0" y="4849475"/>
                </a:lnTo>
                <a:lnTo>
                  <a:pt x="0" y="0"/>
                </a:lnTo>
                <a:close/>
              </a:path>
            </a:pathLst>
          </a:custGeom>
          <a:blipFill>
            <a:blip r:embed="rId2"/>
            <a:stretch>
              <a:fillRect t="-4613" b="-4613"/>
            </a:stretch>
          </a:blipFill>
        </p:spPr>
      </p:sp>
      <p:sp>
        <p:nvSpPr>
          <p:cNvPr id="3" name="Freeform 3"/>
          <p:cNvSpPr/>
          <p:nvPr/>
        </p:nvSpPr>
        <p:spPr>
          <a:xfrm>
            <a:off x="8888218" y="1223407"/>
            <a:ext cx="9011155" cy="2612478"/>
          </a:xfrm>
          <a:custGeom>
            <a:avLst/>
            <a:gdLst/>
            <a:ahLst/>
            <a:cxnLst/>
            <a:rect l="l" t="t" r="r" b="b"/>
            <a:pathLst>
              <a:path w="9011155" h="2612478">
                <a:moveTo>
                  <a:pt x="0" y="0"/>
                </a:moveTo>
                <a:lnTo>
                  <a:pt x="9011155" y="0"/>
                </a:lnTo>
                <a:lnTo>
                  <a:pt x="9011155" y="2612478"/>
                </a:lnTo>
                <a:lnTo>
                  <a:pt x="0" y="2612478"/>
                </a:lnTo>
                <a:lnTo>
                  <a:pt x="0" y="0"/>
                </a:lnTo>
                <a:close/>
              </a:path>
            </a:pathLst>
          </a:custGeom>
          <a:blipFill>
            <a:blip r:embed="rId3"/>
            <a:stretch>
              <a:fillRect/>
            </a:stretch>
          </a:blipFill>
        </p:spPr>
      </p:sp>
      <p:sp>
        <p:nvSpPr>
          <p:cNvPr id="4" name="Freeform 4"/>
          <p:cNvSpPr/>
          <p:nvPr/>
        </p:nvSpPr>
        <p:spPr>
          <a:xfrm>
            <a:off x="10339961" y="5827171"/>
            <a:ext cx="6919339" cy="4459829"/>
          </a:xfrm>
          <a:custGeom>
            <a:avLst/>
            <a:gdLst/>
            <a:ahLst/>
            <a:cxnLst/>
            <a:rect l="l" t="t" r="r" b="b"/>
            <a:pathLst>
              <a:path w="6919339" h="4459829">
                <a:moveTo>
                  <a:pt x="0" y="0"/>
                </a:moveTo>
                <a:lnTo>
                  <a:pt x="6919339" y="0"/>
                </a:lnTo>
                <a:lnTo>
                  <a:pt x="6919339" y="4459829"/>
                </a:lnTo>
                <a:lnTo>
                  <a:pt x="0" y="4459829"/>
                </a:lnTo>
                <a:lnTo>
                  <a:pt x="0" y="0"/>
                </a:lnTo>
                <a:close/>
              </a:path>
            </a:pathLst>
          </a:custGeom>
          <a:blipFill>
            <a:blip r:embed="rId4"/>
            <a:stretch>
              <a:fillRect t="-3513" b="-3513"/>
            </a:stretch>
          </a:blipFill>
        </p:spPr>
      </p:sp>
      <p:sp>
        <p:nvSpPr>
          <p:cNvPr id="5" name="Freeform 5"/>
          <p:cNvSpPr/>
          <p:nvPr/>
        </p:nvSpPr>
        <p:spPr>
          <a:xfrm>
            <a:off x="106908" y="7210301"/>
            <a:ext cx="8241990" cy="2390177"/>
          </a:xfrm>
          <a:custGeom>
            <a:avLst/>
            <a:gdLst/>
            <a:ahLst/>
            <a:cxnLst/>
            <a:rect l="l" t="t" r="r" b="b"/>
            <a:pathLst>
              <a:path w="8241990" h="2390177">
                <a:moveTo>
                  <a:pt x="0" y="0"/>
                </a:moveTo>
                <a:lnTo>
                  <a:pt x="8241990" y="0"/>
                </a:lnTo>
                <a:lnTo>
                  <a:pt x="8241990" y="2390177"/>
                </a:lnTo>
                <a:lnTo>
                  <a:pt x="0" y="2390177"/>
                </a:lnTo>
                <a:lnTo>
                  <a:pt x="0" y="0"/>
                </a:lnTo>
                <a:close/>
              </a:path>
            </a:pathLst>
          </a:custGeom>
          <a:blipFill>
            <a:blip r:embed="rId5"/>
            <a:stretch>
              <a:fillRect/>
            </a:stretch>
          </a:blipFill>
        </p:spPr>
      </p:sp>
      <p:grpSp>
        <p:nvGrpSpPr>
          <p:cNvPr id="6" name="Group 6"/>
          <p:cNvGrpSpPr/>
          <p:nvPr/>
        </p:nvGrpSpPr>
        <p:grpSpPr>
          <a:xfrm>
            <a:off x="7888262" y="2529646"/>
            <a:ext cx="846970" cy="846970"/>
            <a:chOff x="0" y="0"/>
            <a:chExt cx="812800" cy="812800"/>
          </a:xfrm>
        </p:grpSpPr>
        <p:sp>
          <p:nvSpPr>
            <p:cNvPr id="7" name="Freeform 7"/>
            <p:cNvSpPr/>
            <p:nvPr/>
          </p:nvSpPr>
          <p:spPr>
            <a:xfrm>
              <a:off x="0" y="0"/>
              <a:ext cx="812800" cy="812800"/>
            </a:xfrm>
            <a:custGeom>
              <a:avLst/>
              <a:gdLst/>
              <a:ahLst/>
              <a:cxnLst/>
              <a:rect l="l" t="t" r="r" b="b"/>
              <a:pathLst>
                <a:path w="812800" h="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EFA593"/>
            </a:solidFill>
          </p:spPr>
        </p:sp>
        <p:sp>
          <p:nvSpPr>
            <p:cNvPr id="8" name="TextBox 8"/>
            <p:cNvSpPr txBox="1"/>
            <p:nvPr/>
          </p:nvSpPr>
          <p:spPr>
            <a:xfrm>
              <a:off x="0" y="165100"/>
              <a:ext cx="711200" cy="444500"/>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349546" y="243121"/>
            <a:ext cx="4527649" cy="4095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Chức năng 6.3: Thêm loại sách </a:t>
            </a:r>
          </a:p>
        </p:txBody>
      </p:sp>
      <p:sp>
        <p:nvSpPr>
          <p:cNvPr id="10" name="TextBox 10"/>
          <p:cNvSpPr txBox="1"/>
          <p:nvPr/>
        </p:nvSpPr>
        <p:spPr>
          <a:xfrm>
            <a:off x="9250164" y="4148422"/>
            <a:ext cx="7084278" cy="8286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Hệ thống cập nhật lại thông tin và hiển thị loại sách vừa thêm vào</a:t>
            </a:r>
          </a:p>
        </p:txBody>
      </p:sp>
      <p:sp>
        <p:nvSpPr>
          <p:cNvPr id="11" name="TextBox 11"/>
          <p:cNvSpPr txBox="1"/>
          <p:nvPr/>
        </p:nvSpPr>
        <p:spPr>
          <a:xfrm>
            <a:off x="10339961" y="5417596"/>
            <a:ext cx="5610225" cy="4095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Chức năng 6.4: Sửa thông tin loại sách</a:t>
            </a:r>
          </a:p>
        </p:txBody>
      </p:sp>
      <p:sp>
        <p:nvSpPr>
          <p:cNvPr id="12" name="TextBox 12"/>
          <p:cNvSpPr txBox="1"/>
          <p:nvPr/>
        </p:nvSpPr>
        <p:spPr>
          <a:xfrm>
            <a:off x="106908" y="6553737"/>
            <a:ext cx="8413105" cy="4095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Màn hình hệ thống hiển thị loại sách vừa được chỉnh sửa</a:t>
            </a:r>
          </a:p>
        </p:txBody>
      </p:sp>
      <p:grpSp>
        <p:nvGrpSpPr>
          <p:cNvPr id="13" name="Group 13"/>
          <p:cNvGrpSpPr/>
          <p:nvPr/>
        </p:nvGrpSpPr>
        <p:grpSpPr>
          <a:xfrm rot="-10800000">
            <a:off x="8826679" y="7558419"/>
            <a:ext cx="1049790" cy="1049790"/>
            <a:chOff x="0" y="0"/>
            <a:chExt cx="812800" cy="812800"/>
          </a:xfrm>
        </p:grpSpPr>
        <p:sp>
          <p:nvSpPr>
            <p:cNvPr id="14" name="Freeform 14"/>
            <p:cNvSpPr/>
            <p:nvPr/>
          </p:nvSpPr>
          <p:spPr>
            <a:xfrm>
              <a:off x="0" y="0"/>
              <a:ext cx="812800" cy="812800"/>
            </a:xfrm>
            <a:custGeom>
              <a:avLst/>
              <a:gdLst/>
              <a:ahLst/>
              <a:cxnLst/>
              <a:rect l="l" t="t" r="r" b="b"/>
              <a:pathLst>
                <a:path w="812800" h="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EFA593"/>
            </a:solidFill>
          </p:spPr>
        </p:sp>
        <p:sp>
          <p:nvSpPr>
            <p:cNvPr id="15" name="TextBox 15"/>
            <p:cNvSpPr txBox="1"/>
            <p:nvPr/>
          </p:nvSpPr>
          <p:spPr>
            <a:xfrm>
              <a:off x="0" y="165100"/>
              <a:ext cx="711200" cy="444500"/>
            </a:xfrm>
            <a:prstGeom prst="rect">
              <a:avLst/>
            </a:prstGeom>
          </p:spPr>
          <p:txBody>
            <a:bodyPr lIns="50800" tIns="50800" rIns="50800" bIns="50800" rtlCol="0" anchor="ctr"/>
            <a:lstStyle/>
            <a:p>
              <a:pPr algn="ctr">
                <a:lnSpc>
                  <a:spcPts val="2659"/>
                </a:lnSpc>
              </a:pPr>
              <a:endParaRP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6F6E9"/>
        </a:solidFill>
        <a:effectLst/>
      </p:bgPr>
    </p:bg>
    <p:spTree>
      <p:nvGrpSpPr>
        <p:cNvPr id="1" name=""/>
        <p:cNvGrpSpPr/>
        <p:nvPr/>
      </p:nvGrpSpPr>
      <p:grpSpPr>
        <a:xfrm>
          <a:off x="0" y="0"/>
          <a:ext cx="0" cy="0"/>
          <a:chOff x="0" y="0"/>
          <a:chExt cx="0" cy="0"/>
        </a:xfrm>
      </p:grpSpPr>
      <p:sp>
        <p:nvSpPr>
          <p:cNvPr id="2" name="Freeform 2"/>
          <p:cNvSpPr/>
          <p:nvPr/>
        </p:nvSpPr>
        <p:spPr>
          <a:xfrm>
            <a:off x="666833" y="830940"/>
            <a:ext cx="8967314" cy="4534297"/>
          </a:xfrm>
          <a:custGeom>
            <a:avLst/>
            <a:gdLst/>
            <a:ahLst/>
            <a:cxnLst/>
            <a:rect l="l" t="t" r="r" b="b"/>
            <a:pathLst>
              <a:path w="8967314" h="4534297">
                <a:moveTo>
                  <a:pt x="0" y="0"/>
                </a:moveTo>
                <a:lnTo>
                  <a:pt x="8967314" y="0"/>
                </a:lnTo>
                <a:lnTo>
                  <a:pt x="8967314" y="4534298"/>
                </a:lnTo>
                <a:lnTo>
                  <a:pt x="0" y="4534298"/>
                </a:lnTo>
                <a:lnTo>
                  <a:pt x="0" y="0"/>
                </a:lnTo>
                <a:close/>
              </a:path>
            </a:pathLst>
          </a:custGeom>
          <a:blipFill>
            <a:blip r:embed="rId2"/>
            <a:stretch>
              <a:fillRect t="-9258" b="-29384"/>
            </a:stretch>
          </a:blipFill>
        </p:spPr>
      </p:sp>
      <p:sp>
        <p:nvSpPr>
          <p:cNvPr id="3" name="Freeform 3"/>
          <p:cNvSpPr/>
          <p:nvPr/>
        </p:nvSpPr>
        <p:spPr>
          <a:xfrm>
            <a:off x="9928891" y="1028700"/>
            <a:ext cx="7898304" cy="1974576"/>
          </a:xfrm>
          <a:custGeom>
            <a:avLst/>
            <a:gdLst/>
            <a:ahLst/>
            <a:cxnLst/>
            <a:rect l="l" t="t" r="r" b="b"/>
            <a:pathLst>
              <a:path w="7898304" h="1974576">
                <a:moveTo>
                  <a:pt x="0" y="0"/>
                </a:moveTo>
                <a:lnTo>
                  <a:pt x="7898304" y="0"/>
                </a:lnTo>
                <a:lnTo>
                  <a:pt x="7898304" y="1974576"/>
                </a:lnTo>
                <a:lnTo>
                  <a:pt x="0" y="1974576"/>
                </a:lnTo>
                <a:lnTo>
                  <a:pt x="0" y="0"/>
                </a:lnTo>
                <a:close/>
              </a:path>
            </a:pathLst>
          </a:custGeom>
          <a:blipFill>
            <a:blip r:embed="rId3"/>
            <a:stretch>
              <a:fillRect/>
            </a:stretch>
          </a:blipFill>
        </p:spPr>
      </p:sp>
      <p:sp>
        <p:nvSpPr>
          <p:cNvPr id="4" name="Freeform 4"/>
          <p:cNvSpPr/>
          <p:nvPr/>
        </p:nvSpPr>
        <p:spPr>
          <a:xfrm>
            <a:off x="9838082" y="5664101"/>
            <a:ext cx="7421218" cy="4622899"/>
          </a:xfrm>
          <a:custGeom>
            <a:avLst/>
            <a:gdLst/>
            <a:ahLst/>
            <a:cxnLst/>
            <a:rect l="l" t="t" r="r" b="b"/>
            <a:pathLst>
              <a:path w="7421218" h="4622899">
                <a:moveTo>
                  <a:pt x="0" y="0"/>
                </a:moveTo>
                <a:lnTo>
                  <a:pt x="7421218" y="0"/>
                </a:lnTo>
                <a:lnTo>
                  <a:pt x="7421218" y="4622899"/>
                </a:lnTo>
                <a:lnTo>
                  <a:pt x="0" y="4622899"/>
                </a:lnTo>
                <a:lnTo>
                  <a:pt x="0" y="0"/>
                </a:lnTo>
                <a:close/>
              </a:path>
            </a:pathLst>
          </a:custGeom>
          <a:blipFill>
            <a:blip r:embed="rId4"/>
            <a:stretch>
              <a:fillRect/>
            </a:stretch>
          </a:blipFill>
        </p:spPr>
      </p:sp>
      <p:grpSp>
        <p:nvGrpSpPr>
          <p:cNvPr id="5" name="Group 5"/>
          <p:cNvGrpSpPr/>
          <p:nvPr/>
        </p:nvGrpSpPr>
        <p:grpSpPr>
          <a:xfrm>
            <a:off x="8245950" y="7186303"/>
            <a:ext cx="1376232" cy="1376232"/>
            <a:chOff x="0" y="0"/>
            <a:chExt cx="812800" cy="812800"/>
          </a:xfrm>
        </p:grpSpPr>
        <p:sp>
          <p:nvSpPr>
            <p:cNvPr id="6" name="Freeform 6"/>
            <p:cNvSpPr/>
            <p:nvPr/>
          </p:nvSpPr>
          <p:spPr>
            <a:xfrm>
              <a:off x="0" y="0"/>
              <a:ext cx="812800" cy="812800"/>
            </a:xfrm>
            <a:custGeom>
              <a:avLst/>
              <a:gdLst/>
              <a:ahLst/>
              <a:cxnLst/>
              <a:rect l="l" t="t" r="r" b="b"/>
              <a:pathLst>
                <a:path w="812800" h="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C65CA8"/>
            </a:solidFill>
          </p:spPr>
        </p:sp>
        <p:sp>
          <p:nvSpPr>
            <p:cNvPr id="7" name="TextBox 7"/>
            <p:cNvSpPr txBox="1"/>
            <p:nvPr/>
          </p:nvSpPr>
          <p:spPr>
            <a:xfrm>
              <a:off x="0" y="165100"/>
              <a:ext cx="711200" cy="444500"/>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666833" y="291561"/>
            <a:ext cx="5326559" cy="4095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 Chức năng 6.5: Xóa dữ liệu loại sách</a:t>
            </a:r>
          </a:p>
        </p:txBody>
      </p:sp>
      <p:sp>
        <p:nvSpPr>
          <p:cNvPr id="9" name="TextBox 9"/>
          <p:cNvSpPr txBox="1"/>
          <p:nvPr/>
        </p:nvSpPr>
        <p:spPr>
          <a:xfrm>
            <a:off x="9800965" y="4314825"/>
            <a:ext cx="8026230" cy="8286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(Lưu ý: Không nên xóa loại sách vì nó có thể ảnh hưởng tới dữ liệu)</a:t>
            </a:r>
          </a:p>
        </p:txBody>
      </p:sp>
      <p:sp>
        <p:nvSpPr>
          <p:cNvPr id="10" name="TextBox 10"/>
          <p:cNvSpPr txBox="1"/>
          <p:nvPr/>
        </p:nvSpPr>
        <p:spPr>
          <a:xfrm>
            <a:off x="11099641" y="3227711"/>
            <a:ext cx="5556804" cy="8286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Sau khi xóa loại sách màn hình hiển thị lại tất cả thông tin của loại sách</a:t>
            </a:r>
          </a:p>
        </p:txBody>
      </p:sp>
      <p:sp>
        <p:nvSpPr>
          <p:cNvPr id="11" name="TextBox 11"/>
          <p:cNvSpPr txBox="1"/>
          <p:nvPr/>
        </p:nvSpPr>
        <p:spPr>
          <a:xfrm>
            <a:off x="188072" y="5673626"/>
            <a:ext cx="5061198" cy="4095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3.3.3: Các chức năng của nhân viên</a:t>
            </a:r>
          </a:p>
        </p:txBody>
      </p:sp>
      <p:sp>
        <p:nvSpPr>
          <p:cNvPr id="12" name="TextBox 12"/>
          <p:cNvSpPr txBox="1"/>
          <p:nvPr/>
        </p:nvSpPr>
        <p:spPr>
          <a:xfrm>
            <a:off x="188072" y="6727775"/>
            <a:ext cx="7841977" cy="2505075"/>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Faustina"/>
                <a:ea typeface="Faustina"/>
                <a:cs typeface="Faustina"/>
                <a:sym typeface="Faustina"/>
              </a:rPr>
              <a:t>Khi đăng nhập vào tài khoản nhân viên thì nhân viên chỉ có quyền hạn là Quản Lý Sách, Quản Lý Loại Sách, Xem Thông Tin Tài Khoản,</a:t>
            </a:r>
          </a:p>
          <a:p>
            <a:pPr algn="ctr">
              <a:lnSpc>
                <a:spcPts val="3359"/>
              </a:lnSpc>
              <a:spcBef>
                <a:spcPct val="0"/>
              </a:spcBef>
            </a:pPr>
            <a:r>
              <a:rPr lang="en-US" sz="2799">
                <a:solidFill>
                  <a:srgbClr val="000000"/>
                </a:solidFill>
                <a:latin typeface="Faustina"/>
                <a:ea typeface="Faustina"/>
                <a:cs typeface="Faustina"/>
                <a:sym typeface="Faustina"/>
              </a:rPr>
              <a:t>Thống Kê và Báo Cáo như ở trên hình các chức năng ở quản lý thì giống như chủ cửa hàng , nhân viên không thể truy cập vào các chức năng quản lý còn lại</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295C4E"/>
        </a:solidFill>
        <a:effectLst/>
      </p:bgPr>
    </p:bg>
    <p:spTree>
      <p:nvGrpSpPr>
        <p:cNvPr id="1" name=""/>
        <p:cNvGrpSpPr/>
        <p:nvPr/>
      </p:nvGrpSpPr>
      <p:grpSpPr>
        <a:xfrm>
          <a:off x="0" y="0"/>
          <a:ext cx="0" cy="0"/>
          <a:chOff x="0" y="0"/>
          <a:chExt cx="0" cy="0"/>
        </a:xfrm>
      </p:grpSpPr>
      <p:sp>
        <p:nvSpPr>
          <p:cNvPr id="2" name="AutoShape 2"/>
          <p:cNvSpPr/>
          <p:nvPr/>
        </p:nvSpPr>
        <p:spPr>
          <a:xfrm flipV="1">
            <a:off x="17391062" y="2140537"/>
            <a:ext cx="0" cy="10257527"/>
          </a:xfrm>
          <a:prstGeom prst="line">
            <a:avLst/>
          </a:prstGeom>
          <a:ln w="9525" cap="rnd">
            <a:solidFill>
              <a:srgbClr val="191919">
                <a:alpha val="29804"/>
              </a:srgbClr>
            </a:solidFill>
            <a:prstDash val="solid"/>
            <a:headEnd type="none" w="sm" len="sm"/>
            <a:tailEnd type="none" w="sm" len="sm"/>
          </a:ln>
        </p:spPr>
      </p:sp>
      <p:sp>
        <p:nvSpPr>
          <p:cNvPr id="3" name="TextBox 3"/>
          <p:cNvSpPr txBox="1"/>
          <p:nvPr/>
        </p:nvSpPr>
        <p:spPr>
          <a:xfrm>
            <a:off x="4499851" y="3086654"/>
            <a:ext cx="8424716" cy="3451135"/>
          </a:xfrm>
          <a:prstGeom prst="rect">
            <a:avLst/>
          </a:prstGeom>
        </p:spPr>
        <p:txBody>
          <a:bodyPr lIns="0" tIns="0" rIns="0" bIns="0" rtlCol="0" anchor="t">
            <a:spAutoFit/>
          </a:bodyPr>
          <a:lstStyle/>
          <a:p>
            <a:pPr algn="ctr">
              <a:lnSpc>
                <a:spcPts val="13656"/>
              </a:lnSpc>
            </a:pPr>
            <a:r>
              <a:rPr lang="en-US" sz="11380" b="1">
                <a:solidFill>
                  <a:srgbClr val="F6F6E9"/>
                </a:solidFill>
                <a:latin typeface="Faustina Bold"/>
                <a:ea typeface="Faustina Bold"/>
                <a:cs typeface="Faustina Bold"/>
                <a:sym typeface="Faustina Bold"/>
              </a:rPr>
              <a:t>Thank you for listening</a:t>
            </a:r>
          </a:p>
        </p:txBody>
      </p:sp>
      <p:sp>
        <p:nvSpPr>
          <p:cNvPr id="4" name="Freeform 4"/>
          <p:cNvSpPr/>
          <p:nvPr/>
        </p:nvSpPr>
        <p:spPr>
          <a:xfrm>
            <a:off x="12966564" y="3866104"/>
            <a:ext cx="1520668" cy="1892234"/>
          </a:xfrm>
          <a:custGeom>
            <a:avLst/>
            <a:gdLst/>
            <a:ahLst/>
            <a:cxnLst/>
            <a:rect l="l" t="t" r="r" b="b"/>
            <a:pathLst>
              <a:path w="1520668" h="1892234">
                <a:moveTo>
                  <a:pt x="0" y="0"/>
                </a:moveTo>
                <a:lnTo>
                  <a:pt x="1520668" y="0"/>
                </a:lnTo>
                <a:lnTo>
                  <a:pt x="1520668" y="1892234"/>
                </a:lnTo>
                <a:lnTo>
                  <a:pt x="0" y="18922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2979183" y="4159483"/>
            <a:ext cx="1520668" cy="1892234"/>
          </a:xfrm>
          <a:custGeom>
            <a:avLst/>
            <a:gdLst/>
            <a:ahLst/>
            <a:cxnLst/>
            <a:rect l="l" t="t" r="r" b="b"/>
            <a:pathLst>
              <a:path w="1520668" h="1892234">
                <a:moveTo>
                  <a:pt x="0" y="0"/>
                </a:moveTo>
                <a:lnTo>
                  <a:pt x="1520668" y="0"/>
                </a:lnTo>
                <a:lnTo>
                  <a:pt x="1520668" y="1892234"/>
                </a:lnTo>
                <a:lnTo>
                  <a:pt x="0" y="189223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1710250" y="4311134"/>
            <a:ext cx="1520668" cy="1892234"/>
          </a:xfrm>
          <a:custGeom>
            <a:avLst/>
            <a:gdLst/>
            <a:ahLst/>
            <a:cxnLst/>
            <a:rect l="l" t="t" r="r" b="b"/>
            <a:pathLst>
              <a:path w="1520668" h="1892234">
                <a:moveTo>
                  <a:pt x="0" y="0"/>
                </a:moveTo>
                <a:lnTo>
                  <a:pt x="1520668" y="0"/>
                </a:lnTo>
                <a:lnTo>
                  <a:pt x="1520668" y="1892234"/>
                </a:lnTo>
                <a:lnTo>
                  <a:pt x="0" y="189223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a:off x="13354023" y="5257251"/>
            <a:ext cx="1747736" cy="1892234"/>
          </a:xfrm>
          <a:custGeom>
            <a:avLst/>
            <a:gdLst/>
            <a:ahLst/>
            <a:cxnLst/>
            <a:rect l="l" t="t" r="r" b="b"/>
            <a:pathLst>
              <a:path w="1747736" h="1892234">
                <a:moveTo>
                  <a:pt x="0" y="0"/>
                </a:moveTo>
                <a:lnTo>
                  <a:pt x="1747736" y="0"/>
                </a:lnTo>
                <a:lnTo>
                  <a:pt x="1747736" y="1892234"/>
                </a:lnTo>
                <a:lnTo>
                  <a:pt x="0" y="189223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8" name="Freeform 8"/>
          <p:cNvSpPr/>
          <p:nvPr/>
        </p:nvSpPr>
        <p:spPr>
          <a:xfrm>
            <a:off x="2831829" y="2683709"/>
            <a:ext cx="1868151" cy="1892234"/>
          </a:xfrm>
          <a:custGeom>
            <a:avLst/>
            <a:gdLst/>
            <a:ahLst/>
            <a:cxnLst/>
            <a:rect l="l" t="t" r="r" b="b"/>
            <a:pathLst>
              <a:path w="1868151" h="1892234">
                <a:moveTo>
                  <a:pt x="0" y="0"/>
                </a:moveTo>
                <a:lnTo>
                  <a:pt x="1868151" y="0"/>
                </a:lnTo>
                <a:lnTo>
                  <a:pt x="1868151" y="1892234"/>
                </a:lnTo>
                <a:lnTo>
                  <a:pt x="0" y="189223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9" name="Freeform 9"/>
          <p:cNvSpPr/>
          <p:nvPr/>
        </p:nvSpPr>
        <p:spPr>
          <a:xfrm>
            <a:off x="2765877" y="5574340"/>
            <a:ext cx="1733974" cy="1892234"/>
          </a:xfrm>
          <a:custGeom>
            <a:avLst/>
            <a:gdLst/>
            <a:ahLst/>
            <a:cxnLst/>
            <a:rect l="l" t="t" r="r" b="b"/>
            <a:pathLst>
              <a:path w="1733974" h="1892234">
                <a:moveTo>
                  <a:pt x="0" y="0"/>
                </a:moveTo>
                <a:lnTo>
                  <a:pt x="1733974" y="0"/>
                </a:lnTo>
                <a:lnTo>
                  <a:pt x="1733974" y="1892234"/>
                </a:lnTo>
                <a:lnTo>
                  <a:pt x="0" y="1892234"/>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0" name="Freeform 10"/>
          <p:cNvSpPr/>
          <p:nvPr/>
        </p:nvSpPr>
        <p:spPr>
          <a:xfrm>
            <a:off x="14487232" y="3481908"/>
            <a:ext cx="1561953" cy="1892234"/>
          </a:xfrm>
          <a:custGeom>
            <a:avLst/>
            <a:gdLst/>
            <a:ahLst/>
            <a:cxnLst/>
            <a:rect l="l" t="t" r="r" b="b"/>
            <a:pathLst>
              <a:path w="1561953" h="1892234">
                <a:moveTo>
                  <a:pt x="0" y="0"/>
                </a:moveTo>
                <a:lnTo>
                  <a:pt x="1561953" y="0"/>
                </a:lnTo>
                <a:lnTo>
                  <a:pt x="1561953" y="1892234"/>
                </a:lnTo>
                <a:lnTo>
                  <a:pt x="0" y="1892234"/>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1" name="Freeform 11"/>
          <p:cNvSpPr/>
          <p:nvPr/>
        </p:nvSpPr>
        <p:spPr>
          <a:xfrm>
            <a:off x="12924568" y="2288692"/>
            <a:ext cx="1469062" cy="1892234"/>
          </a:xfrm>
          <a:custGeom>
            <a:avLst/>
            <a:gdLst/>
            <a:ahLst/>
            <a:cxnLst/>
            <a:rect l="l" t="t" r="r" b="b"/>
            <a:pathLst>
              <a:path w="1469062" h="1892234">
                <a:moveTo>
                  <a:pt x="0" y="0"/>
                </a:moveTo>
                <a:lnTo>
                  <a:pt x="1469061" y="0"/>
                </a:lnTo>
                <a:lnTo>
                  <a:pt x="1469061" y="1892234"/>
                </a:lnTo>
                <a:lnTo>
                  <a:pt x="0" y="1892234"/>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12" name="Freeform 12"/>
          <p:cNvSpPr/>
          <p:nvPr/>
        </p:nvSpPr>
        <p:spPr>
          <a:xfrm>
            <a:off x="7704508" y="7290266"/>
            <a:ext cx="2057400" cy="938923"/>
          </a:xfrm>
          <a:custGeom>
            <a:avLst/>
            <a:gdLst/>
            <a:ahLst/>
            <a:cxnLst/>
            <a:rect l="l" t="t" r="r" b="b"/>
            <a:pathLst>
              <a:path w="2057400" h="938923">
                <a:moveTo>
                  <a:pt x="0" y="0"/>
                </a:moveTo>
                <a:lnTo>
                  <a:pt x="2057400" y="0"/>
                </a:lnTo>
                <a:lnTo>
                  <a:pt x="2057400" y="938923"/>
                </a:lnTo>
                <a:lnTo>
                  <a:pt x="0" y="938923"/>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13" name="Freeform 13"/>
          <p:cNvSpPr/>
          <p:nvPr/>
        </p:nvSpPr>
        <p:spPr>
          <a:xfrm>
            <a:off x="5514589" y="7484784"/>
            <a:ext cx="2057400" cy="744405"/>
          </a:xfrm>
          <a:custGeom>
            <a:avLst/>
            <a:gdLst/>
            <a:ahLst/>
            <a:cxnLst/>
            <a:rect l="l" t="t" r="r" b="b"/>
            <a:pathLst>
              <a:path w="2057400" h="744405">
                <a:moveTo>
                  <a:pt x="0" y="0"/>
                </a:moveTo>
                <a:lnTo>
                  <a:pt x="2057400" y="0"/>
                </a:lnTo>
                <a:lnTo>
                  <a:pt x="2057400" y="744405"/>
                </a:lnTo>
                <a:lnTo>
                  <a:pt x="0" y="744405"/>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sp>
        <p:nvSpPr>
          <p:cNvPr id="14" name="Freeform 14"/>
          <p:cNvSpPr/>
          <p:nvPr/>
        </p:nvSpPr>
        <p:spPr>
          <a:xfrm>
            <a:off x="6870564" y="8229189"/>
            <a:ext cx="2057400" cy="359110"/>
          </a:xfrm>
          <a:custGeom>
            <a:avLst/>
            <a:gdLst/>
            <a:ahLst/>
            <a:cxnLst/>
            <a:rect l="l" t="t" r="r" b="b"/>
            <a:pathLst>
              <a:path w="2057400" h="359110">
                <a:moveTo>
                  <a:pt x="0" y="0"/>
                </a:moveTo>
                <a:lnTo>
                  <a:pt x="2057400" y="0"/>
                </a:lnTo>
                <a:lnTo>
                  <a:pt x="2057400" y="359110"/>
                </a:lnTo>
                <a:lnTo>
                  <a:pt x="0" y="359110"/>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sp>
      <p:sp>
        <p:nvSpPr>
          <p:cNvPr id="15" name="Freeform 15"/>
          <p:cNvSpPr/>
          <p:nvPr/>
        </p:nvSpPr>
        <p:spPr>
          <a:xfrm>
            <a:off x="14196236" y="2140537"/>
            <a:ext cx="1682368" cy="1892234"/>
          </a:xfrm>
          <a:custGeom>
            <a:avLst/>
            <a:gdLst/>
            <a:ahLst/>
            <a:cxnLst/>
            <a:rect l="l" t="t" r="r" b="b"/>
            <a:pathLst>
              <a:path w="1682368" h="1892234">
                <a:moveTo>
                  <a:pt x="0" y="0"/>
                </a:moveTo>
                <a:lnTo>
                  <a:pt x="1682368" y="0"/>
                </a:lnTo>
                <a:lnTo>
                  <a:pt x="1682368" y="1892234"/>
                </a:lnTo>
                <a:lnTo>
                  <a:pt x="0" y="1892234"/>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sp>
      <p:sp>
        <p:nvSpPr>
          <p:cNvPr id="16" name="Freeform 16"/>
          <p:cNvSpPr/>
          <p:nvPr/>
        </p:nvSpPr>
        <p:spPr>
          <a:xfrm>
            <a:off x="1710250" y="2418900"/>
            <a:ext cx="1469062" cy="1892234"/>
          </a:xfrm>
          <a:custGeom>
            <a:avLst/>
            <a:gdLst/>
            <a:ahLst/>
            <a:cxnLst/>
            <a:rect l="l" t="t" r="r" b="b"/>
            <a:pathLst>
              <a:path w="1469062" h="1892234">
                <a:moveTo>
                  <a:pt x="0" y="0"/>
                </a:moveTo>
                <a:lnTo>
                  <a:pt x="1469062" y="0"/>
                </a:lnTo>
                <a:lnTo>
                  <a:pt x="1469062" y="1892234"/>
                </a:lnTo>
                <a:lnTo>
                  <a:pt x="0" y="1892234"/>
                </a:lnTo>
                <a:lnTo>
                  <a:pt x="0" y="0"/>
                </a:lnTo>
                <a:close/>
              </a:path>
            </a:pathLst>
          </a:custGeom>
          <a:blipFill>
            <a:blip r:embed="rId26">
              <a:extLst>
                <a:ext uri="{96DAC541-7B7A-43D3-8B79-37D633B846F1}">
                  <asvg:svgBlip xmlns:asvg="http://schemas.microsoft.com/office/drawing/2016/SVG/main" r:embed="rId27"/>
                </a:ext>
              </a:extLst>
            </a:blip>
            <a:stretch>
              <a:fillRect/>
            </a:stretch>
          </a:blipFill>
        </p:spPr>
      </p:sp>
      <p:sp>
        <p:nvSpPr>
          <p:cNvPr id="17" name="Freeform 17"/>
          <p:cNvSpPr/>
          <p:nvPr/>
        </p:nvSpPr>
        <p:spPr>
          <a:xfrm>
            <a:off x="14602845" y="5143500"/>
            <a:ext cx="1446341" cy="1464986"/>
          </a:xfrm>
          <a:custGeom>
            <a:avLst/>
            <a:gdLst/>
            <a:ahLst/>
            <a:cxnLst/>
            <a:rect l="l" t="t" r="r" b="b"/>
            <a:pathLst>
              <a:path w="1446341" h="1464986">
                <a:moveTo>
                  <a:pt x="0" y="0"/>
                </a:moveTo>
                <a:lnTo>
                  <a:pt x="1446340" y="0"/>
                </a:lnTo>
                <a:lnTo>
                  <a:pt x="1446340" y="1464986"/>
                </a:lnTo>
                <a:lnTo>
                  <a:pt x="0" y="1464986"/>
                </a:lnTo>
                <a:lnTo>
                  <a:pt x="0" y="0"/>
                </a:lnTo>
                <a:close/>
              </a:path>
            </a:pathLst>
          </a:custGeom>
          <a:blipFill>
            <a:blip r:embed="rId28">
              <a:extLst>
                <a:ext uri="{96DAC541-7B7A-43D3-8B79-37D633B846F1}">
                  <asvg:svgBlip xmlns:asvg="http://schemas.microsoft.com/office/drawing/2016/SVG/main" r:embed="rId29"/>
                </a:ext>
              </a:extLst>
            </a:blip>
            <a:stretch>
              <a:fillRect/>
            </a:stretch>
          </a:blipFill>
        </p:spPr>
      </p:sp>
      <p:sp>
        <p:nvSpPr>
          <p:cNvPr id="18" name="Freeform 18"/>
          <p:cNvSpPr/>
          <p:nvPr/>
        </p:nvSpPr>
        <p:spPr>
          <a:xfrm rot="-5400000">
            <a:off x="13012804" y="7124493"/>
            <a:ext cx="1483872" cy="1464986"/>
          </a:xfrm>
          <a:custGeom>
            <a:avLst/>
            <a:gdLst/>
            <a:ahLst/>
            <a:cxnLst/>
            <a:rect l="l" t="t" r="r" b="b"/>
            <a:pathLst>
              <a:path w="1483872" h="1464986">
                <a:moveTo>
                  <a:pt x="0" y="0"/>
                </a:moveTo>
                <a:lnTo>
                  <a:pt x="1483871" y="0"/>
                </a:lnTo>
                <a:lnTo>
                  <a:pt x="1483871" y="1464986"/>
                </a:lnTo>
                <a:lnTo>
                  <a:pt x="0" y="1464986"/>
                </a:lnTo>
                <a:lnTo>
                  <a:pt x="0" y="0"/>
                </a:lnTo>
                <a:close/>
              </a:path>
            </a:pathLst>
          </a:custGeom>
          <a:blipFill>
            <a:blip r:embed="rId30">
              <a:extLst>
                <a:ext uri="{96DAC541-7B7A-43D3-8B79-37D633B846F1}">
                  <asvg:svgBlip xmlns:asvg="http://schemas.microsoft.com/office/drawing/2016/SVG/main" r:embed="rId31"/>
                </a:ext>
              </a:extLst>
            </a:blip>
            <a:stretch>
              <a:fillRect/>
            </a:stretch>
          </a:blipFill>
        </p:spPr>
      </p:sp>
      <p:sp>
        <p:nvSpPr>
          <p:cNvPr id="19" name="Freeform 19"/>
          <p:cNvSpPr/>
          <p:nvPr/>
        </p:nvSpPr>
        <p:spPr>
          <a:xfrm>
            <a:off x="3374524" y="7290266"/>
            <a:ext cx="1514553" cy="1464986"/>
          </a:xfrm>
          <a:custGeom>
            <a:avLst/>
            <a:gdLst/>
            <a:ahLst/>
            <a:cxnLst/>
            <a:rect l="l" t="t" r="r" b="b"/>
            <a:pathLst>
              <a:path w="1514553" h="1464986">
                <a:moveTo>
                  <a:pt x="0" y="0"/>
                </a:moveTo>
                <a:lnTo>
                  <a:pt x="1514553" y="0"/>
                </a:lnTo>
                <a:lnTo>
                  <a:pt x="1514553" y="1464986"/>
                </a:lnTo>
                <a:lnTo>
                  <a:pt x="0" y="1464986"/>
                </a:lnTo>
                <a:lnTo>
                  <a:pt x="0" y="0"/>
                </a:lnTo>
                <a:close/>
              </a:path>
            </a:pathLst>
          </a:custGeom>
          <a:blipFill>
            <a:blip r:embed="rId32">
              <a:extLst>
                <a:ext uri="{96DAC541-7B7A-43D3-8B79-37D633B846F1}">
                  <asvg:svgBlip xmlns:asvg="http://schemas.microsoft.com/office/drawing/2016/SVG/main" r:embed="rId33"/>
                </a:ext>
              </a:extLst>
            </a:blip>
            <a:stretch>
              <a:fillRect/>
            </a:stretch>
          </a:blipFill>
        </p:spPr>
      </p:sp>
      <p:sp>
        <p:nvSpPr>
          <p:cNvPr id="20" name="Freeform 20"/>
          <p:cNvSpPr/>
          <p:nvPr/>
        </p:nvSpPr>
        <p:spPr>
          <a:xfrm>
            <a:off x="3965449" y="6943758"/>
            <a:ext cx="1443677" cy="1464986"/>
          </a:xfrm>
          <a:custGeom>
            <a:avLst/>
            <a:gdLst/>
            <a:ahLst/>
            <a:cxnLst/>
            <a:rect l="l" t="t" r="r" b="b"/>
            <a:pathLst>
              <a:path w="1443677" h="1464986">
                <a:moveTo>
                  <a:pt x="0" y="0"/>
                </a:moveTo>
                <a:lnTo>
                  <a:pt x="1443677" y="0"/>
                </a:lnTo>
                <a:lnTo>
                  <a:pt x="1443677" y="1464986"/>
                </a:lnTo>
                <a:lnTo>
                  <a:pt x="0" y="1464986"/>
                </a:lnTo>
                <a:lnTo>
                  <a:pt x="0" y="0"/>
                </a:lnTo>
                <a:close/>
              </a:path>
            </a:pathLst>
          </a:custGeom>
          <a:blipFill>
            <a:blip r:embed="rId34">
              <a:extLst>
                <a:ext uri="{96DAC541-7B7A-43D3-8B79-37D633B846F1}">
                  <asvg:svgBlip xmlns:asvg="http://schemas.microsoft.com/office/drawing/2016/SVG/main" r:embed="rId35"/>
                </a:ext>
              </a:extLst>
            </a:blip>
            <a:stretch>
              <a:fillRect/>
            </a:stretch>
          </a:blipFill>
        </p:spPr>
      </p:sp>
      <p:sp>
        <p:nvSpPr>
          <p:cNvPr id="21" name="Freeform 21"/>
          <p:cNvSpPr/>
          <p:nvPr/>
        </p:nvSpPr>
        <p:spPr>
          <a:xfrm>
            <a:off x="4889077" y="8229189"/>
            <a:ext cx="2057400" cy="359110"/>
          </a:xfrm>
          <a:custGeom>
            <a:avLst/>
            <a:gdLst/>
            <a:ahLst/>
            <a:cxnLst/>
            <a:rect l="l" t="t" r="r" b="b"/>
            <a:pathLst>
              <a:path w="2057400" h="359110">
                <a:moveTo>
                  <a:pt x="0" y="0"/>
                </a:moveTo>
                <a:lnTo>
                  <a:pt x="2057400" y="0"/>
                </a:lnTo>
                <a:lnTo>
                  <a:pt x="2057400" y="359110"/>
                </a:lnTo>
                <a:lnTo>
                  <a:pt x="0" y="359110"/>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sp>
      <p:sp>
        <p:nvSpPr>
          <p:cNvPr id="22" name="Freeform 22"/>
          <p:cNvSpPr/>
          <p:nvPr/>
        </p:nvSpPr>
        <p:spPr>
          <a:xfrm>
            <a:off x="9004164" y="8229189"/>
            <a:ext cx="2057400" cy="359110"/>
          </a:xfrm>
          <a:custGeom>
            <a:avLst/>
            <a:gdLst/>
            <a:ahLst/>
            <a:cxnLst/>
            <a:rect l="l" t="t" r="r" b="b"/>
            <a:pathLst>
              <a:path w="2057400" h="359110">
                <a:moveTo>
                  <a:pt x="0" y="0"/>
                </a:moveTo>
                <a:lnTo>
                  <a:pt x="2057400" y="0"/>
                </a:lnTo>
                <a:lnTo>
                  <a:pt x="2057400" y="359110"/>
                </a:lnTo>
                <a:lnTo>
                  <a:pt x="0" y="359110"/>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sp>
      <p:sp>
        <p:nvSpPr>
          <p:cNvPr id="23" name="Freeform 23"/>
          <p:cNvSpPr/>
          <p:nvPr/>
        </p:nvSpPr>
        <p:spPr>
          <a:xfrm>
            <a:off x="10909164" y="8229189"/>
            <a:ext cx="2057400" cy="359110"/>
          </a:xfrm>
          <a:custGeom>
            <a:avLst/>
            <a:gdLst/>
            <a:ahLst/>
            <a:cxnLst/>
            <a:rect l="l" t="t" r="r" b="b"/>
            <a:pathLst>
              <a:path w="2057400" h="359110">
                <a:moveTo>
                  <a:pt x="0" y="0"/>
                </a:moveTo>
                <a:lnTo>
                  <a:pt x="2057400" y="0"/>
                </a:lnTo>
                <a:lnTo>
                  <a:pt x="2057400" y="359110"/>
                </a:lnTo>
                <a:lnTo>
                  <a:pt x="0" y="359110"/>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sp>
      <p:sp>
        <p:nvSpPr>
          <p:cNvPr id="24" name="Freeform 24"/>
          <p:cNvSpPr/>
          <p:nvPr/>
        </p:nvSpPr>
        <p:spPr>
          <a:xfrm>
            <a:off x="10108989" y="7484784"/>
            <a:ext cx="2057400" cy="744405"/>
          </a:xfrm>
          <a:custGeom>
            <a:avLst/>
            <a:gdLst/>
            <a:ahLst/>
            <a:cxnLst/>
            <a:rect l="l" t="t" r="r" b="b"/>
            <a:pathLst>
              <a:path w="2057400" h="744405">
                <a:moveTo>
                  <a:pt x="0" y="0"/>
                </a:moveTo>
                <a:lnTo>
                  <a:pt x="2057400" y="0"/>
                </a:lnTo>
                <a:lnTo>
                  <a:pt x="2057400" y="744405"/>
                </a:lnTo>
                <a:lnTo>
                  <a:pt x="0" y="744405"/>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sp>
        <p:nvSpPr>
          <p:cNvPr id="25" name="Freeform 25"/>
          <p:cNvSpPr/>
          <p:nvPr/>
        </p:nvSpPr>
        <p:spPr>
          <a:xfrm rot="-5400000">
            <a:off x="12272567" y="6734081"/>
            <a:ext cx="1443677" cy="1464986"/>
          </a:xfrm>
          <a:custGeom>
            <a:avLst/>
            <a:gdLst/>
            <a:ahLst/>
            <a:cxnLst/>
            <a:rect l="l" t="t" r="r" b="b"/>
            <a:pathLst>
              <a:path w="1443677" h="1464986">
                <a:moveTo>
                  <a:pt x="0" y="0"/>
                </a:moveTo>
                <a:lnTo>
                  <a:pt x="1443677" y="0"/>
                </a:lnTo>
                <a:lnTo>
                  <a:pt x="1443677" y="1464986"/>
                </a:lnTo>
                <a:lnTo>
                  <a:pt x="0" y="1464986"/>
                </a:lnTo>
                <a:lnTo>
                  <a:pt x="0" y="0"/>
                </a:lnTo>
                <a:close/>
              </a:path>
            </a:pathLst>
          </a:custGeom>
          <a:blipFill>
            <a:blip r:embed="rId34">
              <a:extLst>
                <a:ext uri="{96DAC541-7B7A-43D3-8B79-37D633B846F1}">
                  <asvg:svgBlip xmlns:asvg="http://schemas.microsoft.com/office/drawing/2016/SVG/main" r:embed="rId35"/>
                </a:ext>
              </a:extLst>
            </a:blip>
            <a:stretch>
              <a:fillRect/>
            </a:stretch>
          </a:blipFill>
        </p:spPr>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1696</Words>
  <Application>Microsoft Office PowerPoint</Application>
  <PresentationFormat>Custom</PresentationFormat>
  <Paragraphs>135</Paragraphs>
  <Slides>29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Asap Bold</vt:lpstr>
      <vt:lpstr>Calibri</vt:lpstr>
      <vt:lpstr>Arial</vt:lpstr>
      <vt:lpstr>Asap</vt:lpstr>
      <vt:lpstr>Faustina</vt:lpstr>
      <vt:lpstr>Faustina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Quản Lý Cửa Hàng Bán Sách</dc:title>
  <cp:lastModifiedBy>Nguyễn Long</cp:lastModifiedBy>
  <cp:revision>2</cp:revision>
  <dcterms:created xsi:type="dcterms:W3CDTF">2006-08-16T00:00:00Z</dcterms:created>
  <dcterms:modified xsi:type="dcterms:W3CDTF">2024-12-23T06:58:59Z</dcterms:modified>
  <dc:identifier>DAGZ5nkwFuM</dc:identifier>
</cp:coreProperties>
</file>